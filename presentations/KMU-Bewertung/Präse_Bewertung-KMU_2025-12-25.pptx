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38"/>
  </p:notesMasterIdLst>
  <p:handoutMasterIdLst>
    <p:handoutMasterId r:id="rId39"/>
  </p:handoutMasterIdLst>
  <p:sldIdLst>
    <p:sldId id="334" r:id="rId2"/>
    <p:sldId id="678" r:id="rId3"/>
    <p:sldId id="671" r:id="rId4"/>
    <p:sldId id="670" r:id="rId5"/>
    <p:sldId id="672" r:id="rId6"/>
    <p:sldId id="673" r:id="rId7"/>
    <p:sldId id="674" r:id="rId8"/>
    <p:sldId id="683" r:id="rId9"/>
    <p:sldId id="694" r:id="rId10"/>
    <p:sldId id="688" r:id="rId11"/>
    <p:sldId id="689" r:id="rId12"/>
    <p:sldId id="657" r:id="rId13"/>
    <p:sldId id="679" r:id="rId14"/>
    <p:sldId id="658" r:id="rId15"/>
    <p:sldId id="646" r:id="rId16"/>
    <p:sldId id="693" r:id="rId17"/>
    <p:sldId id="681" r:id="rId18"/>
    <p:sldId id="701" r:id="rId19"/>
    <p:sldId id="662" r:id="rId20"/>
    <p:sldId id="686" r:id="rId21"/>
    <p:sldId id="685" r:id="rId22"/>
    <p:sldId id="666" r:id="rId23"/>
    <p:sldId id="692" r:id="rId24"/>
    <p:sldId id="695" r:id="rId25"/>
    <p:sldId id="696" r:id="rId26"/>
    <p:sldId id="702" r:id="rId27"/>
    <p:sldId id="691" r:id="rId28"/>
    <p:sldId id="707" r:id="rId29"/>
    <p:sldId id="706" r:id="rId30"/>
    <p:sldId id="708" r:id="rId31"/>
    <p:sldId id="699" r:id="rId32"/>
    <p:sldId id="705" r:id="rId33"/>
    <p:sldId id="574" r:id="rId34"/>
    <p:sldId id="703" r:id="rId35"/>
    <p:sldId id="675" r:id="rId36"/>
    <p:sldId id="278" r:id="rId37"/>
  </p:sldIdLst>
  <p:sldSz cx="9906000" cy="6858000" type="A4"/>
  <p:notesSz cx="6797675" cy="9926638"/>
  <p:custDataLst>
    <p:tags r:id="rId4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90" userDrawn="1">
          <p15:clr>
            <a:srgbClr val="A4A3A4"/>
          </p15:clr>
        </p15:guide>
        <p15:guide id="2" pos="5955" userDrawn="1">
          <p15:clr>
            <a:srgbClr val="A4A3A4"/>
          </p15:clr>
        </p15:guide>
        <p15:guide id="5" orient="horz" pos="3952" userDrawn="1">
          <p15:clr>
            <a:srgbClr val="A4A3A4"/>
          </p15:clr>
        </p15:guide>
        <p15:guide id="6" orient="horz" pos="2455" userDrawn="1">
          <p15:clr>
            <a:srgbClr val="A4A3A4"/>
          </p15:clr>
        </p15:guide>
        <p15:guide id="7" pos="2349" userDrawn="1">
          <p15:clr>
            <a:srgbClr val="A4A3A4"/>
          </p15:clr>
        </p15:guide>
        <p15:guide id="8" pos="3392" userDrawn="1">
          <p15:clr>
            <a:srgbClr val="A4A3A4"/>
          </p15:clr>
        </p15:guide>
        <p15:guide id="9" pos="5365" userDrawn="1">
          <p15:clr>
            <a:srgbClr val="A4A3A4"/>
          </p15:clr>
        </p15:guide>
        <p15:guide id="10" pos="988" userDrawn="1">
          <p15:clr>
            <a:srgbClr val="A4A3A4"/>
          </p15:clr>
        </p15:guide>
        <p15:guide id="11" pos="3007" userDrawn="1">
          <p15:clr>
            <a:srgbClr val="A4A3A4"/>
          </p15:clr>
        </p15:guide>
        <p15:guide id="12" orient="horz" pos="1820" userDrawn="1">
          <p15:clr>
            <a:srgbClr val="A4A3A4"/>
          </p15:clr>
        </p15:guide>
        <p15:guide id="13" pos="4163" userDrawn="1">
          <p15:clr>
            <a:srgbClr val="A4A3A4"/>
          </p15:clr>
        </p15:guide>
        <p15:guide id="14" pos="2326" userDrawn="1">
          <p15:clr>
            <a:srgbClr val="A4A3A4"/>
          </p15:clr>
        </p15:guide>
        <p15:guide id="16" pos="3233" userDrawn="1">
          <p15:clr>
            <a:srgbClr val="A4A3A4"/>
          </p15:clr>
        </p15:guide>
        <p15:guide id="17" pos="149" userDrawn="1">
          <p15:clr>
            <a:srgbClr val="A4A3A4"/>
          </p15:clr>
        </p15:guide>
        <p15:guide id="18" pos="2145" userDrawn="1">
          <p15:clr>
            <a:srgbClr val="A4A3A4"/>
          </p15:clr>
        </p15:guide>
        <p15:guide id="19" orient="horz" pos="731" userDrawn="1">
          <p15:clr>
            <a:srgbClr val="A4A3A4"/>
          </p15:clr>
        </p15:guide>
        <p15:guide id="20" orient="horz" pos="1117" userDrawn="1">
          <p15:clr>
            <a:srgbClr val="A4A3A4"/>
          </p15:clr>
        </p15:guide>
        <p15:guide id="21" pos="2802" userDrawn="1">
          <p15:clr>
            <a:srgbClr val="A4A3A4"/>
          </p15:clr>
        </p15:guide>
        <p15:guide id="22" pos="2666" userDrawn="1">
          <p15:clr>
            <a:srgbClr val="A4A3A4"/>
          </p15:clr>
        </p15:guide>
        <p15:guide id="23" pos="3347" userDrawn="1">
          <p15:clr>
            <a:srgbClr val="A4A3A4"/>
          </p15:clr>
        </p15:guide>
        <p15:guide id="25" orient="horz" pos="2976" userDrawn="1">
          <p15:clr>
            <a:srgbClr val="A4A3A4"/>
          </p15:clr>
        </p15:guide>
        <p15:guide id="26" orient="horz" pos="1684" userDrawn="1">
          <p15:clr>
            <a:srgbClr val="A4A3A4"/>
          </p15:clr>
        </p15:guide>
        <p15:guide id="27" pos="4730" userDrawn="1">
          <p15:clr>
            <a:srgbClr val="A4A3A4"/>
          </p15:clr>
        </p15:guide>
        <p15:guide id="28" orient="horz" pos="3612" userDrawn="1">
          <p15:clr>
            <a:srgbClr val="A4A3A4"/>
          </p15:clr>
        </p15:guide>
        <p15:guide id="29" pos="1623" userDrawn="1">
          <p15:clr>
            <a:srgbClr val="A4A3A4"/>
          </p15:clr>
        </p15:guide>
        <p15:guide id="30" orient="horz" pos="2137" userDrawn="1">
          <p15:clr>
            <a:srgbClr val="A4A3A4"/>
          </p15:clr>
        </p15:guide>
        <p15:guide id="31" orient="horz" pos="247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eller, Konstantin" initials="MK" lastIdx="2" clrIdx="0">
    <p:extLst>
      <p:ext uri="{19B8F6BF-5375-455C-9EA6-DF929625EA0E}">
        <p15:presenceInfo xmlns:p15="http://schemas.microsoft.com/office/powerpoint/2012/main" userId="S-1-5-21-124336088-714452296-2549805129-1187" providerId="AD"/>
      </p:ext>
    </p:extLst>
  </p:cmAuthor>
  <p:cmAuthor id="2" name="Rodekohr, Jonas" initials="RJ" lastIdx="36" clrIdx="1">
    <p:extLst>
      <p:ext uri="{19B8F6BF-5375-455C-9EA6-DF929625EA0E}">
        <p15:presenceInfo xmlns:p15="http://schemas.microsoft.com/office/powerpoint/2012/main" userId="S-1-5-21-124336088-714452296-2549805129-1756" providerId="AD"/>
      </p:ext>
    </p:extLst>
  </p:cmAuthor>
  <p:cmAuthor id="3" name="Stefan Euring" initials="SE" lastIdx="2" clrIdx="2">
    <p:extLst>
      <p:ext uri="{19B8F6BF-5375-455C-9EA6-DF929625EA0E}">
        <p15:presenceInfo xmlns:p15="http://schemas.microsoft.com/office/powerpoint/2012/main" userId="S::stefan.euring@morgenwert.onmicrosoft.com::144d138e-ff67-4a18-a558-87fa7268fe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32434D"/>
    <a:srgbClr val="000000"/>
    <a:srgbClr val="FF0000"/>
    <a:srgbClr val="8BAABF"/>
    <a:srgbClr val="FFFF00"/>
    <a:srgbClr val="7492A5"/>
    <a:srgbClr val="FF9900"/>
    <a:srgbClr val="E9EDEE"/>
    <a:srgbClr val="E9E9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6" autoAdjust="0"/>
    <p:restoredTop sz="95343" autoAdjust="0"/>
  </p:normalViewPr>
  <p:slideViewPr>
    <p:cSldViewPr snapToGrid="0">
      <p:cViewPr varScale="1">
        <p:scale>
          <a:sx n="99" d="100"/>
          <a:sy n="99" d="100"/>
        </p:scale>
        <p:origin x="1548" y="306"/>
      </p:cViewPr>
      <p:guideLst>
        <p:guide orient="horz" pos="890"/>
        <p:guide pos="5955"/>
        <p:guide orient="horz" pos="3952"/>
        <p:guide orient="horz" pos="2455"/>
        <p:guide pos="2349"/>
        <p:guide pos="3392"/>
        <p:guide pos="5365"/>
        <p:guide pos="988"/>
        <p:guide pos="3007"/>
        <p:guide orient="horz" pos="1820"/>
        <p:guide pos="4163"/>
        <p:guide pos="2326"/>
        <p:guide pos="3233"/>
        <p:guide pos="149"/>
        <p:guide pos="2145"/>
        <p:guide orient="horz" pos="731"/>
        <p:guide orient="horz" pos="1117"/>
        <p:guide pos="2802"/>
        <p:guide pos="2666"/>
        <p:guide pos="3347"/>
        <p:guide orient="horz" pos="2976"/>
        <p:guide orient="horz" pos="1684"/>
        <p:guide pos="4730"/>
        <p:guide orient="horz" pos="3612"/>
        <p:guide pos="1623"/>
        <p:guide orient="horz" pos="2137"/>
        <p:guide orient="horz" pos="2478"/>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7596"/>
    </p:cViewPr>
  </p:sorterViewPr>
  <p:notesViewPr>
    <p:cSldViewPr snapToGrid="0" showGuides="1">
      <p:cViewPr varScale="1">
        <p:scale>
          <a:sx n="77" d="100"/>
          <a:sy n="77" d="100"/>
        </p:scale>
        <p:origin x="4002"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2945659" cy="498056"/>
          </a:xfrm>
          <a:prstGeom prst="rect">
            <a:avLst/>
          </a:prstGeom>
        </p:spPr>
        <p:txBody>
          <a:bodyPr vert="horz" lIns="91424" tIns="45712" rIns="91424" bIns="45712" rtlCol="0"/>
          <a:lstStyle>
            <a:lvl1pPr algn="l">
              <a:defRPr sz="1200"/>
            </a:lvl1pPr>
          </a:lstStyle>
          <a:p>
            <a:endParaRPr lang="de-DE"/>
          </a:p>
        </p:txBody>
      </p:sp>
      <p:sp>
        <p:nvSpPr>
          <p:cNvPr id="3" name="Datumsplatzhalter 2"/>
          <p:cNvSpPr>
            <a:spLocks noGrp="1"/>
          </p:cNvSpPr>
          <p:nvPr>
            <p:ph type="dt" sz="quarter" idx="1"/>
          </p:nvPr>
        </p:nvSpPr>
        <p:spPr>
          <a:xfrm>
            <a:off x="3850445" y="0"/>
            <a:ext cx="2945659" cy="498056"/>
          </a:xfrm>
          <a:prstGeom prst="rect">
            <a:avLst/>
          </a:prstGeom>
        </p:spPr>
        <p:txBody>
          <a:bodyPr vert="horz" lIns="91424" tIns="45712" rIns="91424" bIns="45712" rtlCol="0"/>
          <a:lstStyle>
            <a:lvl1pPr algn="r">
              <a:defRPr sz="1200"/>
            </a:lvl1pPr>
          </a:lstStyle>
          <a:p>
            <a:fld id="{236D78E5-AC6D-40FE-9F73-004567F57FC9}" type="datetimeFigureOut">
              <a:rPr lang="de-DE" smtClean="0"/>
              <a:t>25.12.2025</a:t>
            </a:fld>
            <a:endParaRPr lang="de-DE"/>
          </a:p>
        </p:txBody>
      </p:sp>
      <p:sp>
        <p:nvSpPr>
          <p:cNvPr id="4" name="Fußzeilenplatzhalter 3"/>
          <p:cNvSpPr>
            <a:spLocks noGrp="1"/>
          </p:cNvSpPr>
          <p:nvPr>
            <p:ph type="ftr" sz="quarter" idx="2"/>
          </p:nvPr>
        </p:nvSpPr>
        <p:spPr>
          <a:xfrm>
            <a:off x="2" y="9428586"/>
            <a:ext cx="2945659" cy="498055"/>
          </a:xfrm>
          <a:prstGeom prst="rect">
            <a:avLst/>
          </a:prstGeom>
        </p:spPr>
        <p:txBody>
          <a:bodyPr vert="horz" lIns="91424" tIns="45712" rIns="91424" bIns="45712" rtlCol="0" anchor="b"/>
          <a:lstStyle>
            <a:lvl1pPr algn="l">
              <a:defRPr sz="1200"/>
            </a:lvl1pPr>
          </a:lstStyle>
          <a:p>
            <a:endParaRPr lang="de-DE"/>
          </a:p>
        </p:txBody>
      </p:sp>
      <p:sp>
        <p:nvSpPr>
          <p:cNvPr id="5" name="Foliennummernplatzhalter 4"/>
          <p:cNvSpPr>
            <a:spLocks noGrp="1"/>
          </p:cNvSpPr>
          <p:nvPr>
            <p:ph type="sldNum" sz="quarter" idx="3"/>
          </p:nvPr>
        </p:nvSpPr>
        <p:spPr>
          <a:xfrm>
            <a:off x="3850445" y="9428586"/>
            <a:ext cx="2945659" cy="498055"/>
          </a:xfrm>
          <a:prstGeom prst="rect">
            <a:avLst/>
          </a:prstGeom>
        </p:spPr>
        <p:txBody>
          <a:bodyPr vert="horz" lIns="91424" tIns="45712" rIns="91424" bIns="45712" rtlCol="0" anchor="b"/>
          <a:lstStyle>
            <a:lvl1pPr algn="r">
              <a:defRPr sz="1200"/>
            </a:lvl1pPr>
          </a:lstStyle>
          <a:p>
            <a:fld id="{FC53B37E-78A6-4C8A-B65F-7952F9EE4501}" type="slidenum">
              <a:rPr lang="de-DE" smtClean="0"/>
              <a:t>‹#›</a:t>
            </a:fld>
            <a:endParaRPr lang="de-DE"/>
          </a:p>
        </p:txBody>
      </p:sp>
    </p:spTree>
    <p:extLst>
      <p:ext uri="{BB962C8B-B14F-4D97-AF65-F5344CB8AC3E}">
        <p14:creationId xmlns:p14="http://schemas.microsoft.com/office/powerpoint/2010/main" val="18740570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2945659" cy="498056"/>
          </a:xfrm>
          <a:prstGeom prst="rect">
            <a:avLst/>
          </a:prstGeom>
        </p:spPr>
        <p:txBody>
          <a:bodyPr vert="horz" lIns="91424" tIns="45712" rIns="91424" bIns="45712" rtlCol="0"/>
          <a:lstStyle>
            <a:lvl1pPr algn="l">
              <a:defRPr sz="1200"/>
            </a:lvl1pPr>
          </a:lstStyle>
          <a:p>
            <a:endParaRPr lang="de-DE"/>
          </a:p>
        </p:txBody>
      </p:sp>
      <p:sp>
        <p:nvSpPr>
          <p:cNvPr id="3" name="Datumsplatzhalter 2"/>
          <p:cNvSpPr>
            <a:spLocks noGrp="1"/>
          </p:cNvSpPr>
          <p:nvPr>
            <p:ph type="dt" idx="1"/>
          </p:nvPr>
        </p:nvSpPr>
        <p:spPr>
          <a:xfrm>
            <a:off x="3850445" y="0"/>
            <a:ext cx="2945659" cy="498056"/>
          </a:xfrm>
          <a:prstGeom prst="rect">
            <a:avLst/>
          </a:prstGeom>
        </p:spPr>
        <p:txBody>
          <a:bodyPr vert="horz" lIns="91424" tIns="45712" rIns="91424" bIns="45712" rtlCol="0"/>
          <a:lstStyle>
            <a:lvl1pPr algn="r">
              <a:defRPr sz="1200"/>
            </a:lvl1pPr>
          </a:lstStyle>
          <a:p>
            <a:fld id="{405D144E-7D71-4E9E-A892-6DBE0A48F1B7}" type="datetimeFigureOut">
              <a:rPr lang="de-DE" smtClean="0"/>
              <a:t>25.12.2025</a:t>
            </a:fld>
            <a:endParaRPr lang="de-DE"/>
          </a:p>
        </p:txBody>
      </p:sp>
      <p:sp>
        <p:nvSpPr>
          <p:cNvPr id="4" name="Folienbildplatzhalter 3"/>
          <p:cNvSpPr>
            <a:spLocks noGrp="1" noRot="1" noChangeAspect="1"/>
          </p:cNvSpPr>
          <p:nvPr>
            <p:ph type="sldImg" idx="2"/>
          </p:nvPr>
        </p:nvSpPr>
        <p:spPr>
          <a:xfrm>
            <a:off x="981075" y="1241425"/>
            <a:ext cx="4835525" cy="3349625"/>
          </a:xfrm>
          <a:prstGeom prst="rect">
            <a:avLst/>
          </a:prstGeom>
          <a:noFill/>
          <a:ln w="12700">
            <a:solidFill>
              <a:prstClr val="black"/>
            </a:solidFill>
          </a:ln>
        </p:spPr>
        <p:txBody>
          <a:bodyPr vert="horz" lIns="91424" tIns="45712" rIns="91424" bIns="45712"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24" tIns="45712" rIns="91424" bIns="45712"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2" y="9428586"/>
            <a:ext cx="2945659" cy="498055"/>
          </a:xfrm>
          <a:prstGeom prst="rect">
            <a:avLst/>
          </a:prstGeom>
        </p:spPr>
        <p:txBody>
          <a:bodyPr vert="horz" lIns="91424" tIns="45712" rIns="91424" bIns="45712" rtlCol="0" anchor="b"/>
          <a:lstStyle>
            <a:lvl1pPr algn="l">
              <a:defRPr sz="1200"/>
            </a:lvl1pPr>
          </a:lstStyle>
          <a:p>
            <a:endParaRPr lang="de-DE"/>
          </a:p>
        </p:txBody>
      </p:sp>
      <p:sp>
        <p:nvSpPr>
          <p:cNvPr id="7" name="Foliennummernplatzhalter 6"/>
          <p:cNvSpPr>
            <a:spLocks noGrp="1"/>
          </p:cNvSpPr>
          <p:nvPr>
            <p:ph type="sldNum" sz="quarter" idx="5"/>
          </p:nvPr>
        </p:nvSpPr>
        <p:spPr>
          <a:xfrm>
            <a:off x="3850445" y="9428586"/>
            <a:ext cx="2945659" cy="498055"/>
          </a:xfrm>
          <a:prstGeom prst="rect">
            <a:avLst/>
          </a:prstGeom>
        </p:spPr>
        <p:txBody>
          <a:bodyPr vert="horz" lIns="91424" tIns="45712" rIns="91424" bIns="45712" rtlCol="0" anchor="b"/>
          <a:lstStyle>
            <a:lvl1pPr algn="r">
              <a:defRPr sz="1200"/>
            </a:lvl1pPr>
          </a:lstStyle>
          <a:p>
            <a:fld id="{93FCFAD1-D7FA-4117-9CC6-EA4074FC0720}" type="slidenum">
              <a:rPr lang="de-DE" smtClean="0"/>
              <a:t>‹#›</a:t>
            </a:fld>
            <a:endParaRPr lang="de-DE"/>
          </a:p>
        </p:txBody>
      </p:sp>
    </p:spTree>
    <p:extLst>
      <p:ext uri="{BB962C8B-B14F-4D97-AF65-F5344CB8AC3E}">
        <p14:creationId xmlns:p14="http://schemas.microsoft.com/office/powerpoint/2010/main" val="366218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Titelfoli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de-DE" dirty="0"/>
          </a:p>
        </p:txBody>
      </p:sp>
      <p:sp>
        <p:nvSpPr>
          <p:cNvPr id="9" name="Bildplatzhalter 8"/>
          <p:cNvSpPr>
            <a:spLocks noGrp="1"/>
          </p:cNvSpPr>
          <p:nvPr>
            <p:ph type="pic" sz="quarter" idx="13"/>
          </p:nvPr>
        </p:nvSpPr>
        <p:spPr>
          <a:xfrm>
            <a:off x="1" y="0"/>
            <a:ext cx="9905999" cy="4210050"/>
          </a:xfrm>
        </p:spPr>
        <p:txBody>
          <a:bodyPr/>
          <a:lstStyle>
            <a:lvl1pPr marL="0" indent="0">
              <a:buFont typeface="Arial" panose="020B0604020202020204" pitchFamily="34" charset="0"/>
              <a:buNone/>
              <a:defRPr/>
            </a:lvl1pPr>
          </a:lstStyle>
          <a:p>
            <a:endParaRPr lang="de-DE" dirty="0"/>
          </a:p>
        </p:txBody>
      </p:sp>
      <p:sp>
        <p:nvSpPr>
          <p:cNvPr id="12" name="Textplatzhalter 11"/>
          <p:cNvSpPr>
            <a:spLocks noGrp="1"/>
          </p:cNvSpPr>
          <p:nvPr>
            <p:ph type="body" sz="quarter" idx="14"/>
          </p:nvPr>
        </p:nvSpPr>
        <p:spPr>
          <a:xfrm>
            <a:off x="4142979" y="3973246"/>
            <a:ext cx="4849813" cy="1866900"/>
          </a:xfrm>
          <a:solidFill>
            <a:srgbClr val="F2F2F2"/>
          </a:solidFill>
        </p:spPr>
        <p:txBody>
          <a:bodyPr anchor="ctr"/>
          <a:lstStyle>
            <a:lvl1pPr marL="0" indent="0" algn="ctr">
              <a:buNone/>
              <a:defRPr/>
            </a:lvl1pPr>
          </a:lstStyle>
          <a:p>
            <a:pPr lvl="0"/>
            <a:r>
              <a:rPr lang="de-DE" dirty="0"/>
              <a:t>Formatvorlagen des Textmasters bearbeiten</a:t>
            </a:r>
          </a:p>
        </p:txBody>
      </p:sp>
      <p:pic>
        <p:nvPicPr>
          <p:cNvPr id="6" name="Grafik 5">
            <a:extLst>
              <a:ext uri="{FF2B5EF4-FFF2-40B4-BE49-F238E27FC236}">
                <a16:creationId xmlns:a16="http://schemas.microsoft.com/office/drawing/2014/main" id="{84FC1CB6-8F3D-4B66-914B-01B421725DC4}"/>
              </a:ext>
            </a:extLst>
          </p:cNvPr>
          <p:cNvPicPr>
            <a:picLocks/>
          </p:cNvPicPr>
          <p:nvPr userDrawn="1"/>
        </p:nvPicPr>
        <p:blipFill>
          <a:blip r:embed="rId2"/>
          <a:stretch>
            <a:fillRect/>
          </a:stretch>
        </p:blipFill>
        <p:spPr>
          <a:xfrm>
            <a:off x="295227" y="4306236"/>
            <a:ext cx="2753004" cy="958963"/>
          </a:xfrm>
          <a:prstGeom prst="rect">
            <a:avLst/>
          </a:prstGeom>
        </p:spPr>
      </p:pic>
    </p:spTree>
    <p:extLst>
      <p:ext uri="{BB962C8B-B14F-4D97-AF65-F5344CB8AC3E}">
        <p14:creationId xmlns:p14="http://schemas.microsoft.com/office/powerpoint/2010/main" val="355276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00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bschnitts-Header">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6C0D8DAE-ABA3-22F0-FEC0-64BC42A8DBD4}"/>
              </a:ext>
            </a:extLst>
          </p:cNvPr>
          <p:cNvSpPr/>
          <p:nvPr userDrawn="1">
            <p:custDataLst>
              <p:tags r:id="rId1"/>
            </p:custDataLst>
          </p:nvPr>
        </p:nvSpPr>
        <p:spPr>
          <a:xfrm>
            <a:off x="0" y="0"/>
            <a:ext cx="12700" cy="12700"/>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7" name="Rechteck 6"/>
          <p:cNvSpPr/>
          <p:nvPr userDrawn="1"/>
        </p:nvSpPr>
        <p:spPr>
          <a:xfrm>
            <a:off x="4821381" y="1709738"/>
            <a:ext cx="5084620"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63" dirty="0"/>
          </a:p>
        </p:txBody>
      </p:sp>
      <p:sp>
        <p:nvSpPr>
          <p:cNvPr id="2" name="Titel 1"/>
          <p:cNvSpPr>
            <a:spLocks noGrp="1"/>
          </p:cNvSpPr>
          <p:nvPr>
            <p:ph type="title"/>
          </p:nvPr>
        </p:nvSpPr>
        <p:spPr>
          <a:xfrm>
            <a:off x="486906" y="2402239"/>
            <a:ext cx="4334476" cy="2187227"/>
          </a:xfrm>
        </p:spPr>
        <p:txBody>
          <a:bodyPr anchor="ctr">
            <a:noAutofit/>
          </a:bodyPr>
          <a:lstStyle>
            <a:lvl1pPr algn="l">
              <a:defRPr sz="2800" b="0">
                <a:solidFill>
                  <a:schemeClr val="tx1"/>
                </a:solidFill>
              </a:defRPr>
            </a:lvl1pPr>
          </a:lstStyle>
          <a:p>
            <a:r>
              <a:rPr lang="de-DE" dirty="0"/>
              <a:t>Mastertitelformat bearbeiten</a:t>
            </a:r>
          </a:p>
        </p:txBody>
      </p:sp>
      <p:sp>
        <p:nvSpPr>
          <p:cNvPr id="3" name="Textplatzhalter 2"/>
          <p:cNvSpPr>
            <a:spLocks noGrp="1"/>
          </p:cNvSpPr>
          <p:nvPr>
            <p:ph type="body" idx="1"/>
          </p:nvPr>
        </p:nvSpPr>
        <p:spPr>
          <a:xfrm>
            <a:off x="5137688" y="2402237"/>
            <a:ext cx="4281407" cy="2187226"/>
          </a:xfrm>
        </p:spPr>
        <p:txBody>
          <a:bodyPr anchor="ctr">
            <a:normAutofit/>
          </a:bodyPr>
          <a:lstStyle>
            <a:lvl1pPr marL="0" indent="0">
              <a:lnSpc>
                <a:spcPct val="150000"/>
              </a:lnSpc>
              <a:buNone/>
              <a:defRPr sz="2275">
                <a:solidFill>
                  <a:schemeClr val="bg1"/>
                </a:solidFill>
                <a:latin typeface="+mj-lt"/>
              </a:defRPr>
            </a:lvl1pPr>
            <a:lvl2pPr marL="371475" indent="0">
              <a:buNone/>
              <a:defRPr sz="1625"/>
            </a:lvl2pPr>
            <a:lvl3pPr marL="742950" indent="0">
              <a:buNone/>
              <a:defRPr sz="1463"/>
            </a:lvl3pPr>
            <a:lvl4pPr marL="1114425" indent="0">
              <a:buNone/>
              <a:defRPr sz="1300"/>
            </a:lvl4pPr>
            <a:lvl5pPr marL="1485900" indent="0">
              <a:buNone/>
              <a:defRPr sz="1300"/>
            </a:lvl5pPr>
            <a:lvl6pPr marL="1857375" indent="0">
              <a:buNone/>
              <a:defRPr sz="1300"/>
            </a:lvl6pPr>
            <a:lvl7pPr marL="2228850" indent="0">
              <a:buNone/>
              <a:defRPr sz="1300"/>
            </a:lvl7pPr>
            <a:lvl8pPr marL="2600325" indent="0">
              <a:buNone/>
              <a:defRPr sz="1300"/>
            </a:lvl8pPr>
            <a:lvl9pPr marL="2971800" indent="0">
              <a:buNone/>
              <a:defRPr sz="1300"/>
            </a:lvl9pPr>
          </a:lstStyle>
          <a:p>
            <a:pPr lvl="0"/>
            <a:r>
              <a:rPr lang="de-DE"/>
              <a:t>Mastertextformat bearbeiten</a:t>
            </a:r>
          </a:p>
        </p:txBody>
      </p:sp>
      <p:sp>
        <p:nvSpPr>
          <p:cNvPr id="8" name="Rechteck 7"/>
          <p:cNvSpPr/>
          <p:nvPr userDrawn="1"/>
        </p:nvSpPr>
        <p:spPr>
          <a:xfrm>
            <a:off x="4821381" y="1709738"/>
            <a:ext cx="5084620" cy="357518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63" dirty="0"/>
          </a:p>
        </p:txBody>
      </p:sp>
      <p:sp>
        <p:nvSpPr>
          <p:cNvPr id="9" name="Slide Number Placeholder 5">
            <a:extLst>
              <a:ext uri="{FF2B5EF4-FFF2-40B4-BE49-F238E27FC236}">
                <a16:creationId xmlns:a16="http://schemas.microsoft.com/office/drawing/2014/main" id="{29D081C6-9C7B-44A2-A742-954772F8501B}"/>
              </a:ext>
            </a:extLst>
          </p:cNvPr>
          <p:cNvSpPr>
            <a:spLocks noGrp="1"/>
          </p:cNvSpPr>
          <p:nvPr>
            <p:ph type="sldNum" sz="quarter" idx="12"/>
          </p:nvPr>
        </p:nvSpPr>
        <p:spPr>
          <a:xfrm>
            <a:off x="6996113" y="6356352"/>
            <a:ext cx="2228850" cy="365125"/>
          </a:xfrm>
        </p:spPr>
        <p:txBody>
          <a:bodyPr/>
          <a:lstStyle/>
          <a:p>
            <a:fld id="{06BE810C-D1BD-4E2B-9D7B-C86294C40709}" type="slidenum">
              <a:rPr lang="de-DE" smtClean="0"/>
              <a:t>‹#›</a:t>
            </a:fld>
            <a:endParaRPr lang="de-DE"/>
          </a:p>
        </p:txBody>
      </p:sp>
      <p:sp>
        <p:nvSpPr>
          <p:cNvPr id="11" name="Line 3">
            <a:extLst>
              <a:ext uri="{FF2B5EF4-FFF2-40B4-BE49-F238E27FC236}">
                <a16:creationId xmlns:a16="http://schemas.microsoft.com/office/drawing/2014/main" id="{E11BEE30-08E8-45BF-A1C6-8835225ABC22}"/>
              </a:ext>
            </a:extLst>
          </p:cNvPr>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2" name="Shape 22">
            <a:extLst>
              <a:ext uri="{FF2B5EF4-FFF2-40B4-BE49-F238E27FC236}">
                <a16:creationId xmlns:a16="http://schemas.microsoft.com/office/drawing/2014/main" id="{B65C631A-F55E-48DB-AB6A-194235216A0B}"/>
              </a:ext>
            </a:extLst>
          </p:cNvPr>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10" name="Grafik 9">
            <a:extLst>
              <a:ext uri="{FF2B5EF4-FFF2-40B4-BE49-F238E27FC236}">
                <a16:creationId xmlns:a16="http://schemas.microsoft.com/office/drawing/2014/main" id="{9E7BDCAE-180D-47C5-B1D0-D7B6E6110058}"/>
              </a:ext>
            </a:extLst>
          </p:cNvPr>
          <p:cNvPicPr>
            <a:picLocks noChangeAspect="1"/>
          </p:cNvPicPr>
          <p:nvPr userDrawn="1"/>
        </p:nvPicPr>
        <p:blipFill>
          <a:blip r:embed="rId3"/>
          <a:stretch>
            <a:fillRect/>
          </a:stretch>
        </p:blipFill>
        <p:spPr>
          <a:xfrm>
            <a:off x="236270" y="6387094"/>
            <a:ext cx="1295467" cy="451254"/>
          </a:xfrm>
          <a:prstGeom prst="rect">
            <a:avLst/>
          </a:prstGeom>
        </p:spPr>
      </p:pic>
      <p:sp>
        <p:nvSpPr>
          <p:cNvPr id="5" name="Textplatzhalter 4">
            <a:extLst>
              <a:ext uri="{FF2B5EF4-FFF2-40B4-BE49-F238E27FC236}">
                <a16:creationId xmlns:a16="http://schemas.microsoft.com/office/drawing/2014/main" id="{A5BA06E9-FD05-4BE0-BB33-EC6A8024D168}"/>
              </a:ext>
            </a:extLst>
          </p:cNvPr>
          <p:cNvSpPr>
            <a:spLocks noGrp="1"/>
          </p:cNvSpPr>
          <p:nvPr>
            <p:ph type="body" sz="quarter" idx="13"/>
          </p:nvPr>
        </p:nvSpPr>
        <p:spPr>
          <a:xfrm>
            <a:off x="4821238" y="2400652"/>
            <a:ext cx="5084762" cy="2188812"/>
          </a:xfrm>
        </p:spPr>
        <p:txBody>
          <a:bodyPr anchor="ctr">
            <a:normAutofit/>
          </a:bodyPr>
          <a:lstStyle>
            <a:lvl1pPr marL="0" indent="0" algn="l" defTabSz="685800" rtl="0" eaLnBrk="1" latinLnBrk="0" hangingPunct="1">
              <a:lnSpc>
                <a:spcPct val="90000"/>
              </a:lnSpc>
              <a:spcBef>
                <a:spcPct val="0"/>
              </a:spcBef>
              <a:buNone/>
              <a:defRPr lang="de-DE" sz="2800" b="0" kern="1200" dirty="0" smtClean="0">
                <a:solidFill>
                  <a:schemeClr val="bg1"/>
                </a:solidFill>
                <a:latin typeface="+mj-lt"/>
                <a:ea typeface="+mj-ea"/>
                <a:cs typeface="+mj-cs"/>
              </a:defRPr>
            </a:lvl1pPr>
            <a:lvl2pPr marL="342900" indent="0" algn="l" defTabSz="685800" rtl="0" eaLnBrk="1" latinLnBrk="0" hangingPunct="1">
              <a:lnSpc>
                <a:spcPct val="90000"/>
              </a:lnSpc>
              <a:spcBef>
                <a:spcPct val="0"/>
              </a:spcBef>
              <a:buNone/>
              <a:defRPr lang="de-DE" sz="2800" b="0" kern="1200" dirty="0" smtClean="0">
                <a:solidFill>
                  <a:schemeClr val="tx1"/>
                </a:solidFill>
                <a:latin typeface="+mj-lt"/>
                <a:ea typeface="+mj-ea"/>
                <a:cs typeface="+mj-cs"/>
              </a:defRPr>
            </a:lvl2pPr>
            <a:lvl3pPr marL="685800" indent="0" algn="l" defTabSz="685800" rtl="0" eaLnBrk="1" latinLnBrk="0" hangingPunct="1">
              <a:lnSpc>
                <a:spcPct val="90000"/>
              </a:lnSpc>
              <a:spcBef>
                <a:spcPct val="0"/>
              </a:spcBef>
              <a:buNone/>
              <a:defRPr lang="de-DE" sz="2800" b="0" kern="1200" dirty="0" smtClean="0">
                <a:solidFill>
                  <a:schemeClr val="tx1"/>
                </a:solidFill>
                <a:latin typeface="+mj-lt"/>
                <a:ea typeface="+mj-ea"/>
                <a:cs typeface="+mj-cs"/>
              </a:defRPr>
            </a:lvl3pPr>
            <a:lvl4pPr marL="1028700" indent="0" algn="l" defTabSz="685800" rtl="0" eaLnBrk="1" latinLnBrk="0" hangingPunct="1">
              <a:lnSpc>
                <a:spcPct val="90000"/>
              </a:lnSpc>
              <a:spcBef>
                <a:spcPct val="0"/>
              </a:spcBef>
              <a:buNone/>
              <a:defRPr lang="de-DE" sz="2800" b="0" kern="1200" dirty="0" smtClean="0">
                <a:solidFill>
                  <a:schemeClr val="tx1"/>
                </a:solidFill>
                <a:latin typeface="+mj-lt"/>
                <a:ea typeface="+mj-ea"/>
                <a:cs typeface="+mj-cs"/>
              </a:defRPr>
            </a:lvl4pPr>
            <a:lvl5pPr marL="1371600" indent="0" algn="l" defTabSz="685800" rtl="0" eaLnBrk="1" latinLnBrk="0" hangingPunct="1">
              <a:lnSpc>
                <a:spcPct val="90000"/>
              </a:lnSpc>
              <a:spcBef>
                <a:spcPct val="0"/>
              </a:spcBef>
              <a:buNone/>
              <a:defRPr lang="de-DE" sz="2800" b="0" kern="1200" dirty="0">
                <a:solidFill>
                  <a:schemeClr val="tx1"/>
                </a:solidFill>
                <a:latin typeface="+mj-lt"/>
                <a:ea typeface="+mj-ea"/>
                <a:cs typeface="+mj-cs"/>
              </a:defRPr>
            </a:lvl5pPr>
          </a:lstStyle>
          <a:p>
            <a:pPr lvl="0"/>
            <a:r>
              <a:rPr lang="de-DE" dirty="0"/>
              <a:t>Mastertextformat bearbeiten</a:t>
            </a:r>
          </a:p>
          <a:p>
            <a:pPr lvl="1"/>
            <a:endParaRPr lang="de-DE" dirty="0"/>
          </a:p>
        </p:txBody>
      </p:sp>
    </p:spTree>
    <p:extLst>
      <p:ext uri="{BB962C8B-B14F-4D97-AF65-F5344CB8AC3E}">
        <p14:creationId xmlns:p14="http://schemas.microsoft.com/office/powerpoint/2010/main" val="9033827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Inhaltsverzeichni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32BA1FC5-05DA-B6C5-9F32-06D2957E9804}"/>
              </a:ext>
            </a:extLst>
          </p:cNvPr>
          <p:cNvSpPr/>
          <p:nvPr userDrawn="1">
            <p:custDataLst>
              <p:tags r:id="rId1"/>
            </p:custDataLst>
          </p:nvPr>
        </p:nvSpPr>
        <p:spPr>
          <a:xfrm>
            <a:off x="0" y="0"/>
            <a:ext cx="12700" cy="12700"/>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en-US" sz="1200" b="1" dirty="0">
              <a:solidFill>
                <a:srgbClr val="8BAABF"/>
              </a:solidFill>
            </a:endParaRPr>
          </a:p>
        </p:txBody>
      </p:sp>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1"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2"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sp>
        <p:nvSpPr>
          <p:cNvPr id="9" name="Textplatzhalter 9">
            <a:extLst>
              <a:ext uri="{FF2B5EF4-FFF2-40B4-BE49-F238E27FC236}">
                <a16:creationId xmlns:a16="http://schemas.microsoft.com/office/drawing/2014/main" id="{362938D1-90FB-4BA5-B276-E7103066C98B}"/>
              </a:ext>
            </a:extLst>
          </p:cNvPr>
          <p:cNvSpPr>
            <a:spLocks noGrp="1"/>
          </p:cNvSpPr>
          <p:nvPr>
            <p:ph type="body" sz="quarter" idx="13" hasCustomPrompt="1"/>
          </p:nvPr>
        </p:nvSpPr>
        <p:spPr>
          <a:xfrm>
            <a:off x="288525" y="184376"/>
            <a:ext cx="8936437" cy="896937"/>
          </a:xfrm>
        </p:spPr>
        <p:txBody>
          <a:bodyPr lIns="0" anchor="ctr">
            <a:normAutofit/>
          </a:bodyPr>
          <a:lstStyle>
            <a:lvl1pPr marL="0" indent="0">
              <a:buNone/>
              <a:defRPr sz="2100"/>
            </a:lvl1pPr>
          </a:lstStyle>
          <a:p>
            <a:pPr lvl="0"/>
            <a:r>
              <a:rPr lang="de-DE" dirty="0"/>
              <a:t>Formatvorlagen des Textmasters bearbeiten</a:t>
            </a:r>
          </a:p>
        </p:txBody>
      </p:sp>
      <p:pic>
        <p:nvPicPr>
          <p:cNvPr id="7" name="Grafik 6">
            <a:extLst>
              <a:ext uri="{FF2B5EF4-FFF2-40B4-BE49-F238E27FC236}">
                <a16:creationId xmlns:a16="http://schemas.microsoft.com/office/drawing/2014/main" id="{881E5BEE-FB91-41DF-B7D0-938D80AC4A0A}"/>
              </a:ext>
            </a:extLst>
          </p:cNvPr>
          <p:cNvPicPr>
            <a:picLocks noChangeAspect="1"/>
          </p:cNvPicPr>
          <p:nvPr userDrawn="1"/>
        </p:nvPicPr>
        <p:blipFill>
          <a:blip r:embed="rId3"/>
          <a:stretch>
            <a:fillRect/>
          </a:stretch>
        </p:blipFill>
        <p:spPr>
          <a:xfrm>
            <a:off x="236270" y="6387094"/>
            <a:ext cx="1295467" cy="451254"/>
          </a:xfrm>
          <a:prstGeom prst="rect">
            <a:avLst/>
          </a:prstGeom>
        </p:spPr>
      </p:pic>
      <p:sp>
        <p:nvSpPr>
          <p:cNvPr id="8" name="Rectangle 4">
            <a:extLst>
              <a:ext uri="{FF2B5EF4-FFF2-40B4-BE49-F238E27FC236}">
                <a16:creationId xmlns:a16="http://schemas.microsoft.com/office/drawing/2014/main" id="{BFE7C61D-8E1F-40B1-8BCD-0FB20105B1DA}"/>
              </a:ext>
            </a:extLst>
          </p:cNvPr>
          <p:cNvSpPr/>
          <p:nvPr userDrawn="1"/>
        </p:nvSpPr>
        <p:spPr>
          <a:xfrm>
            <a:off x="0" y="1187658"/>
            <a:ext cx="9906000" cy="5168694"/>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457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ext">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88CD3A0-1E60-3A5C-98CE-6631E3510298}"/>
              </a:ext>
            </a:extLst>
          </p:cNvPr>
          <p:cNvSpPr/>
          <p:nvPr userDrawn="1">
            <p:custDataLst>
              <p:tags r:id="rId1"/>
            </p:custDataLst>
          </p:nvPr>
        </p:nvSpPr>
        <p:spPr>
          <a:xfrm>
            <a:off x="0" y="0"/>
            <a:ext cx="12700" cy="12700"/>
          </a:xfrm>
          <a:prstGeom prst="octagon">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7" name="Grafik 6">
            <a:extLst>
              <a:ext uri="{FF2B5EF4-FFF2-40B4-BE49-F238E27FC236}">
                <a16:creationId xmlns:a16="http://schemas.microsoft.com/office/drawing/2014/main" id="{3488D9EF-D5E4-412E-9C3F-585783D2D030}"/>
              </a:ext>
            </a:extLst>
          </p:cNvPr>
          <p:cNvPicPr>
            <a:picLocks noChangeAspect="1"/>
          </p:cNvPicPr>
          <p:nvPr userDrawn="1"/>
        </p:nvPicPr>
        <p:blipFill>
          <a:blip r:embed="rId3"/>
          <a:stretch>
            <a:fillRect/>
          </a:stretch>
        </p:blipFill>
        <p:spPr>
          <a:xfrm>
            <a:off x="236270" y="6387094"/>
            <a:ext cx="1295467" cy="451254"/>
          </a:xfrm>
          <a:prstGeom prst="rect">
            <a:avLst/>
          </a:prstGeom>
        </p:spPr>
      </p:pic>
      <p:sp>
        <p:nvSpPr>
          <p:cNvPr id="8" name="Textplatzhalter 9">
            <a:extLst>
              <a:ext uri="{FF2B5EF4-FFF2-40B4-BE49-F238E27FC236}">
                <a16:creationId xmlns:a16="http://schemas.microsoft.com/office/drawing/2014/main" id="{A42BC615-C637-4892-96BF-C237AC4D4A2D}"/>
              </a:ext>
            </a:extLst>
          </p:cNvPr>
          <p:cNvSpPr>
            <a:spLocks noGrp="1"/>
          </p:cNvSpPr>
          <p:nvPr>
            <p:ph type="body" sz="quarter" idx="13" hasCustomPrompt="1"/>
          </p:nvPr>
        </p:nvSpPr>
        <p:spPr>
          <a:xfrm>
            <a:off x="288525" y="184376"/>
            <a:ext cx="9329927" cy="896937"/>
          </a:xfrm>
        </p:spPr>
        <p:txBody>
          <a:bodyPr lIns="0" anchor="ctr"/>
          <a:lstStyle>
            <a:lvl1pPr marL="0" indent="0">
              <a:buNone/>
              <a:defRPr/>
            </a:lvl1pPr>
          </a:lstStyle>
          <a:p>
            <a:pPr lvl="0"/>
            <a:r>
              <a:rPr lang="de-DE" dirty="0"/>
              <a:t>Formatvorlagen des Textmasters bearbeiten</a:t>
            </a:r>
          </a:p>
        </p:txBody>
      </p:sp>
      <p:sp>
        <p:nvSpPr>
          <p:cNvPr id="14" name="Textplatzhalter 16">
            <a:extLst>
              <a:ext uri="{FF2B5EF4-FFF2-40B4-BE49-F238E27FC236}">
                <a16:creationId xmlns:a16="http://schemas.microsoft.com/office/drawing/2014/main" id="{B03BF65F-BE03-4163-A8CE-0A9CF958A66E}"/>
              </a:ext>
            </a:extLst>
          </p:cNvPr>
          <p:cNvSpPr>
            <a:spLocks noGrp="1"/>
          </p:cNvSpPr>
          <p:nvPr>
            <p:ph type="body" sz="quarter" idx="15" hasCustomPrompt="1"/>
          </p:nvPr>
        </p:nvSpPr>
        <p:spPr>
          <a:xfrm>
            <a:off x="288526" y="1356677"/>
            <a:ext cx="9355806"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5" name="Textplatzhalter 16">
            <a:extLst>
              <a:ext uri="{FF2B5EF4-FFF2-40B4-BE49-F238E27FC236}">
                <a16:creationId xmlns:a16="http://schemas.microsoft.com/office/drawing/2014/main" id="{22AC3E89-7A1F-426D-BB05-6FB61D5A9D29}"/>
              </a:ext>
            </a:extLst>
          </p:cNvPr>
          <p:cNvSpPr>
            <a:spLocks noGrp="1"/>
          </p:cNvSpPr>
          <p:nvPr>
            <p:ph type="body" sz="quarter" idx="16"/>
          </p:nvPr>
        </p:nvSpPr>
        <p:spPr>
          <a:xfrm>
            <a:off x="288526" y="1852093"/>
            <a:ext cx="9364432" cy="4327034"/>
          </a:xfrm>
        </p:spPr>
        <p:txBody>
          <a:bodyPr anchor="t">
            <a:normAutofit/>
          </a:bodyPr>
          <a:lstStyle>
            <a:lvl1pPr marL="171450" indent="-171450" algn="just">
              <a:buClr>
                <a:srgbClr val="7492A5"/>
              </a:buClr>
              <a:buFont typeface="Arial" panose="020B0604020202020204" pitchFamily="34" charset="0"/>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Tree>
    <p:extLst>
      <p:ext uri="{BB962C8B-B14F-4D97-AF65-F5344CB8AC3E}">
        <p14:creationId xmlns:p14="http://schemas.microsoft.com/office/powerpoint/2010/main" val="736174349"/>
      </p:ext>
    </p:extLst>
  </p:cSld>
  <p:clrMapOvr>
    <a:masterClrMapping/>
  </p:clrMapOvr>
  <p:extLst>
    <p:ext uri="{DCECCB84-F9BA-43D5-87BE-67443E8EF086}">
      <p15:sldGuideLst xmlns:p15="http://schemas.microsoft.com/office/powerpoint/2012/main">
        <p15:guide id="1" orient="horz" pos="958" userDrawn="1">
          <p15:clr>
            <a:srgbClr val="FBAE40"/>
          </p15:clr>
        </p15:guide>
        <p15:guide id="2"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ext_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7" name="Grafik 6">
            <a:extLst>
              <a:ext uri="{FF2B5EF4-FFF2-40B4-BE49-F238E27FC236}">
                <a16:creationId xmlns:a16="http://schemas.microsoft.com/office/drawing/2014/main" id="{3488D9EF-D5E4-412E-9C3F-585783D2D030}"/>
              </a:ext>
            </a:extLst>
          </p:cNvPr>
          <p:cNvPicPr>
            <a:picLocks noChangeAspect="1"/>
          </p:cNvPicPr>
          <p:nvPr userDrawn="1"/>
        </p:nvPicPr>
        <p:blipFill>
          <a:blip r:embed="rId2"/>
          <a:stretch>
            <a:fillRect/>
          </a:stretch>
        </p:blipFill>
        <p:spPr>
          <a:xfrm>
            <a:off x="236270" y="6387094"/>
            <a:ext cx="1295467" cy="451254"/>
          </a:xfrm>
          <a:prstGeom prst="rect">
            <a:avLst/>
          </a:prstGeom>
        </p:spPr>
      </p:pic>
      <p:sp>
        <p:nvSpPr>
          <p:cNvPr id="8" name="Textplatzhalter 9">
            <a:extLst>
              <a:ext uri="{FF2B5EF4-FFF2-40B4-BE49-F238E27FC236}">
                <a16:creationId xmlns:a16="http://schemas.microsoft.com/office/drawing/2014/main" id="{A42BC615-C637-4892-96BF-C237AC4D4A2D}"/>
              </a:ext>
            </a:extLst>
          </p:cNvPr>
          <p:cNvSpPr>
            <a:spLocks noGrp="1"/>
          </p:cNvSpPr>
          <p:nvPr>
            <p:ph type="body" sz="quarter" idx="13" hasCustomPrompt="1"/>
          </p:nvPr>
        </p:nvSpPr>
        <p:spPr>
          <a:xfrm>
            <a:off x="288525" y="184376"/>
            <a:ext cx="9329927" cy="896937"/>
          </a:xfrm>
        </p:spPr>
        <p:txBody>
          <a:bodyPr lIns="0" anchor="ctr">
            <a:normAutofit/>
          </a:bodyPr>
          <a:lstStyle>
            <a:lvl1pPr marL="0" indent="0">
              <a:buNone/>
              <a:defRPr sz="2100"/>
            </a:lvl1pPr>
          </a:lstStyle>
          <a:p>
            <a:pPr lvl="0"/>
            <a:r>
              <a:rPr lang="de-DE" dirty="0"/>
              <a:t>Formatvorlagen des Textmasters bearbeiten</a:t>
            </a:r>
          </a:p>
        </p:txBody>
      </p:sp>
      <p:sp>
        <p:nvSpPr>
          <p:cNvPr id="14" name="Textplatzhalter 16">
            <a:extLst>
              <a:ext uri="{FF2B5EF4-FFF2-40B4-BE49-F238E27FC236}">
                <a16:creationId xmlns:a16="http://schemas.microsoft.com/office/drawing/2014/main" id="{B03BF65F-BE03-4163-A8CE-0A9CF958A66E}"/>
              </a:ext>
            </a:extLst>
          </p:cNvPr>
          <p:cNvSpPr>
            <a:spLocks noGrp="1"/>
          </p:cNvSpPr>
          <p:nvPr>
            <p:ph type="body" sz="quarter" idx="15" hasCustomPrompt="1"/>
          </p:nvPr>
        </p:nvSpPr>
        <p:spPr>
          <a:xfrm>
            <a:off x="288526" y="1356677"/>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5" name="Textplatzhalter 16">
            <a:extLst>
              <a:ext uri="{FF2B5EF4-FFF2-40B4-BE49-F238E27FC236}">
                <a16:creationId xmlns:a16="http://schemas.microsoft.com/office/drawing/2014/main" id="{22AC3E89-7A1F-426D-BB05-6FB61D5A9D29}"/>
              </a:ext>
            </a:extLst>
          </p:cNvPr>
          <p:cNvSpPr>
            <a:spLocks noGrp="1"/>
          </p:cNvSpPr>
          <p:nvPr>
            <p:ph type="body" sz="quarter" idx="16"/>
          </p:nvPr>
        </p:nvSpPr>
        <p:spPr>
          <a:xfrm>
            <a:off x="288526" y="1852093"/>
            <a:ext cx="4555947" cy="4327034"/>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0" name="Textplatzhalter 16">
            <a:extLst>
              <a:ext uri="{FF2B5EF4-FFF2-40B4-BE49-F238E27FC236}">
                <a16:creationId xmlns:a16="http://schemas.microsoft.com/office/drawing/2014/main" id="{0F2FF941-7485-4F11-8368-A55B7D942C63}"/>
              </a:ext>
            </a:extLst>
          </p:cNvPr>
          <p:cNvSpPr>
            <a:spLocks noGrp="1"/>
          </p:cNvSpPr>
          <p:nvPr>
            <p:ph type="body" sz="quarter" idx="17"/>
          </p:nvPr>
        </p:nvSpPr>
        <p:spPr>
          <a:xfrm>
            <a:off x="5061529" y="1847390"/>
            <a:ext cx="4555947" cy="4327034"/>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1" name="Textplatzhalter 16">
            <a:extLst>
              <a:ext uri="{FF2B5EF4-FFF2-40B4-BE49-F238E27FC236}">
                <a16:creationId xmlns:a16="http://schemas.microsoft.com/office/drawing/2014/main" id="{D1A6596A-2B0D-4B3E-91FA-9491EB26AE81}"/>
              </a:ext>
            </a:extLst>
          </p:cNvPr>
          <p:cNvSpPr>
            <a:spLocks noGrp="1"/>
          </p:cNvSpPr>
          <p:nvPr>
            <p:ph type="body" sz="quarter" idx="18" hasCustomPrompt="1"/>
          </p:nvPr>
        </p:nvSpPr>
        <p:spPr>
          <a:xfrm>
            <a:off x="5061527" y="1351974"/>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Tree>
    <p:extLst>
      <p:ext uri="{BB962C8B-B14F-4D97-AF65-F5344CB8AC3E}">
        <p14:creationId xmlns:p14="http://schemas.microsoft.com/office/powerpoint/2010/main" val="443481811"/>
      </p:ext>
    </p:extLst>
  </p:cSld>
  <p:clrMapOvr>
    <a:masterClrMapping/>
  </p:clrMapOvr>
  <p:extLst>
    <p:ext uri="{DCECCB84-F9BA-43D5-87BE-67443E8EF086}">
      <p15:sldGuideLst xmlns:p15="http://schemas.microsoft.com/office/powerpoint/2012/main">
        <p15:guide id="1" orient="horz" pos="958">
          <p15:clr>
            <a:srgbClr val="FBAE40"/>
          </p15:clr>
        </p15:guide>
        <p15:guide id="2" pos="3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ext^4">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7" name="Grafik 6">
            <a:extLst>
              <a:ext uri="{FF2B5EF4-FFF2-40B4-BE49-F238E27FC236}">
                <a16:creationId xmlns:a16="http://schemas.microsoft.com/office/drawing/2014/main" id="{3488D9EF-D5E4-412E-9C3F-585783D2D030}"/>
              </a:ext>
            </a:extLst>
          </p:cNvPr>
          <p:cNvPicPr>
            <a:picLocks noChangeAspect="1"/>
          </p:cNvPicPr>
          <p:nvPr userDrawn="1"/>
        </p:nvPicPr>
        <p:blipFill>
          <a:blip r:embed="rId2"/>
          <a:stretch>
            <a:fillRect/>
          </a:stretch>
        </p:blipFill>
        <p:spPr>
          <a:xfrm>
            <a:off x="236270" y="6387094"/>
            <a:ext cx="1295467" cy="451254"/>
          </a:xfrm>
          <a:prstGeom prst="rect">
            <a:avLst/>
          </a:prstGeom>
        </p:spPr>
      </p:pic>
      <p:sp>
        <p:nvSpPr>
          <p:cNvPr id="8" name="Textplatzhalter 9">
            <a:extLst>
              <a:ext uri="{FF2B5EF4-FFF2-40B4-BE49-F238E27FC236}">
                <a16:creationId xmlns:a16="http://schemas.microsoft.com/office/drawing/2014/main" id="{A42BC615-C637-4892-96BF-C237AC4D4A2D}"/>
              </a:ext>
            </a:extLst>
          </p:cNvPr>
          <p:cNvSpPr>
            <a:spLocks noGrp="1"/>
          </p:cNvSpPr>
          <p:nvPr>
            <p:ph type="body" sz="quarter" idx="13" hasCustomPrompt="1"/>
          </p:nvPr>
        </p:nvSpPr>
        <p:spPr>
          <a:xfrm>
            <a:off x="288525" y="184376"/>
            <a:ext cx="9329927" cy="896937"/>
          </a:xfrm>
        </p:spPr>
        <p:txBody>
          <a:bodyPr lIns="0" anchor="ctr">
            <a:normAutofit/>
          </a:bodyPr>
          <a:lstStyle>
            <a:lvl1pPr marL="0" indent="0">
              <a:buNone/>
              <a:defRPr sz="2100"/>
            </a:lvl1pPr>
          </a:lstStyle>
          <a:p>
            <a:pPr lvl="0"/>
            <a:r>
              <a:rPr lang="de-DE" dirty="0"/>
              <a:t>Formatvorlagen des Textmasters bearbeiten</a:t>
            </a:r>
          </a:p>
        </p:txBody>
      </p:sp>
      <p:sp>
        <p:nvSpPr>
          <p:cNvPr id="14" name="Textplatzhalter 16">
            <a:extLst>
              <a:ext uri="{FF2B5EF4-FFF2-40B4-BE49-F238E27FC236}">
                <a16:creationId xmlns:a16="http://schemas.microsoft.com/office/drawing/2014/main" id="{B03BF65F-BE03-4163-A8CE-0A9CF958A66E}"/>
              </a:ext>
            </a:extLst>
          </p:cNvPr>
          <p:cNvSpPr>
            <a:spLocks noGrp="1"/>
          </p:cNvSpPr>
          <p:nvPr>
            <p:ph type="body" sz="quarter" idx="15" hasCustomPrompt="1"/>
          </p:nvPr>
        </p:nvSpPr>
        <p:spPr>
          <a:xfrm>
            <a:off x="288526" y="1356677"/>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5" name="Textplatzhalter 16">
            <a:extLst>
              <a:ext uri="{FF2B5EF4-FFF2-40B4-BE49-F238E27FC236}">
                <a16:creationId xmlns:a16="http://schemas.microsoft.com/office/drawing/2014/main" id="{22AC3E89-7A1F-426D-BB05-6FB61D5A9D29}"/>
              </a:ext>
            </a:extLst>
          </p:cNvPr>
          <p:cNvSpPr>
            <a:spLocks noGrp="1"/>
          </p:cNvSpPr>
          <p:nvPr>
            <p:ph type="body" sz="quarter" idx="16"/>
          </p:nvPr>
        </p:nvSpPr>
        <p:spPr>
          <a:xfrm>
            <a:off x="288526" y="1852092"/>
            <a:ext cx="4555947" cy="1800000"/>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0" name="Textplatzhalter 16">
            <a:extLst>
              <a:ext uri="{FF2B5EF4-FFF2-40B4-BE49-F238E27FC236}">
                <a16:creationId xmlns:a16="http://schemas.microsoft.com/office/drawing/2014/main" id="{0F2FF941-7485-4F11-8368-A55B7D942C63}"/>
              </a:ext>
            </a:extLst>
          </p:cNvPr>
          <p:cNvSpPr>
            <a:spLocks noGrp="1"/>
          </p:cNvSpPr>
          <p:nvPr>
            <p:ph type="body" sz="quarter" idx="17"/>
          </p:nvPr>
        </p:nvSpPr>
        <p:spPr>
          <a:xfrm>
            <a:off x="5061529" y="1847389"/>
            <a:ext cx="4555947" cy="1800000"/>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1" name="Textplatzhalter 16">
            <a:extLst>
              <a:ext uri="{FF2B5EF4-FFF2-40B4-BE49-F238E27FC236}">
                <a16:creationId xmlns:a16="http://schemas.microsoft.com/office/drawing/2014/main" id="{D1A6596A-2B0D-4B3E-91FA-9491EB26AE81}"/>
              </a:ext>
            </a:extLst>
          </p:cNvPr>
          <p:cNvSpPr>
            <a:spLocks noGrp="1"/>
          </p:cNvSpPr>
          <p:nvPr>
            <p:ph type="body" sz="quarter" idx="18" hasCustomPrompt="1"/>
          </p:nvPr>
        </p:nvSpPr>
        <p:spPr>
          <a:xfrm>
            <a:off x="5061527" y="1351974"/>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6" name="Textplatzhalter 16">
            <a:extLst>
              <a:ext uri="{FF2B5EF4-FFF2-40B4-BE49-F238E27FC236}">
                <a16:creationId xmlns:a16="http://schemas.microsoft.com/office/drawing/2014/main" id="{84E6589D-6BE2-4EEC-A81D-95C137E43B45}"/>
              </a:ext>
            </a:extLst>
          </p:cNvPr>
          <p:cNvSpPr>
            <a:spLocks noGrp="1"/>
          </p:cNvSpPr>
          <p:nvPr>
            <p:ph type="body" sz="quarter" idx="19" hasCustomPrompt="1"/>
          </p:nvPr>
        </p:nvSpPr>
        <p:spPr>
          <a:xfrm>
            <a:off x="288524" y="3847980"/>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7" name="Textplatzhalter 16">
            <a:extLst>
              <a:ext uri="{FF2B5EF4-FFF2-40B4-BE49-F238E27FC236}">
                <a16:creationId xmlns:a16="http://schemas.microsoft.com/office/drawing/2014/main" id="{7261435D-6B9C-4DD9-A201-6E1D2AD364A1}"/>
              </a:ext>
            </a:extLst>
          </p:cNvPr>
          <p:cNvSpPr>
            <a:spLocks noGrp="1"/>
          </p:cNvSpPr>
          <p:nvPr>
            <p:ph type="body" sz="quarter" idx="20"/>
          </p:nvPr>
        </p:nvSpPr>
        <p:spPr>
          <a:xfrm>
            <a:off x="288524" y="4343396"/>
            <a:ext cx="4555947" cy="1800000"/>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8" name="Textplatzhalter 16">
            <a:extLst>
              <a:ext uri="{FF2B5EF4-FFF2-40B4-BE49-F238E27FC236}">
                <a16:creationId xmlns:a16="http://schemas.microsoft.com/office/drawing/2014/main" id="{07DF37D2-1B66-4FD9-B0EB-21A72A1DE9FE}"/>
              </a:ext>
            </a:extLst>
          </p:cNvPr>
          <p:cNvSpPr>
            <a:spLocks noGrp="1"/>
          </p:cNvSpPr>
          <p:nvPr>
            <p:ph type="body" sz="quarter" idx="21"/>
          </p:nvPr>
        </p:nvSpPr>
        <p:spPr>
          <a:xfrm>
            <a:off x="5061527" y="4338693"/>
            <a:ext cx="4555947" cy="1800000"/>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9" name="Textplatzhalter 16">
            <a:extLst>
              <a:ext uri="{FF2B5EF4-FFF2-40B4-BE49-F238E27FC236}">
                <a16:creationId xmlns:a16="http://schemas.microsoft.com/office/drawing/2014/main" id="{42463F18-0E52-45F5-8CD1-34141F8610C0}"/>
              </a:ext>
            </a:extLst>
          </p:cNvPr>
          <p:cNvSpPr>
            <a:spLocks noGrp="1"/>
          </p:cNvSpPr>
          <p:nvPr>
            <p:ph type="body" sz="quarter" idx="22" hasCustomPrompt="1"/>
          </p:nvPr>
        </p:nvSpPr>
        <p:spPr>
          <a:xfrm>
            <a:off x="5061525" y="3846783"/>
            <a:ext cx="4555947"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Tree>
    <p:extLst>
      <p:ext uri="{BB962C8B-B14F-4D97-AF65-F5344CB8AC3E}">
        <p14:creationId xmlns:p14="http://schemas.microsoft.com/office/powerpoint/2010/main" val="2306980971"/>
      </p:ext>
    </p:extLst>
  </p:cSld>
  <p:clrMapOvr>
    <a:masterClrMapping/>
  </p:clrMapOvr>
  <p:extLst>
    <p:ext uri="{DCECCB84-F9BA-43D5-87BE-67443E8EF086}">
      <p15:sldGuideLst xmlns:p15="http://schemas.microsoft.com/office/powerpoint/2012/main">
        <p15:guide id="1" orient="horz" pos="958">
          <p15:clr>
            <a:srgbClr val="FBAE40"/>
          </p15:clr>
        </p15:guide>
        <p15:guide id="2" pos="31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ext_Bi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7" name="Grafik 6">
            <a:extLst>
              <a:ext uri="{FF2B5EF4-FFF2-40B4-BE49-F238E27FC236}">
                <a16:creationId xmlns:a16="http://schemas.microsoft.com/office/drawing/2014/main" id="{3488D9EF-D5E4-412E-9C3F-585783D2D030}"/>
              </a:ext>
            </a:extLst>
          </p:cNvPr>
          <p:cNvPicPr>
            <a:picLocks noChangeAspect="1"/>
          </p:cNvPicPr>
          <p:nvPr userDrawn="1"/>
        </p:nvPicPr>
        <p:blipFill>
          <a:blip r:embed="rId2"/>
          <a:stretch>
            <a:fillRect/>
          </a:stretch>
        </p:blipFill>
        <p:spPr>
          <a:xfrm>
            <a:off x="236270" y="6387094"/>
            <a:ext cx="1295467" cy="451254"/>
          </a:xfrm>
          <a:prstGeom prst="rect">
            <a:avLst/>
          </a:prstGeom>
        </p:spPr>
      </p:pic>
      <p:sp>
        <p:nvSpPr>
          <p:cNvPr id="8" name="Textplatzhalter 9">
            <a:extLst>
              <a:ext uri="{FF2B5EF4-FFF2-40B4-BE49-F238E27FC236}">
                <a16:creationId xmlns:a16="http://schemas.microsoft.com/office/drawing/2014/main" id="{A42BC615-C637-4892-96BF-C237AC4D4A2D}"/>
              </a:ext>
            </a:extLst>
          </p:cNvPr>
          <p:cNvSpPr>
            <a:spLocks noGrp="1"/>
          </p:cNvSpPr>
          <p:nvPr>
            <p:ph type="body" sz="quarter" idx="13" hasCustomPrompt="1"/>
          </p:nvPr>
        </p:nvSpPr>
        <p:spPr>
          <a:xfrm>
            <a:off x="288525" y="184376"/>
            <a:ext cx="9329927" cy="896937"/>
          </a:xfrm>
        </p:spPr>
        <p:txBody>
          <a:bodyPr lIns="0" anchor="ctr">
            <a:normAutofit/>
          </a:bodyPr>
          <a:lstStyle>
            <a:lvl1pPr marL="0" indent="0">
              <a:buNone/>
              <a:defRPr sz="2100"/>
            </a:lvl1pPr>
          </a:lstStyle>
          <a:p>
            <a:pPr lvl="0"/>
            <a:r>
              <a:rPr lang="de-DE" dirty="0"/>
              <a:t>Formatvorlagen des Textmasters bearbeiten</a:t>
            </a:r>
          </a:p>
        </p:txBody>
      </p:sp>
      <p:sp>
        <p:nvSpPr>
          <p:cNvPr id="14" name="Textplatzhalter 16">
            <a:extLst>
              <a:ext uri="{FF2B5EF4-FFF2-40B4-BE49-F238E27FC236}">
                <a16:creationId xmlns:a16="http://schemas.microsoft.com/office/drawing/2014/main" id="{B03BF65F-BE03-4163-A8CE-0A9CF958A66E}"/>
              </a:ext>
            </a:extLst>
          </p:cNvPr>
          <p:cNvSpPr>
            <a:spLocks noGrp="1"/>
          </p:cNvSpPr>
          <p:nvPr>
            <p:ph type="body" sz="quarter" idx="15" hasCustomPrompt="1"/>
          </p:nvPr>
        </p:nvSpPr>
        <p:spPr>
          <a:xfrm>
            <a:off x="288526" y="1356677"/>
            <a:ext cx="9328372"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5" name="Textplatzhalter 16">
            <a:extLst>
              <a:ext uri="{FF2B5EF4-FFF2-40B4-BE49-F238E27FC236}">
                <a16:creationId xmlns:a16="http://schemas.microsoft.com/office/drawing/2014/main" id="{22AC3E89-7A1F-426D-BB05-6FB61D5A9D29}"/>
              </a:ext>
            </a:extLst>
          </p:cNvPr>
          <p:cNvSpPr>
            <a:spLocks noGrp="1"/>
          </p:cNvSpPr>
          <p:nvPr>
            <p:ph type="body" sz="quarter" idx="16"/>
          </p:nvPr>
        </p:nvSpPr>
        <p:spPr>
          <a:xfrm>
            <a:off x="288526" y="1852093"/>
            <a:ext cx="4555947" cy="4327034"/>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3" name="Bildplatzhalter 2">
            <a:extLst>
              <a:ext uri="{FF2B5EF4-FFF2-40B4-BE49-F238E27FC236}">
                <a16:creationId xmlns:a16="http://schemas.microsoft.com/office/drawing/2014/main" id="{B65F8CA2-7F5E-4B6C-B64D-F91E1F284EB6}"/>
              </a:ext>
            </a:extLst>
          </p:cNvPr>
          <p:cNvSpPr>
            <a:spLocks noGrp="1"/>
          </p:cNvSpPr>
          <p:nvPr>
            <p:ph type="pic" sz="quarter" idx="18"/>
          </p:nvPr>
        </p:nvSpPr>
        <p:spPr>
          <a:xfrm>
            <a:off x="5060951" y="1852613"/>
            <a:ext cx="4555947" cy="4325937"/>
          </a:xfrm>
        </p:spPr>
        <p:txBody>
          <a:bodyPr/>
          <a:lstStyle/>
          <a:p>
            <a:endParaRPr lang="de-DE" dirty="0"/>
          </a:p>
        </p:txBody>
      </p:sp>
    </p:spTree>
    <p:extLst>
      <p:ext uri="{BB962C8B-B14F-4D97-AF65-F5344CB8AC3E}">
        <p14:creationId xmlns:p14="http://schemas.microsoft.com/office/powerpoint/2010/main" val="1254315277"/>
      </p:ext>
    </p:extLst>
  </p:cSld>
  <p:clrMapOvr>
    <a:masterClrMapping/>
  </p:clrMapOvr>
  <p:extLst>
    <p:ext uri="{DCECCB84-F9BA-43D5-87BE-67443E8EF086}">
      <p15:sldGuideLst xmlns:p15="http://schemas.microsoft.com/office/powerpoint/2012/main">
        <p15:guide id="1" orient="horz" pos="958">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Bild_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pic>
        <p:nvPicPr>
          <p:cNvPr id="7" name="Grafik 6">
            <a:extLst>
              <a:ext uri="{FF2B5EF4-FFF2-40B4-BE49-F238E27FC236}">
                <a16:creationId xmlns:a16="http://schemas.microsoft.com/office/drawing/2014/main" id="{3488D9EF-D5E4-412E-9C3F-585783D2D030}"/>
              </a:ext>
            </a:extLst>
          </p:cNvPr>
          <p:cNvPicPr>
            <a:picLocks noChangeAspect="1"/>
          </p:cNvPicPr>
          <p:nvPr userDrawn="1"/>
        </p:nvPicPr>
        <p:blipFill>
          <a:blip r:embed="rId2"/>
          <a:stretch>
            <a:fillRect/>
          </a:stretch>
        </p:blipFill>
        <p:spPr>
          <a:xfrm>
            <a:off x="236270" y="6387094"/>
            <a:ext cx="1295467" cy="451254"/>
          </a:xfrm>
          <a:prstGeom prst="rect">
            <a:avLst/>
          </a:prstGeom>
        </p:spPr>
      </p:pic>
      <p:sp>
        <p:nvSpPr>
          <p:cNvPr id="8" name="Textplatzhalter 9">
            <a:extLst>
              <a:ext uri="{FF2B5EF4-FFF2-40B4-BE49-F238E27FC236}">
                <a16:creationId xmlns:a16="http://schemas.microsoft.com/office/drawing/2014/main" id="{A42BC615-C637-4892-96BF-C237AC4D4A2D}"/>
              </a:ext>
            </a:extLst>
          </p:cNvPr>
          <p:cNvSpPr>
            <a:spLocks noGrp="1"/>
          </p:cNvSpPr>
          <p:nvPr>
            <p:ph type="body" sz="quarter" idx="13" hasCustomPrompt="1"/>
          </p:nvPr>
        </p:nvSpPr>
        <p:spPr>
          <a:xfrm>
            <a:off x="288525" y="184376"/>
            <a:ext cx="9329927" cy="896937"/>
          </a:xfrm>
        </p:spPr>
        <p:txBody>
          <a:bodyPr lIns="0" anchor="ctr">
            <a:normAutofit/>
          </a:bodyPr>
          <a:lstStyle>
            <a:lvl1pPr marL="0" indent="0">
              <a:buNone/>
              <a:defRPr sz="2100"/>
            </a:lvl1pPr>
          </a:lstStyle>
          <a:p>
            <a:pPr lvl="0"/>
            <a:r>
              <a:rPr lang="de-DE" dirty="0"/>
              <a:t>Formatvorlagen des Textmasters bearbeiten</a:t>
            </a:r>
          </a:p>
        </p:txBody>
      </p:sp>
      <p:sp>
        <p:nvSpPr>
          <p:cNvPr id="14" name="Textplatzhalter 16">
            <a:extLst>
              <a:ext uri="{FF2B5EF4-FFF2-40B4-BE49-F238E27FC236}">
                <a16:creationId xmlns:a16="http://schemas.microsoft.com/office/drawing/2014/main" id="{B03BF65F-BE03-4163-A8CE-0A9CF958A66E}"/>
              </a:ext>
            </a:extLst>
          </p:cNvPr>
          <p:cNvSpPr>
            <a:spLocks noGrp="1"/>
          </p:cNvSpPr>
          <p:nvPr>
            <p:ph type="body" sz="quarter" idx="15" hasCustomPrompt="1"/>
          </p:nvPr>
        </p:nvSpPr>
        <p:spPr>
          <a:xfrm>
            <a:off x="288526" y="1356677"/>
            <a:ext cx="9328372" cy="315077"/>
          </a:xfrm>
        </p:spPr>
        <p:txBody>
          <a:bodyPr lIns="0" tIns="0" rIns="0" anchor="ctr" anchorCtr="0">
            <a:noAutofit/>
          </a:bodyPr>
          <a:lstStyle>
            <a:lvl1pPr marL="0" indent="0">
              <a:buClr>
                <a:srgbClr val="1792BA"/>
              </a:buClr>
              <a:buFont typeface="+mj-lt"/>
              <a:buNone/>
              <a:defRPr sz="1200" b="1" baseline="0">
                <a:solidFill>
                  <a:srgbClr val="8BAABF"/>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15" name="Textplatzhalter 16">
            <a:extLst>
              <a:ext uri="{FF2B5EF4-FFF2-40B4-BE49-F238E27FC236}">
                <a16:creationId xmlns:a16="http://schemas.microsoft.com/office/drawing/2014/main" id="{22AC3E89-7A1F-426D-BB05-6FB61D5A9D29}"/>
              </a:ext>
            </a:extLst>
          </p:cNvPr>
          <p:cNvSpPr>
            <a:spLocks noGrp="1"/>
          </p:cNvSpPr>
          <p:nvPr>
            <p:ph type="body" sz="quarter" idx="16"/>
          </p:nvPr>
        </p:nvSpPr>
        <p:spPr>
          <a:xfrm>
            <a:off x="5060951" y="1849741"/>
            <a:ext cx="4555947" cy="4327034"/>
          </a:xfrm>
        </p:spPr>
        <p:txBody>
          <a:bodyPr anchor="t">
            <a:normAutofit/>
          </a:bodyPr>
          <a:lstStyle>
            <a:lvl1pPr marL="171450" indent="-171450" algn="just">
              <a:buClr>
                <a:srgbClr val="7492A5"/>
              </a:buClr>
              <a:buFont typeface="Wingdings" panose="05000000000000000000" pitchFamily="2" charset="2"/>
              <a:buChar char="§"/>
              <a:defRPr sz="1100" baseline="0">
                <a:solidFill>
                  <a:schemeClr val="tx1"/>
                </a:solidFill>
              </a:defRPr>
            </a:lvl1pPr>
            <a:lvl2pPr marL="914400" indent="-457200">
              <a:buClr>
                <a:srgbClr val="1792BA"/>
              </a:buClr>
              <a:buFont typeface="+mj-lt"/>
              <a:buAutoNum type="arabicPeriod"/>
              <a:defRPr/>
            </a:lvl2pPr>
            <a:lvl3pPr marL="1371600" indent="-457200">
              <a:buClr>
                <a:srgbClr val="1792BA"/>
              </a:buClr>
              <a:buFont typeface="+mj-lt"/>
              <a:buAutoNum type="arabicPeriod"/>
              <a:defRPr/>
            </a:lvl3pPr>
            <a:lvl4pPr marL="1714500" indent="-342900">
              <a:buClr>
                <a:srgbClr val="1792BA"/>
              </a:buClr>
              <a:buFont typeface="+mj-lt"/>
              <a:buAutoNum type="arabicPeriod"/>
              <a:defRPr/>
            </a:lvl4pPr>
            <a:lvl5pPr marL="2171700" indent="-342900">
              <a:buClr>
                <a:srgbClr val="1792BA"/>
              </a:buClr>
              <a:buFont typeface="+mj-lt"/>
              <a:buAutoNum type="arabicPeriod"/>
              <a:defRPr/>
            </a:lvl5pPr>
          </a:lstStyle>
          <a:p>
            <a:pPr lvl="0"/>
            <a:r>
              <a:rPr lang="de-DE" dirty="0"/>
              <a:t>Formatvorlagen des Textmasters bearbeiten</a:t>
            </a:r>
          </a:p>
        </p:txBody>
      </p:sp>
      <p:sp>
        <p:nvSpPr>
          <p:cNvPr id="3" name="Bildplatzhalter 2">
            <a:extLst>
              <a:ext uri="{FF2B5EF4-FFF2-40B4-BE49-F238E27FC236}">
                <a16:creationId xmlns:a16="http://schemas.microsoft.com/office/drawing/2014/main" id="{B65F8CA2-7F5E-4B6C-B64D-F91E1F284EB6}"/>
              </a:ext>
            </a:extLst>
          </p:cNvPr>
          <p:cNvSpPr>
            <a:spLocks noGrp="1"/>
          </p:cNvSpPr>
          <p:nvPr>
            <p:ph type="pic" sz="quarter" idx="18"/>
          </p:nvPr>
        </p:nvSpPr>
        <p:spPr>
          <a:xfrm>
            <a:off x="288525" y="1850290"/>
            <a:ext cx="4555947" cy="4325937"/>
          </a:xfrm>
        </p:spPr>
        <p:txBody>
          <a:bodyPr/>
          <a:lstStyle/>
          <a:p>
            <a:endParaRPr lang="de-DE" dirty="0"/>
          </a:p>
        </p:txBody>
      </p:sp>
    </p:spTree>
    <p:extLst>
      <p:ext uri="{BB962C8B-B14F-4D97-AF65-F5344CB8AC3E}">
        <p14:creationId xmlns:p14="http://schemas.microsoft.com/office/powerpoint/2010/main" val="3868788245"/>
      </p:ext>
    </p:extLst>
  </p:cSld>
  <p:clrMapOvr>
    <a:masterClrMapping/>
  </p:clrMapOvr>
  <p:extLst>
    <p:ext uri="{DCECCB84-F9BA-43D5-87BE-67443E8EF086}">
      <p15:sldGuideLst xmlns:p15="http://schemas.microsoft.com/office/powerpoint/2012/main">
        <p15:guide id="1" orient="horz" pos="958">
          <p15:clr>
            <a:srgbClr val="FBAE40"/>
          </p15:clr>
        </p15:guide>
        <p15:guide id="2" pos="31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Blank_Header">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BE810C-D1BD-4E2B-9D7B-C86294C40709}" type="slidenum">
              <a:rPr lang="de-DE" smtClean="0"/>
              <a:t>‹#›</a:t>
            </a:fld>
            <a:endParaRPr lang="de-DE"/>
          </a:p>
        </p:txBody>
      </p:sp>
      <p:sp>
        <p:nvSpPr>
          <p:cNvPr id="12" name="Line 3"/>
          <p:cNvSpPr>
            <a:spLocks noChangeShapeType="1"/>
          </p:cNvSpPr>
          <p:nvPr userDrawn="1"/>
        </p:nvSpPr>
        <p:spPr bwMode="auto">
          <a:xfrm>
            <a:off x="0" y="6354763"/>
            <a:ext cx="9906000" cy="0"/>
          </a:xfrm>
          <a:prstGeom prst="line">
            <a:avLst/>
          </a:prstGeom>
          <a:noFill/>
          <a:ln w="3175">
            <a:solidFill>
              <a:srgbClr val="424242">
                <a:alpha val="39999"/>
              </a:srgbClr>
            </a:solidFill>
            <a:round/>
            <a:headEnd/>
            <a:tailEnd/>
          </a:ln>
          <a:extLst>
            <a:ext uri="{909E8E84-426E-40DD-AFC4-6F175D3DCCD1}">
              <a14:hiddenFill xmlns:a14="http://schemas.microsoft.com/office/drawing/2010/main">
                <a:noFill/>
              </a14:hiddenFill>
            </a:ext>
          </a:extLst>
        </p:spPr>
        <p:txBody>
          <a:bodyPr/>
          <a:lstStyle/>
          <a:p>
            <a:endParaRPr lang="en-US" sz="1800" dirty="0"/>
          </a:p>
        </p:txBody>
      </p:sp>
      <p:sp>
        <p:nvSpPr>
          <p:cNvPr id="13" name="Shape 22"/>
          <p:cNvSpPr/>
          <p:nvPr userDrawn="1"/>
        </p:nvSpPr>
        <p:spPr>
          <a:xfrm>
            <a:off x="0" y="1176338"/>
            <a:ext cx="9906000" cy="0"/>
          </a:xfrm>
          <a:prstGeom prst="line">
            <a:avLst/>
          </a:prstGeom>
          <a:ln w="3175">
            <a:solidFill>
              <a:srgbClr val="424242">
                <a:alpha val="39999"/>
              </a:srgbClr>
            </a:solidFill>
            <a:round/>
          </a:ln>
        </p:spPr>
        <p:txBody>
          <a:bodyPr lIns="0" tIns="0" rIns="0" bIns="0"/>
          <a:lstStyle/>
          <a:p>
            <a:pPr algn="ctr" defTabSz="457200" eaLnBrk="1" hangingPunct="1">
              <a:defRPr>
                <a:latin typeface="+mj-lt"/>
                <a:ea typeface="+mj-ea"/>
                <a:cs typeface="+mj-cs"/>
                <a:sym typeface="Helvetica"/>
              </a:defRPr>
            </a:pPr>
            <a:endParaRPr lang="en-US" sz="1800" dirty="0">
              <a:latin typeface="Open Sans Light"/>
              <a:ea typeface="+mj-ea"/>
              <a:cs typeface="+mj-cs"/>
              <a:sym typeface="Helvetica"/>
            </a:endParaRPr>
          </a:p>
        </p:txBody>
      </p:sp>
      <p:sp>
        <p:nvSpPr>
          <p:cNvPr id="9" name="Textplatzhalter 9">
            <a:extLst>
              <a:ext uri="{FF2B5EF4-FFF2-40B4-BE49-F238E27FC236}">
                <a16:creationId xmlns:a16="http://schemas.microsoft.com/office/drawing/2014/main" id="{580D3A8C-93B8-421D-BC72-82406F0DD5C8}"/>
              </a:ext>
            </a:extLst>
          </p:cNvPr>
          <p:cNvSpPr>
            <a:spLocks noGrp="1"/>
          </p:cNvSpPr>
          <p:nvPr>
            <p:ph type="body" sz="quarter" idx="13" hasCustomPrompt="1"/>
          </p:nvPr>
        </p:nvSpPr>
        <p:spPr>
          <a:xfrm>
            <a:off x="288525" y="184376"/>
            <a:ext cx="9329927" cy="896937"/>
          </a:xfrm>
        </p:spPr>
        <p:txBody>
          <a:bodyPr lIns="0" anchor="ctr">
            <a:normAutofit/>
          </a:bodyPr>
          <a:lstStyle>
            <a:lvl1pPr marL="0" indent="0">
              <a:buFont typeface="Arial" panose="020B0604020202020204" pitchFamily="34" charset="0"/>
              <a:buNone/>
              <a:defRPr sz="2100"/>
            </a:lvl1pPr>
          </a:lstStyle>
          <a:p>
            <a:pPr lvl="0"/>
            <a:r>
              <a:rPr lang="de-DE" dirty="0"/>
              <a:t>Formatvorlagen des Textmasters bearbeiten</a:t>
            </a:r>
          </a:p>
        </p:txBody>
      </p:sp>
      <p:pic>
        <p:nvPicPr>
          <p:cNvPr id="7" name="Grafik 6">
            <a:extLst>
              <a:ext uri="{FF2B5EF4-FFF2-40B4-BE49-F238E27FC236}">
                <a16:creationId xmlns:a16="http://schemas.microsoft.com/office/drawing/2014/main" id="{02F1D824-29D7-4FFE-AD18-EB3F5713E999}"/>
              </a:ext>
            </a:extLst>
          </p:cNvPr>
          <p:cNvPicPr>
            <a:picLocks noChangeAspect="1"/>
          </p:cNvPicPr>
          <p:nvPr userDrawn="1"/>
        </p:nvPicPr>
        <p:blipFill>
          <a:blip r:embed="rId2"/>
          <a:stretch>
            <a:fillRect/>
          </a:stretch>
        </p:blipFill>
        <p:spPr>
          <a:xfrm>
            <a:off x="236270" y="6387094"/>
            <a:ext cx="1295467" cy="451254"/>
          </a:xfrm>
          <a:prstGeom prst="rect">
            <a:avLst/>
          </a:prstGeom>
        </p:spPr>
      </p:pic>
    </p:spTree>
    <p:extLst>
      <p:ext uri="{BB962C8B-B14F-4D97-AF65-F5344CB8AC3E}">
        <p14:creationId xmlns:p14="http://schemas.microsoft.com/office/powerpoint/2010/main" val="1767269590"/>
      </p:ext>
    </p:extLst>
  </p:cSld>
  <p:clrMapOvr>
    <a:masterClrMapping/>
  </p:clrMapOvr>
  <p:extLst>
    <p:ext uri="{DCECCB84-F9BA-43D5-87BE-67443E8EF086}">
      <p15:sldGuideLst xmlns:p15="http://schemas.microsoft.com/office/powerpoint/2012/main">
        <p15:guide id="1" orient="horz" pos="958">
          <p15:clr>
            <a:srgbClr val="FBAE40"/>
          </p15:clr>
        </p15:guide>
        <p15:guide id="2" pos="31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C5EDFDD-833C-4F6F-9F9B-6C67D0AEB33E}"/>
              </a:ext>
            </a:extLst>
          </p:cNvPr>
          <p:cNvSpPr>
            <a:spLocks noGrp="1"/>
          </p:cNvSpPr>
          <p:nvPr>
            <p:ph type="sldNum" sz="quarter" idx="12"/>
          </p:nvPr>
        </p:nvSpPr>
        <p:spPr>
          <a:xfrm>
            <a:off x="6996113" y="6356352"/>
            <a:ext cx="2228850" cy="365125"/>
          </a:xfrm>
        </p:spPr>
        <p:txBody>
          <a:bodyPr/>
          <a:lstStyle/>
          <a:p>
            <a:fld id="{06BE810C-D1BD-4E2B-9D7B-C86294C40709}" type="slidenum">
              <a:rPr lang="de-DE" smtClean="0"/>
              <a:t>‹#›</a:t>
            </a:fld>
            <a:endParaRPr lang="de-DE"/>
          </a:p>
        </p:txBody>
      </p:sp>
      <p:pic>
        <p:nvPicPr>
          <p:cNvPr id="3" name="Grafik 2">
            <a:extLst>
              <a:ext uri="{FF2B5EF4-FFF2-40B4-BE49-F238E27FC236}">
                <a16:creationId xmlns:a16="http://schemas.microsoft.com/office/drawing/2014/main" id="{5A993F88-BA0C-46CA-A823-D974938433D7}"/>
              </a:ext>
            </a:extLst>
          </p:cNvPr>
          <p:cNvPicPr>
            <a:picLocks noChangeAspect="1"/>
          </p:cNvPicPr>
          <p:nvPr userDrawn="1"/>
        </p:nvPicPr>
        <p:blipFill>
          <a:blip r:embed="rId2"/>
          <a:stretch>
            <a:fillRect/>
          </a:stretch>
        </p:blipFill>
        <p:spPr>
          <a:xfrm>
            <a:off x="236270" y="6387094"/>
            <a:ext cx="1295467" cy="451254"/>
          </a:xfrm>
          <a:prstGeom prst="rect">
            <a:avLst/>
          </a:prstGeom>
        </p:spPr>
      </p:pic>
    </p:spTree>
    <p:extLst>
      <p:ext uri="{BB962C8B-B14F-4D97-AF65-F5344CB8AC3E}">
        <p14:creationId xmlns:p14="http://schemas.microsoft.com/office/powerpoint/2010/main" val="3734742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D605F66-E53D-430F-A2A2-133A4AE14A15}"/>
              </a:ext>
            </a:extLst>
          </p:cNvPr>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a:extLst>
              <a:ext uri="{FF2B5EF4-FFF2-40B4-BE49-F238E27FC236}">
                <a16:creationId xmlns:a16="http://schemas.microsoft.com/office/drawing/2014/main" id="{5261BA26-E2E0-4D63-B98E-1FF4021FE47A}"/>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3E0A1EB8-AACE-42E5-908A-4FF9EF0E6269}"/>
              </a:ext>
            </a:extLst>
          </p:cNvPr>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8861637-1B8A-4586-B1E3-D70EC62F94C6}" type="datetimeFigureOut">
              <a:rPr lang="de-DE" smtClean="0"/>
              <a:t>25.12.2025</a:t>
            </a:fld>
            <a:endParaRPr lang="de-DE"/>
          </a:p>
        </p:txBody>
      </p:sp>
      <p:sp>
        <p:nvSpPr>
          <p:cNvPr id="5" name="Fußzeilenplatzhalter 4">
            <a:extLst>
              <a:ext uri="{FF2B5EF4-FFF2-40B4-BE49-F238E27FC236}">
                <a16:creationId xmlns:a16="http://schemas.microsoft.com/office/drawing/2014/main" id="{CA9604BB-8F69-4235-887E-7194A4178A17}"/>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DE" dirty="0"/>
          </a:p>
        </p:txBody>
      </p:sp>
      <p:sp>
        <p:nvSpPr>
          <p:cNvPr id="6" name="Foliennummernplatzhalter 5">
            <a:extLst>
              <a:ext uri="{FF2B5EF4-FFF2-40B4-BE49-F238E27FC236}">
                <a16:creationId xmlns:a16="http://schemas.microsoft.com/office/drawing/2014/main" id="{36FD09C7-C024-4E21-8708-3073D5A56892}"/>
              </a:ext>
            </a:extLst>
          </p:cNvPr>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BE810C-D1BD-4E2B-9D7B-C86294C40709}" type="slidenum">
              <a:rPr lang="de-DE" smtClean="0"/>
              <a:pPr/>
              <a:t>‹#›</a:t>
            </a:fld>
            <a:endParaRPr lang="de-DE" dirty="0"/>
          </a:p>
        </p:txBody>
      </p:sp>
    </p:spTree>
    <p:extLst>
      <p:ext uri="{BB962C8B-B14F-4D97-AF65-F5344CB8AC3E}">
        <p14:creationId xmlns:p14="http://schemas.microsoft.com/office/powerpoint/2010/main" val="2722429698"/>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62" r:id="rId3"/>
    <p:sldLayoutId id="2147483673" r:id="rId4"/>
    <p:sldLayoutId id="2147483698" r:id="rId5"/>
    <p:sldLayoutId id="2147483699" r:id="rId6"/>
    <p:sldLayoutId id="2147483696" r:id="rId7"/>
    <p:sldLayoutId id="2147483697" r:id="rId8"/>
    <p:sldLayoutId id="2147483694" r:id="rId9"/>
    <p:sldLayoutId id="2147483679" r:id="rId10"/>
  </p:sldLayoutIdLst>
  <p:hf hdr="0" ftr="0"/>
  <p:txStyles>
    <p:titleStyle>
      <a:lvl1pPr algn="l" defTabSz="685800" rtl="0" eaLnBrk="1" latinLnBrk="0" hangingPunct="1">
        <a:lnSpc>
          <a:spcPct val="90000"/>
        </a:lnSpc>
        <a:spcBef>
          <a:spcPct val="0"/>
        </a:spcBef>
        <a:buNone/>
        <a:defRPr sz="21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emf"/><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Layout" Target="../slideLayouts/slideLayout4.xml"/><Relationship Id="rId4"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9.png"/><Relationship Id="rId5" Type="http://schemas.openxmlformats.org/officeDocument/2006/relationships/slideLayout" Target="../slideLayouts/slideLayout4.xml"/><Relationship Id="rId4" Type="http://schemas.openxmlformats.org/officeDocument/2006/relationships/tags" Target="../tags/tag17.xml"/></Relationships>
</file>

<file path=ppt/slides/_rels/slide3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platzhalter 8" descr="Ein Bild, das Tisch, drinnen, Person, Kaffee enthält.&#10;&#10;Automatisch generierte Beschreibung">
            <a:extLst>
              <a:ext uri="{FF2B5EF4-FFF2-40B4-BE49-F238E27FC236}">
                <a16:creationId xmlns:a16="http://schemas.microsoft.com/office/drawing/2014/main" id="{6B0C6D05-A913-4279-AC82-004BE8745C1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7508" b="17508"/>
          <a:stretch>
            <a:fillRect/>
          </a:stretch>
        </p:blipFill>
        <p:spPr>
          <a:xfrm>
            <a:off x="-4063" y="0"/>
            <a:ext cx="9910063" cy="4210050"/>
          </a:xfrm>
        </p:spPr>
      </p:pic>
      <p:sp>
        <p:nvSpPr>
          <p:cNvPr id="3" name="Textplatzhalter 2"/>
          <p:cNvSpPr>
            <a:spLocks noGrp="1"/>
          </p:cNvSpPr>
          <p:nvPr>
            <p:ph type="body" sz="quarter" idx="14"/>
          </p:nvPr>
        </p:nvSpPr>
        <p:spPr/>
        <p:txBody>
          <a:bodyPr>
            <a:normAutofit/>
          </a:bodyPr>
          <a:lstStyle/>
          <a:p>
            <a:r>
              <a:rPr lang="de-DE" sz="1800" dirty="0"/>
              <a:t>Präsentation</a:t>
            </a:r>
            <a:br>
              <a:rPr lang="de-DE" sz="1800" dirty="0"/>
            </a:br>
            <a:br>
              <a:rPr lang="de-DE" sz="1800" dirty="0"/>
            </a:br>
            <a:r>
              <a:rPr lang="de-DE" sz="1800" dirty="0"/>
              <a:t>Bewertung von KMU</a:t>
            </a:r>
          </a:p>
          <a:p>
            <a:endParaRPr lang="de-DE" sz="1800" dirty="0">
              <a:cs typeface="PT Sans"/>
            </a:endParaRPr>
          </a:p>
          <a:p>
            <a:r>
              <a:rPr lang="de-DE" sz="1200" dirty="0"/>
              <a:t>Beispielhausen, 05.12.2023</a:t>
            </a:r>
            <a:endParaRPr lang="de-DE" dirty="0"/>
          </a:p>
        </p:txBody>
      </p:sp>
    </p:spTree>
    <p:extLst>
      <p:ext uri="{BB962C8B-B14F-4D97-AF65-F5344CB8AC3E}">
        <p14:creationId xmlns:p14="http://schemas.microsoft.com/office/powerpoint/2010/main" val="509096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196EC79-0556-4927-B4AD-9E6231F33870}"/>
              </a:ext>
            </a:extLst>
          </p:cNvPr>
          <p:cNvSpPr>
            <a:spLocks noGrp="1"/>
          </p:cNvSpPr>
          <p:nvPr>
            <p:ph type="title"/>
          </p:nvPr>
        </p:nvSpPr>
        <p:spPr>
          <a:xfrm>
            <a:off x="273051" y="2402239"/>
            <a:ext cx="4281408" cy="2187227"/>
          </a:xfrm>
        </p:spPr>
        <p:txBody>
          <a:bodyPr/>
          <a:lstStyle/>
          <a:p>
            <a:r>
              <a:rPr lang="de-DE" dirty="0"/>
              <a:t>Bewertung KMU</a:t>
            </a:r>
          </a:p>
        </p:txBody>
      </p:sp>
      <p:sp>
        <p:nvSpPr>
          <p:cNvPr id="6" name="Textplatzhalter 5">
            <a:extLst>
              <a:ext uri="{FF2B5EF4-FFF2-40B4-BE49-F238E27FC236}">
                <a16:creationId xmlns:a16="http://schemas.microsoft.com/office/drawing/2014/main" id="{294C685A-117E-4BA4-BE59-C79694B8C9A2}"/>
              </a:ext>
            </a:extLst>
          </p:cNvPr>
          <p:cNvSpPr>
            <a:spLocks noGrp="1"/>
          </p:cNvSpPr>
          <p:nvPr>
            <p:ph type="body" idx="1"/>
          </p:nvPr>
        </p:nvSpPr>
        <p:spPr/>
        <p:txBody>
          <a:bodyPr/>
          <a:lstStyle/>
          <a:p>
            <a:r>
              <a:rPr lang="en-US" dirty="0"/>
              <a:t>Allgemeine </a:t>
            </a:r>
            <a:r>
              <a:rPr lang="en-US" dirty="0" err="1"/>
              <a:t>Bewertungs-grundsätze</a:t>
            </a:r>
            <a:endParaRPr lang="en-US" dirty="0"/>
          </a:p>
        </p:txBody>
      </p:sp>
      <p:sp>
        <p:nvSpPr>
          <p:cNvPr id="2" name="Foliennummernplatzhalter 1">
            <a:extLst>
              <a:ext uri="{FF2B5EF4-FFF2-40B4-BE49-F238E27FC236}">
                <a16:creationId xmlns:a16="http://schemas.microsoft.com/office/drawing/2014/main" id="{EA4072A6-17C6-4975-923E-30BE6D1FBF5D}"/>
              </a:ext>
            </a:extLst>
          </p:cNvPr>
          <p:cNvSpPr>
            <a:spLocks noGrp="1"/>
          </p:cNvSpPr>
          <p:nvPr>
            <p:ph type="sldNum" sz="quarter" idx="12"/>
          </p:nvPr>
        </p:nvSpPr>
        <p:spPr/>
        <p:txBody>
          <a:bodyPr/>
          <a:lstStyle/>
          <a:p>
            <a:fld id="{06BE810C-D1BD-4E2B-9D7B-C86294C40709}" type="slidenum">
              <a:rPr lang="en-US" smtClean="0"/>
              <a:t>2</a:t>
            </a:fld>
            <a:endParaRPr lang="en-US" dirty="0"/>
          </a:p>
        </p:txBody>
      </p:sp>
    </p:spTree>
    <p:extLst>
      <p:ext uri="{BB962C8B-B14F-4D97-AF65-F5344CB8AC3E}">
        <p14:creationId xmlns:p14="http://schemas.microsoft.com/office/powerpoint/2010/main" val="169515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feld 94">
            <a:extLst>
              <a:ext uri="{FF2B5EF4-FFF2-40B4-BE49-F238E27FC236}">
                <a16:creationId xmlns:a16="http://schemas.microsoft.com/office/drawing/2014/main" id="{240D1F75-2CE4-852B-2EB3-6E5C1420D2C3}"/>
              </a:ext>
            </a:extLst>
          </p:cNvPr>
          <p:cNvSpPr txBox="1"/>
          <p:nvPr/>
        </p:nvSpPr>
        <p:spPr>
          <a:xfrm>
            <a:off x="341996" y="4495010"/>
            <a:ext cx="1088036" cy="230832"/>
          </a:xfrm>
          <a:prstGeom prst="rect">
            <a:avLst/>
          </a:prstGeom>
          <a:noFill/>
        </p:spPr>
        <p:txBody>
          <a:bodyPr wrap="square" rtlCol="0">
            <a:spAutoFit/>
          </a:bodyPr>
          <a:lstStyle/>
          <a:p>
            <a:r>
              <a:rPr lang="de-DE" sz="900" b="1" dirty="0"/>
              <a:t>Funktion</a:t>
            </a:r>
          </a:p>
        </p:txBody>
      </p:sp>
      <p:sp>
        <p:nvSpPr>
          <p:cNvPr id="74" name="Textfeld 73">
            <a:extLst>
              <a:ext uri="{FF2B5EF4-FFF2-40B4-BE49-F238E27FC236}">
                <a16:creationId xmlns:a16="http://schemas.microsoft.com/office/drawing/2014/main" id="{59D0304C-51A9-877D-FFFA-3C3E65AFAF66}"/>
              </a:ext>
            </a:extLst>
          </p:cNvPr>
          <p:cNvSpPr txBox="1"/>
          <p:nvPr/>
        </p:nvSpPr>
        <p:spPr>
          <a:xfrm>
            <a:off x="328778" y="2296655"/>
            <a:ext cx="1088036" cy="230832"/>
          </a:xfrm>
          <a:prstGeom prst="rect">
            <a:avLst/>
          </a:prstGeom>
          <a:noFill/>
        </p:spPr>
        <p:txBody>
          <a:bodyPr wrap="square" rtlCol="0">
            <a:spAutoFit/>
          </a:bodyPr>
          <a:lstStyle/>
          <a:p>
            <a:r>
              <a:rPr lang="de-DE" sz="900" b="1" dirty="0"/>
              <a:t>Beispiele</a:t>
            </a:r>
          </a:p>
        </p:txBody>
      </p:sp>
      <p:sp>
        <p:nvSpPr>
          <p:cNvPr id="94" name="Textfeld 93">
            <a:extLst>
              <a:ext uri="{FF2B5EF4-FFF2-40B4-BE49-F238E27FC236}">
                <a16:creationId xmlns:a16="http://schemas.microsoft.com/office/drawing/2014/main" id="{BD921589-6E5F-6A3A-AE63-4B0E1FB68ADE}"/>
              </a:ext>
            </a:extLst>
          </p:cNvPr>
          <p:cNvSpPr txBox="1"/>
          <p:nvPr/>
        </p:nvSpPr>
        <p:spPr>
          <a:xfrm>
            <a:off x="328778" y="5285737"/>
            <a:ext cx="1088036" cy="230832"/>
          </a:xfrm>
          <a:prstGeom prst="rect">
            <a:avLst/>
          </a:prstGeom>
          <a:noFill/>
        </p:spPr>
        <p:txBody>
          <a:bodyPr wrap="square" rtlCol="0">
            <a:spAutoFit/>
          </a:bodyPr>
          <a:lstStyle/>
          <a:p>
            <a:r>
              <a:rPr lang="de-DE" sz="900" b="1" dirty="0" err="1"/>
              <a:t>Wertart</a:t>
            </a:r>
            <a:endParaRPr lang="de-DE" sz="900" b="1" dirty="0"/>
          </a:p>
        </p:txBody>
      </p:sp>
      <p:sp>
        <p:nvSpPr>
          <p:cNvPr id="2" name="Foliennummernplatzhalter 1"/>
          <p:cNvSpPr>
            <a:spLocks noGrp="1"/>
          </p:cNvSpPr>
          <p:nvPr>
            <p:ph type="sldNum" sz="quarter" idx="12"/>
          </p:nvPr>
        </p:nvSpPr>
        <p:spPr/>
        <p:txBody>
          <a:bodyPr/>
          <a:lstStyle/>
          <a:p>
            <a:fld id="{06BE810C-D1BD-4E2B-9D7B-C86294C40709}" type="slidenum">
              <a:rPr lang="en-US" smtClean="0"/>
              <a:t>3</a:t>
            </a:fld>
            <a:endParaRPr lang="en-US" dirty="0"/>
          </a:p>
        </p:txBody>
      </p:sp>
      <p:sp>
        <p:nvSpPr>
          <p:cNvPr id="4" name="Textplatzhalter 3"/>
          <p:cNvSpPr>
            <a:spLocks noGrp="1"/>
          </p:cNvSpPr>
          <p:nvPr>
            <p:ph type="body" sz="quarter" idx="4294967295"/>
          </p:nvPr>
        </p:nvSpPr>
        <p:spPr>
          <a:xfrm>
            <a:off x="288526" y="184376"/>
            <a:ext cx="9329926" cy="896937"/>
          </a:xfrm>
        </p:spPr>
        <p:txBody>
          <a:bodyPr vert="horz" lIns="0" tIns="45720" rIns="91440" bIns="45720" rtlCol="0" anchor="ctr">
            <a:normAutofit/>
          </a:bodyPr>
          <a:lstStyle/>
          <a:p>
            <a:pPr marL="0" indent="0">
              <a:buNone/>
            </a:pPr>
            <a:r>
              <a:rPr lang="en-US" sz="2100" dirty="0"/>
              <a:t>ANLÄSSE UND FUNKTION EINES BEWERTUNGSGUTACHTENS / DES GUTACHTERS</a:t>
            </a:r>
          </a:p>
        </p:txBody>
      </p:sp>
      <p:sp>
        <p:nvSpPr>
          <p:cNvPr id="6" name="Textplatzhalter 2">
            <a:extLst>
              <a:ext uri="{FF2B5EF4-FFF2-40B4-BE49-F238E27FC236}">
                <a16:creationId xmlns:a16="http://schemas.microsoft.com/office/drawing/2014/main" id="{DC9AC511-63C9-4294-A5E5-57231AD1E1DC}"/>
              </a:ext>
            </a:extLst>
          </p:cNvPr>
          <p:cNvSpPr txBox="1">
            <a:spLocks/>
          </p:cNvSpPr>
          <p:nvPr/>
        </p:nvSpPr>
        <p:spPr>
          <a:xfrm>
            <a:off x="6171005" y="1852159"/>
            <a:ext cx="3336480" cy="450419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In Theorie, Praxis und Rechtsprechung besteht heute Einigkeit, dass es weder einen „objektiven, allgemeingültigen“ noch den „schlechthin richtigen“ Unternehmenswert gibt</a:t>
            </a:r>
          </a:p>
          <a:p>
            <a:pPr marL="171450" indent="-171450" algn="just">
              <a:spcBef>
                <a:spcPts val="600"/>
              </a:spcBef>
              <a:buClr>
                <a:srgbClr val="002060"/>
              </a:buClr>
              <a:buFont typeface="Arial" panose="020B0604020202020204" pitchFamily="34" charset="0"/>
              <a:buChar char="•"/>
            </a:pPr>
            <a:r>
              <a:rPr lang="de-DE" sz="1100" dirty="0"/>
              <a:t>Vielmehr wird die Abhängigkeit vom jeweiligen Bewertungszweck und der daraus folgenden Funktion des Gutachters herausgestellt</a:t>
            </a:r>
          </a:p>
          <a:p>
            <a:pPr marL="171450" indent="-171450" algn="just">
              <a:spcBef>
                <a:spcPts val="600"/>
              </a:spcBef>
              <a:buClr>
                <a:srgbClr val="002060"/>
              </a:buClr>
              <a:buFont typeface="Arial" panose="020B0604020202020204" pitchFamily="34" charset="0"/>
              <a:buChar char="•"/>
            </a:pPr>
            <a:r>
              <a:rPr lang="de-DE" sz="1100" dirty="0"/>
              <a:t>Ob ein subjektiver oder objektivierter Wert zu ermitteln ist, wird durch den Zweck determiniert, zu dem die Bewertung erfolgt. Sie ist abhängig von der Funktion, die der Bewerter einnimmt</a:t>
            </a:r>
          </a:p>
          <a:p>
            <a:pPr marL="171450" indent="-171450" algn="just">
              <a:spcBef>
                <a:spcPts val="600"/>
              </a:spcBef>
              <a:buClr>
                <a:srgbClr val="002060"/>
              </a:buClr>
              <a:buFont typeface="Arial" panose="020B0604020202020204" pitchFamily="34" charset="0"/>
              <a:buChar char="•"/>
            </a:pPr>
            <a:r>
              <a:rPr lang="de-DE" sz="1100" dirty="0"/>
              <a:t>Bei Bewertungsanlässen, bei denen sich die Parteien „auf Augenhöhe“ begegnen, wie bei einer Transaktion, bei denen sich zwei verständige Parteien / Kaufleute einigen müssen. Bei diesen Anlässen wird meist ein subjektiver Wert zu ermitteln sein</a:t>
            </a:r>
          </a:p>
          <a:p>
            <a:pPr marL="171450" indent="-171450" algn="just">
              <a:spcBef>
                <a:spcPts val="600"/>
              </a:spcBef>
              <a:buClr>
                <a:srgbClr val="002060"/>
              </a:buClr>
              <a:buFont typeface="Arial" panose="020B0604020202020204" pitchFamily="34" charset="0"/>
              <a:buChar char="•"/>
            </a:pPr>
            <a:r>
              <a:rPr lang="de-DE" sz="1100" dirty="0"/>
              <a:t>Bei rechtlich geprägten Bewertungsanlässen liegen meist Informationsasymmetrien vor. Es wird dabei regelmäßig ein objektivierter Wert zu ermitteln sein. Die dafür notwendigen Typisierungen und </a:t>
            </a:r>
            <a:r>
              <a:rPr lang="de-DE" sz="1100" dirty="0" err="1"/>
              <a:t>Objektivierungen</a:t>
            </a:r>
            <a:r>
              <a:rPr lang="de-DE" sz="1100" dirty="0"/>
              <a:t> geben dabei Leitplanken für die Bewertung vor, die den Spielraum des Bewerters bei seinen Annahmen eingrenzen. Dadurch soll eine möglichst objektive Bewertung erreicht werden und die Interessen beider Parteien gewahrt werden</a:t>
            </a:r>
          </a:p>
        </p:txBody>
      </p:sp>
      <p:sp>
        <p:nvSpPr>
          <p:cNvPr id="7" name="Rechteck 6">
            <a:extLst>
              <a:ext uri="{FF2B5EF4-FFF2-40B4-BE49-F238E27FC236}">
                <a16:creationId xmlns:a16="http://schemas.microsoft.com/office/drawing/2014/main" id="{FE62B66A-2DC1-4408-92B2-A2B7C8DD40E5}"/>
              </a:ext>
            </a:extLst>
          </p:cNvPr>
          <p:cNvSpPr/>
          <p:nvPr/>
        </p:nvSpPr>
        <p:spPr>
          <a:xfrm>
            <a:off x="287548" y="1398709"/>
            <a:ext cx="4628940"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Funktionsabhängigkeit des Unternehmenswertes</a:t>
            </a:r>
          </a:p>
        </p:txBody>
      </p:sp>
      <p:sp>
        <p:nvSpPr>
          <p:cNvPr id="12" name="Rechteck 11">
            <a:extLst>
              <a:ext uri="{FF2B5EF4-FFF2-40B4-BE49-F238E27FC236}">
                <a16:creationId xmlns:a16="http://schemas.microsoft.com/office/drawing/2014/main" id="{769CC82E-3EAD-30EA-1B9B-61C154256889}"/>
              </a:ext>
            </a:extLst>
          </p:cNvPr>
          <p:cNvSpPr/>
          <p:nvPr/>
        </p:nvSpPr>
        <p:spPr>
          <a:xfrm>
            <a:off x="328780" y="1951090"/>
            <a:ext cx="5242811" cy="31128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Bewertungsanlass</a:t>
            </a:r>
          </a:p>
        </p:txBody>
      </p:sp>
      <p:sp>
        <p:nvSpPr>
          <p:cNvPr id="56" name="Rechteck 55">
            <a:extLst>
              <a:ext uri="{FF2B5EF4-FFF2-40B4-BE49-F238E27FC236}">
                <a16:creationId xmlns:a16="http://schemas.microsoft.com/office/drawing/2014/main" id="{A12182E0-5D78-B48A-D304-77CB09CB6E72}"/>
              </a:ext>
            </a:extLst>
          </p:cNvPr>
          <p:cNvSpPr/>
          <p:nvPr/>
        </p:nvSpPr>
        <p:spPr>
          <a:xfrm>
            <a:off x="328778" y="2527487"/>
            <a:ext cx="1562580" cy="1152821"/>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de-DE" sz="1200" dirty="0">
                <a:solidFill>
                  <a:schemeClr val="tx1"/>
                </a:solidFill>
              </a:rPr>
              <a:t>Gesellschafts-recht</a:t>
            </a:r>
          </a:p>
          <a:p>
            <a:pPr marL="171450" indent="-171450">
              <a:buFont typeface="Arial" panose="020B0604020202020204" pitchFamily="34" charset="0"/>
              <a:buChar char="•"/>
            </a:pPr>
            <a:r>
              <a:rPr lang="de-DE" sz="1200" dirty="0">
                <a:solidFill>
                  <a:schemeClr val="tx1"/>
                </a:solidFill>
              </a:rPr>
              <a:t>Familien- u.  Erbrecht</a:t>
            </a:r>
          </a:p>
          <a:p>
            <a:pPr marL="171450" indent="-171450">
              <a:buFont typeface="Arial" panose="020B0604020202020204" pitchFamily="34" charset="0"/>
              <a:buChar char="•"/>
            </a:pPr>
            <a:r>
              <a:rPr lang="de-DE" sz="1200" dirty="0">
                <a:solidFill>
                  <a:schemeClr val="tx1"/>
                </a:solidFill>
              </a:rPr>
              <a:t>Steuerrecht</a:t>
            </a:r>
          </a:p>
          <a:p>
            <a:pPr marL="171450" indent="-171450">
              <a:buFont typeface="Arial" panose="020B0604020202020204" pitchFamily="34" charset="0"/>
              <a:buChar char="•"/>
            </a:pPr>
            <a:r>
              <a:rPr lang="de-DE" sz="1200" dirty="0">
                <a:solidFill>
                  <a:schemeClr val="tx1"/>
                </a:solidFill>
              </a:rPr>
              <a:t>…</a:t>
            </a:r>
          </a:p>
          <a:p>
            <a:pPr marL="171450" indent="-171450">
              <a:buFont typeface="Arial" panose="020B0604020202020204" pitchFamily="34" charset="0"/>
              <a:buChar char="•"/>
            </a:pPr>
            <a:endParaRPr lang="de-DE" sz="1000" dirty="0">
              <a:solidFill>
                <a:schemeClr val="tx1"/>
              </a:solidFill>
            </a:endParaRPr>
          </a:p>
        </p:txBody>
      </p:sp>
      <p:sp>
        <p:nvSpPr>
          <p:cNvPr id="71" name="Rechteck 70">
            <a:extLst>
              <a:ext uri="{FF2B5EF4-FFF2-40B4-BE49-F238E27FC236}">
                <a16:creationId xmlns:a16="http://schemas.microsoft.com/office/drawing/2014/main" id="{E78A2C22-0010-C858-AF49-8E4A551F8F81}"/>
              </a:ext>
            </a:extLst>
          </p:cNvPr>
          <p:cNvSpPr/>
          <p:nvPr/>
        </p:nvSpPr>
        <p:spPr>
          <a:xfrm>
            <a:off x="4009010" y="2533293"/>
            <a:ext cx="1562580" cy="1152821"/>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de-DE" sz="1200" dirty="0">
                <a:solidFill>
                  <a:schemeClr val="tx1"/>
                </a:solidFill>
              </a:rPr>
              <a:t>Verkauf / Kauf</a:t>
            </a:r>
          </a:p>
          <a:p>
            <a:endParaRPr lang="de-DE" sz="1200" dirty="0">
              <a:solidFill>
                <a:schemeClr val="tx1"/>
              </a:solidFill>
            </a:endParaRPr>
          </a:p>
          <a:p>
            <a:pPr marL="171450" indent="-171450">
              <a:buFont typeface="Arial" panose="020B0604020202020204" pitchFamily="34" charset="0"/>
              <a:buChar char="•"/>
            </a:pPr>
            <a:endParaRPr lang="de-DE" sz="1200" dirty="0">
              <a:solidFill>
                <a:schemeClr val="tx1"/>
              </a:solidFill>
            </a:endParaRPr>
          </a:p>
          <a:p>
            <a:pPr marL="171450" indent="-171450">
              <a:buFont typeface="Arial" panose="020B0604020202020204" pitchFamily="34" charset="0"/>
              <a:buChar char="•"/>
            </a:pPr>
            <a:endParaRPr lang="de-DE" sz="1200" dirty="0">
              <a:solidFill>
                <a:schemeClr val="tx1"/>
              </a:solidFill>
            </a:endParaRPr>
          </a:p>
          <a:p>
            <a:pPr marL="171450" indent="-171450">
              <a:buFont typeface="Arial" panose="020B0604020202020204" pitchFamily="34" charset="0"/>
              <a:buChar char="•"/>
            </a:pPr>
            <a:endParaRPr lang="de-DE" sz="1000" dirty="0">
              <a:solidFill>
                <a:schemeClr val="tx1"/>
              </a:solidFill>
            </a:endParaRPr>
          </a:p>
        </p:txBody>
      </p:sp>
      <p:sp>
        <p:nvSpPr>
          <p:cNvPr id="73" name="Rechteck 72">
            <a:extLst>
              <a:ext uri="{FF2B5EF4-FFF2-40B4-BE49-F238E27FC236}">
                <a16:creationId xmlns:a16="http://schemas.microsoft.com/office/drawing/2014/main" id="{3441EA28-CB3E-410B-8D4C-B08F87169CD5}"/>
              </a:ext>
            </a:extLst>
          </p:cNvPr>
          <p:cNvSpPr/>
          <p:nvPr/>
        </p:nvSpPr>
        <p:spPr>
          <a:xfrm>
            <a:off x="2168894" y="2527487"/>
            <a:ext cx="1562580" cy="1152821"/>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de-DE" sz="1200" dirty="0">
                <a:solidFill>
                  <a:schemeClr val="tx1"/>
                </a:solidFill>
              </a:rPr>
              <a:t>Vorgerichtliche Streitbeilegung der Anlässe links</a:t>
            </a:r>
          </a:p>
          <a:p>
            <a:pPr marL="171450" indent="-171450">
              <a:buFont typeface="Arial" panose="020B0604020202020204" pitchFamily="34" charset="0"/>
              <a:buChar char="•"/>
            </a:pPr>
            <a:endParaRPr lang="de-DE" sz="1200" dirty="0">
              <a:solidFill>
                <a:schemeClr val="tx1"/>
              </a:solidFill>
            </a:endParaRPr>
          </a:p>
          <a:p>
            <a:pPr marL="171450" indent="-171450">
              <a:buFont typeface="Arial" panose="020B0604020202020204" pitchFamily="34" charset="0"/>
              <a:buChar char="•"/>
            </a:pPr>
            <a:endParaRPr lang="de-DE" sz="1200" dirty="0">
              <a:solidFill>
                <a:schemeClr val="tx1"/>
              </a:solidFill>
            </a:endParaRPr>
          </a:p>
          <a:p>
            <a:pPr marL="171450" indent="-171450">
              <a:buFont typeface="Arial" panose="020B0604020202020204" pitchFamily="34" charset="0"/>
              <a:buChar char="•"/>
            </a:pPr>
            <a:endParaRPr lang="de-DE" sz="1000" dirty="0">
              <a:solidFill>
                <a:schemeClr val="tx1"/>
              </a:solidFill>
            </a:endParaRPr>
          </a:p>
        </p:txBody>
      </p:sp>
      <p:sp>
        <p:nvSpPr>
          <p:cNvPr id="82" name="Rechteck 81">
            <a:extLst>
              <a:ext uri="{FF2B5EF4-FFF2-40B4-BE49-F238E27FC236}">
                <a16:creationId xmlns:a16="http://schemas.microsoft.com/office/drawing/2014/main" id="{738D937D-412A-0F98-20D1-5E788D1FABF4}"/>
              </a:ext>
            </a:extLst>
          </p:cNvPr>
          <p:cNvSpPr/>
          <p:nvPr/>
        </p:nvSpPr>
        <p:spPr>
          <a:xfrm>
            <a:off x="328779" y="4790691"/>
            <a:ext cx="1562580"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Neutraler Gutachter</a:t>
            </a:r>
          </a:p>
        </p:txBody>
      </p:sp>
      <p:sp>
        <p:nvSpPr>
          <p:cNvPr id="83" name="Rechteck 82">
            <a:extLst>
              <a:ext uri="{FF2B5EF4-FFF2-40B4-BE49-F238E27FC236}">
                <a16:creationId xmlns:a16="http://schemas.microsoft.com/office/drawing/2014/main" id="{444093F9-D35E-CCAD-EDA0-F8520D67C707}"/>
              </a:ext>
            </a:extLst>
          </p:cNvPr>
          <p:cNvSpPr/>
          <p:nvPr/>
        </p:nvSpPr>
        <p:spPr>
          <a:xfrm>
            <a:off x="328779" y="5544790"/>
            <a:ext cx="1562580" cy="4683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Objektivierter Wert</a:t>
            </a:r>
          </a:p>
        </p:txBody>
      </p:sp>
      <p:sp>
        <p:nvSpPr>
          <p:cNvPr id="84" name="Rechteck 83">
            <a:extLst>
              <a:ext uri="{FF2B5EF4-FFF2-40B4-BE49-F238E27FC236}">
                <a16:creationId xmlns:a16="http://schemas.microsoft.com/office/drawing/2014/main" id="{AACE98DC-8837-8D4F-19BE-BF18ECF618FB}"/>
              </a:ext>
            </a:extLst>
          </p:cNvPr>
          <p:cNvSpPr/>
          <p:nvPr/>
        </p:nvSpPr>
        <p:spPr>
          <a:xfrm>
            <a:off x="2168895" y="4790691"/>
            <a:ext cx="1562580"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Neutraler Gutachter / Schiedsgutachter</a:t>
            </a:r>
          </a:p>
        </p:txBody>
      </p:sp>
      <p:sp>
        <p:nvSpPr>
          <p:cNvPr id="85" name="Rechteck 84">
            <a:extLst>
              <a:ext uri="{FF2B5EF4-FFF2-40B4-BE49-F238E27FC236}">
                <a16:creationId xmlns:a16="http://schemas.microsoft.com/office/drawing/2014/main" id="{46D0F104-DD65-FA76-A99A-62E55961BD0D}"/>
              </a:ext>
            </a:extLst>
          </p:cNvPr>
          <p:cNvSpPr/>
          <p:nvPr/>
        </p:nvSpPr>
        <p:spPr>
          <a:xfrm>
            <a:off x="2168895" y="5544790"/>
            <a:ext cx="1562580" cy="4683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Objektivierter / Subjektiver Wert</a:t>
            </a:r>
          </a:p>
        </p:txBody>
      </p:sp>
      <p:sp>
        <p:nvSpPr>
          <p:cNvPr id="86" name="Rechteck 85">
            <a:extLst>
              <a:ext uri="{FF2B5EF4-FFF2-40B4-BE49-F238E27FC236}">
                <a16:creationId xmlns:a16="http://schemas.microsoft.com/office/drawing/2014/main" id="{EC9E593F-C9FE-55A1-9943-48C007A22D9F}"/>
              </a:ext>
            </a:extLst>
          </p:cNvPr>
          <p:cNvSpPr/>
          <p:nvPr/>
        </p:nvSpPr>
        <p:spPr>
          <a:xfrm>
            <a:off x="4009011" y="4790691"/>
            <a:ext cx="1562580"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Berater</a:t>
            </a:r>
          </a:p>
        </p:txBody>
      </p:sp>
      <p:sp>
        <p:nvSpPr>
          <p:cNvPr id="87" name="Rechteck 86">
            <a:extLst>
              <a:ext uri="{FF2B5EF4-FFF2-40B4-BE49-F238E27FC236}">
                <a16:creationId xmlns:a16="http://schemas.microsoft.com/office/drawing/2014/main" id="{F61B4DD1-6D0C-60AB-0E16-FD658BB10D2B}"/>
              </a:ext>
            </a:extLst>
          </p:cNvPr>
          <p:cNvSpPr/>
          <p:nvPr/>
        </p:nvSpPr>
        <p:spPr>
          <a:xfrm>
            <a:off x="4009011" y="5544790"/>
            <a:ext cx="1562580" cy="4683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Subjektiver Wert</a:t>
            </a:r>
          </a:p>
        </p:txBody>
      </p:sp>
      <p:cxnSp>
        <p:nvCxnSpPr>
          <p:cNvPr id="88" name="Gerader Verbinder 87">
            <a:extLst>
              <a:ext uri="{FF2B5EF4-FFF2-40B4-BE49-F238E27FC236}">
                <a16:creationId xmlns:a16="http://schemas.microsoft.com/office/drawing/2014/main" id="{71D29F2A-AA46-8227-548E-7A6A217F0AB8}"/>
              </a:ext>
            </a:extLst>
          </p:cNvPr>
          <p:cNvCxnSpPr>
            <a:cxnSpLocks/>
            <a:endCxn id="82" idx="0"/>
          </p:cNvCxnSpPr>
          <p:nvPr/>
        </p:nvCxnSpPr>
        <p:spPr>
          <a:xfrm>
            <a:off x="1110069" y="4482932"/>
            <a:ext cx="0" cy="307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Gerader Verbinder 88">
            <a:extLst>
              <a:ext uri="{FF2B5EF4-FFF2-40B4-BE49-F238E27FC236}">
                <a16:creationId xmlns:a16="http://schemas.microsoft.com/office/drawing/2014/main" id="{826907A7-0A59-73CD-9AB6-D9C11A062206}"/>
              </a:ext>
            </a:extLst>
          </p:cNvPr>
          <p:cNvCxnSpPr>
            <a:cxnSpLocks/>
            <a:stCxn id="82" idx="2"/>
            <a:endCxn id="83" idx="0"/>
          </p:cNvCxnSpPr>
          <p:nvPr/>
        </p:nvCxnSpPr>
        <p:spPr>
          <a:xfrm>
            <a:off x="1110069" y="5259004"/>
            <a:ext cx="0" cy="285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Gerader Verbinder 89">
            <a:extLst>
              <a:ext uri="{FF2B5EF4-FFF2-40B4-BE49-F238E27FC236}">
                <a16:creationId xmlns:a16="http://schemas.microsoft.com/office/drawing/2014/main" id="{E595AFB5-DD46-10FF-37EA-E795BC409B82}"/>
              </a:ext>
            </a:extLst>
          </p:cNvPr>
          <p:cNvCxnSpPr>
            <a:cxnSpLocks/>
            <a:endCxn id="84" idx="0"/>
          </p:cNvCxnSpPr>
          <p:nvPr/>
        </p:nvCxnSpPr>
        <p:spPr>
          <a:xfrm flipH="1">
            <a:off x="2950185" y="4482932"/>
            <a:ext cx="1" cy="307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Gerader Verbinder 90">
            <a:extLst>
              <a:ext uri="{FF2B5EF4-FFF2-40B4-BE49-F238E27FC236}">
                <a16:creationId xmlns:a16="http://schemas.microsoft.com/office/drawing/2014/main" id="{B1DF7E20-1DC8-5334-00B6-41811E85B034}"/>
              </a:ext>
            </a:extLst>
          </p:cNvPr>
          <p:cNvCxnSpPr>
            <a:cxnSpLocks/>
            <a:stCxn id="84" idx="2"/>
            <a:endCxn id="85" idx="0"/>
          </p:cNvCxnSpPr>
          <p:nvPr/>
        </p:nvCxnSpPr>
        <p:spPr>
          <a:xfrm>
            <a:off x="2950185" y="5259004"/>
            <a:ext cx="0" cy="285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Gerader Verbinder 91">
            <a:extLst>
              <a:ext uri="{FF2B5EF4-FFF2-40B4-BE49-F238E27FC236}">
                <a16:creationId xmlns:a16="http://schemas.microsoft.com/office/drawing/2014/main" id="{42BD79AE-1303-4050-F38C-8D0791E0BF3E}"/>
              </a:ext>
            </a:extLst>
          </p:cNvPr>
          <p:cNvCxnSpPr>
            <a:cxnSpLocks/>
            <a:endCxn id="86" idx="0"/>
          </p:cNvCxnSpPr>
          <p:nvPr/>
        </p:nvCxnSpPr>
        <p:spPr>
          <a:xfrm>
            <a:off x="4790301" y="4482932"/>
            <a:ext cx="0" cy="307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Gerader Verbinder 92">
            <a:extLst>
              <a:ext uri="{FF2B5EF4-FFF2-40B4-BE49-F238E27FC236}">
                <a16:creationId xmlns:a16="http://schemas.microsoft.com/office/drawing/2014/main" id="{A900643C-9AA5-F2FF-0FF1-64CA69D6B7F9}"/>
              </a:ext>
            </a:extLst>
          </p:cNvPr>
          <p:cNvCxnSpPr>
            <a:cxnSpLocks/>
            <a:stCxn id="86" idx="2"/>
            <a:endCxn id="87" idx="0"/>
          </p:cNvCxnSpPr>
          <p:nvPr/>
        </p:nvCxnSpPr>
        <p:spPr>
          <a:xfrm>
            <a:off x="4790301" y="5259004"/>
            <a:ext cx="0" cy="285786"/>
          </a:xfrm>
          <a:prstGeom prst="line">
            <a:avLst/>
          </a:prstGeom>
        </p:spPr>
        <p:style>
          <a:lnRef idx="1">
            <a:schemeClr val="accent1"/>
          </a:lnRef>
          <a:fillRef idx="0">
            <a:schemeClr val="accent1"/>
          </a:fillRef>
          <a:effectRef idx="0">
            <a:schemeClr val="accent1"/>
          </a:effectRef>
          <a:fontRef idx="minor">
            <a:schemeClr val="tx1"/>
          </a:fontRef>
        </p:style>
      </p:cxnSp>
      <p:sp>
        <p:nvSpPr>
          <p:cNvPr id="99" name="Rechteck 98">
            <a:extLst>
              <a:ext uri="{FF2B5EF4-FFF2-40B4-BE49-F238E27FC236}">
                <a16:creationId xmlns:a16="http://schemas.microsoft.com/office/drawing/2014/main" id="{629480C0-0618-8CC6-7B58-383D2A040E37}"/>
              </a:ext>
            </a:extLst>
          </p:cNvPr>
          <p:cNvSpPr/>
          <p:nvPr/>
        </p:nvSpPr>
        <p:spPr>
          <a:xfrm>
            <a:off x="328778" y="3991171"/>
            <a:ext cx="1562581" cy="46831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Bestellung durch Gericht</a:t>
            </a:r>
          </a:p>
        </p:txBody>
      </p:sp>
      <p:sp>
        <p:nvSpPr>
          <p:cNvPr id="100" name="Rechteck 99">
            <a:extLst>
              <a:ext uri="{FF2B5EF4-FFF2-40B4-BE49-F238E27FC236}">
                <a16:creationId xmlns:a16="http://schemas.microsoft.com/office/drawing/2014/main" id="{80102FAE-A1E2-12C1-E5BC-DCFC86E38BC3}"/>
              </a:ext>
            </a:extLst>
          </p:cNvPr>
          <p:cNvSpPr/>
          <p:nvPr/>
        </p:nvSpPr>
        <p:spPr>
          <a:xfrm>
            <a:off x="2168895" y="3991171"/>
            <a:ext cx="1562581" cy="46831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Partei(en)-Beauftragung</a:t>
            </a:r>
          </a:p>
        </p:txBody>
      </p:sp>
      <p:sp>
        <p:nvSpPr>
          <p:cNvPr id="101" name="Rechteck 100">
            <a:extLst>
              <a:ext uri="{FF2B5EF4-FFF2-40B4-BE49-F238E27FC236}">
                <a16:creationId xmlns:a16="http://schemas.microsoft.com/office/drawing/2014/main" id="{14AA8DBC-32A2-0035-ED98-AB1A8D993418}"/>
              </a:ext>
            </a:extLst>
          </p:cNvPr>
          <p:cNvSpPr/>
          <p:nvPr/>
        </p:nvSpPr>
        <p:spPr>
          <a:xfrm>
            <a:off x="4009010" y="3991171"/>
            <a:ext cx="1562581" cy="46831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Partei(en)-Beauftragung</a:t>
            </a:r>
          </a:p>
        </p:txBody>
      </p:sp>
      <p:sp>
        <p:nvSpPr>
          <p:cNvPr id="102" name="Textfeld 101">
            <a:extLst>
              <a:ext uri="{FF2B5EF4-FFF2-40B4-BE49-F238E27FC236}">
                <a16:creationId xmlns:a16="http://schemas.microsoft.com/office/drawing/2014/main" id="{A2B37886-6638-0BDC-1F0E-5F363538D23E}"/>
              </a:ext>
            </a:extLst>
          </p:cNvPr>
          <p:cNvSpPr txBox="1"/>
          <p:nvPr/>
        </p:nvSpPr>
        <p:spPr>
          <a:xfrm>
            <a:off x="341996" y="3734049"/>
            <a:ext cx="1088036" cy="230832"/>
          </a:xfrm>
          <a:prstGeom prst="rect">
            <a:avLst/>
          </a:prstGeom>
          <a:noFill/>
        </p:spPr>
        <p:txBody>
          <a:bodyPr wrap="square" rtlCol="0">
            <a:spAutoFit/>
          </a:bodyPr>
          <a:lstStyle/>
          <a:p>
            <a:r>
              <a:rPr lang="de-DE" sz="900" b="1" dirty="0"/>
              <a:t>Auftrag</a:t>
            </a:r>
          </a:p>
        </p:txBody>
      </p:sp>
      <p:cxnSp>
        <p:nvCxnSpPr>
          <p:cNvPr id="106" name="Gerader Verbinder 105">
            <a:extLst>
              <a:ext uri="{FF2B5EF4-FFF2-40B4-BE49-F238E27FC236}">
                <a16:creationId xmlns:a16="http://schemas.microsoft.com/office/drawing/2014/main" id="{AB372CF2-F276-A1BB-6960-16F7D3684148}"/>
              </a:ext>
            </a:extLst>
          </p:cNvPr>
          <p:cNvCxnSpPr>
            <a:cxnSpLocks/>
            <a:stCxn id="56" idx="2"/>
          </p:cNvCxnSpPr>
          <p:nvPr/>
        </p:nvCxnSpPr>
        <p:spPr>
          <a:xfrm>
            <a:off x="1110068" y="3680308"/>
            <a:ext cx="0" cy="310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Gerader Verbinder 106">
            <a:extLst>
              <a:ext uri="{FF2B5EF4-FFF2-40B4-BE49-F238E27FC236}">
                <a16:creationId xmlns:a16="http://schemas.microsoft.com/office/drawing/2014/main" id="{E402E9FE-9771-1358-9433-FECD278D8FD8}"/>
              </a:ext>
            </a:extLst>
          </p:cNvPr>
          <p:cNvCxnSpPr>
            <a:cxnSpLocks/>
            <a:stCxn id="73" idx="2"/>
            <a:endCxn id="100" idx="0"/>
          </p:cNvCxnSpPr>
          <p:nvPr/>
        </p:nvCxnSpPr>
        <p:spPr>
          <a:xfrm>
            <a:off x="2950184" y="3680308"/>
            <a:ext cx="2" cy="310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Gerader Verbinder 107">
            <a:extLst>
              <a:ext uri="{FF2B5EF4-FFF2-40B4-BE49-F238E27FC236}">
                <a16:creationId xmlns:a16="http://schemas.microsoft.com/office/drawing/2014/main" id="{1ABC459A-64A7-41C3-6367-64DA02EC1282}"/>
              </a:ext>
            </a:extLst>
          </p:cNvPr>
          <p:cNvCxnSpPr>
            <a:cxnSpLocks/>
            <a:stCxn id="71" idx="2"/>
            <a:endCxn id="101" idx="0"/>
          </p:cNvCxnSpPr>
          <p:nvPr/>
        </p:nvCxnSpPr>
        <p:spPr>
          <a:xfrm>
            <a:off x="4790300" y="3686114"/>
            <a:ext cx="1" cy="30505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E7B64B4-21E2-4FC7-18BC-513A8CF46982}"/>
              </a:ext>
            </a:extLst>
          </p:cNvPr>
          <p:cNvSpPr/>
          <p:nvPr/>
        </p:nvSpPr>
        <p:spPr>
          <a:xfrm>
            <a:off x="175846" y="4695095"/>
            <a:ext cx="5533292" cy="1430214"/>
          </a:xfrm>
          <a:prstGeom prst="roundRect">
            <a:avLst>
              <a:gd name="adj" fmla="val 862"/>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en-US" sz="1200" b="1" dirty="0">
              <a:solidFill>
                <a:srgbClr val="8BAABF"/>
              </a:solidFill>
            </a:endParaRPr>
          </a:p>
        </p:txBody>
      </p:sp>
      <p:cxnSp>
        <p:nvCxnSpPr>
          <p:cNvPr id="15" name="Gerader Verbinder 2">
            <a:extLst>
              <a:ext uri="{FF2B5EF4-FFF2-40B4-BE49-F238E27FC236}">
                <a16:creationId xmlns:a16="http://schemas.microsoft.com/office/drawing/2014/main" id="{D9814A21-05F8-E28C-C622-C45027E89899}"/>
              </a:ext>
            </a:extLst>
          </p:cNvPr>
          <p:cNvCxnSpPr>
            <a:cxnSpLocks/>
          </p:cNvCxnSpPr>
          <p:nvPr/>
        </p:nvCxnSpPr>
        <p:spPr>
          <a:xfrm>
            <a:off x="5908431" y="1773238"/>
            <a:ext cx="0" cy="4500000"/>
          </a:xfrm>
          <a:prstGeom prst="line">
            <a:avLst/>
          </a:prstGeom>
          <a:ln w="6350">
            <a:solidFill>
              <a:srgbClr val="8BAAB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017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4</a:t>
            </a:fld>
            <a:endParaRPr lang="en-US" dirty="0"/>
          </a:p>
        </p:txBody>
      </p:sp>
      <p:sp>
        <p:nvSpPr>
          <p:cNvPr id="4" name="Textplatzhalter 3"/>
          <p:cNvSpPr>
            <a:spLocks noGrp="1"/>
          </p:cNvSpPr>
          <p:nvPr>
            <p:ph type="body" sz="quarter" idx="4294967295"/>
          </p:nvPr>
        </p:nvSpPr>
        <p:spPr>
          <a:xfrm>
            <a:off x="288526" y="184376"/>
            <a:ext cx="9344424" cy="896937"/>
          </a:xfrm>
        </p:spPr>
        <p:txBody>
          <a:bodyPr vert="horz" lIns="0" tIns="45720" rIns="91440" bIns="45720" rtlCol="0" anchor="ctr">
            <a:normAutofit/>
          </a:bodyPr>
          <a:lstStyle/>
          <a:p>
            <a:pPr marL="0" indent="0">
              <a:buNone/>
            </a:pPr>
            <a:r>
              <a:rPr lang="en-US" sz="2100" dirty="0"/>
              <a:t>BEWERTUNGSGRUNDSÄTZE - WERTKONZEPTE UND TYPISIERUNGEN</a:t>
            </a:r>
            <a:br>
              <a:rPr lang="en-US" sz="2100" dirty="0"/>
            </a:br>
            <a:r>
              <a:rPr lang="en-US" sz="2100" dirty="0"/>
              <a:t>NACH DEM BEWERTUNGSSTANDARD IDW S1</a:t>
            </a:r>
          </a:p>
        </p:txBody>
      </p:sp>
      <p:sp>
        <p:nvSpPr>
          <p:cNvPr id="30" name="Textplatzhalter 2">
            <a:extLst>
              <a:ext uri="{FF2B5EF4-FFF2-40B4-BE49-F238E27FC236}">
                <a16:creationId xmlns:a16="http://schemas.microsoft.com/office/drawing/2014/main" id="{8EDFAD4A-7937-4FEB-B782-8F861BC63D8C}"/>
              </a:ext>
            </a:extLst>
          </p:cNvPr>
          <p:cNvSpPr txBox="1">
            <a:spLocks/>
          </p:cNvSpPr>
          <p:nvPr/>
        </p:nvSpPr>
        <p:spPr>
          <a:xfrm>
            <a:off x="288525" y="1719323"/>
            <a:ext cx="9329927" cy="4233539"/>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buClr>
                <a:schemeClr val="accent2"/>
              </a:buClr>
              <a:buFont typeface="Arial" panose="020B0604020202020204" pitchFamily="34" charset="0"/>
              <a:buChar char="•"/>
            </a:pPr>
            <a:endParaRPr lang="de-DE" sz="1100" dirty="0"/>
          </a:p>
        </p:txBody>
      </p:sp>
      <p:sp>
        <p:nvSpPr>
          <p:cNvPr id="31" name="Rechteck 30">
            <a:extLst>
              <a:ext uri="{FF2B5EF4-FFF2-40B4-BE49-F238E27FC236}">
                <a16:creationId xmlns:a16="http://schemas.microsoft.com/office/drawing/2014/main" id="{6AA2CBF1-70BF-429A-AE69-733EEB827A9C}"/>
              </a:ext>
            </a:extLst>
          </p:cNvPr>
          <p:cNvSpPr/>
          <p:nvPr/>
        </p:nvSpPr>
        <p:spPr>
          <a:xfrm>
            <a:off x="288525" y="1399328"/>
            <a:ext cx="9329927"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Typisierungen und </a:t>
            </a:r>
            <a:r>
              <a:rPr lang="de-DE" sz="1200" b="1" dirty="0" err="1">
                <a:solidFill>
                  <a:srgbClr val="32434D"/>
                </a:solidFill>
              </a:rPr>
              <a:t>Objektivierungen</a:t>
            </a:r>
            <a:r>
              <a:rPr lang="de-DE" sz="1200" b="1" dirty="0">
                <a:solidFill>
                  <a:srgbClr val="32434D"/>
                </a:solidFill>
              </a:rPr>
              <a:t> des IDW S1 im Überblick</a:t>
            </a:r>
          </a:p>
        </p:txBody>
      </p:sp>
      <p:graphicFrame>
        <p:nvGraphicFramePr>
          <p:cNvPr id="6" name="Tabelle 5">
            <a:extLst>
              <a:ext uri="{FF2B5EF4-FFF2-40B4-BE49-F238E27FC236}">
                <a16:creationId xmlns:a16="http://schemas.microsoft.com/office/drawing/2014/main" id="{3D60D55A-8311-4BCE-8D85-C465A77C5A8A}"/>
              </a:ext>
            </a:extLst>
          </p:cNvPr>
          <p:cNvGraphicFramePr>
            <a:graphicFrameLocks noGrp="1"/>
          </p:cNvGraphicFramePr>
          <p:nvPr>
            <p:extLst>
              <p:ext uri="{D42A27DB-BD31-4B8C-83A1-F6EECF244321}">
                <p14:modId xmlns:p14="http://schemas.microsoft.com/office/powerpoint/2010/main" val="3169642123"/>
              </p:ext>
            </p:extLst>
          </p:nvPr>
        </p:nvGraphicFramePr>
        <p:xfrm>
          <a:off x="374469" y="1879938"/>
          <a:ext cx="9243007" cy="4933307"/>
        </p:xfrm>
        <a:graphic>
          <a:graphicData uri="http://schemas.openxmlformats.org/drawingml/2006/table">
            <a:tbl>
              <a:tblPr>
                <a:tableStyleId>{5C22544A-7EE6-4342-B048-85BDC9FD1C3A}</a:tableStyleId>
              </a:tblPr>
              <a:tblGrid>
                <a:gridCol w="1950720">
                  <a:extLst>
                    <a:ext uri="{9D8B030D-6E8A-4147-A177-3AD203B41FA5}">
                      <a16:colId xmlns:a16="http://schemas.microsoft.com/office/drawing/2014/main" val="1469801190"/>
                    </a:ext>
                  </a:extLst>
                </a:gridCol>
                <a:gridCol w="3457302">
                  <a:extLst>
                    <a:ext uri="{9D8B030D-6E8A-4147-A177-3AD203B41FA5}">
                      <a16:colId xmlns:a16="http://schemas.microsoft.com/office/drawing/2014/main" val="701560306"/>
                    </a:ext>
                  </a:extLst>
                </a:gridCol>
                <a:gridCol w="3834985">
                  <a:extLst>
                    <a:ext uri="{9D8B030D-6E8A-4147-A177-3AD203B41FA5}">
                      <a16:colId xmlns:a16="http://schemas.microsoft.com/office/drawing/2014/main" val="4121303313"/>
                    </a:ext>
                  </a:extLst>
                </a:gridCol>
              </a:tblGrid>
              <a:tr h="288395">
                <a:tc>
                  <a:txBody>
                    <a:bodyPr/>
                    <a:lstStyle/>
                    <a:p>
                      <a:pPr>
                        <a:spcBef>
                          <a:spcPts val="300"/>
                        </a:spcBef>
                      </a:pPr>
                      <a:r>
                        <a:rPr lang="de-DE" sz="1000" b="1" noProof="0" dirty="0">
                          <a:solidFill>
                            <a:schemeClr val="bg1"/>
                          </a:solidFill>
                          <a:latin typeface="+mn-lt"/>
                          <a:cs typeface="PT Sans"/>
                        </a:rPr>
                        <a:t>Kriterium</a:t>
                      </a:r>
                    </a:p>
                  </a:txBody>
                  <a:tcPr>
                    <a:lnL w="12700" cmpd="sng">
                      <a:noFill/>
                    </a:lnL>
                    <a:lnR w="12700" cmpd="sng">
                      <a:noFill/>
                    </a:lnR>
                    <a:lnT w="12700" cmpd="sng">
                      <a:no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spcBef>
                          <a:spcPts val="300"/>
                        </a:spcBef>
                        <a:buClr>
                          <a:srgbClr val="8BAABF"/>
                        </a:buClr>
                        <a:buFont typeface="Arial"/>
                        <a:buNone/>
                      </a:pPr>
                      <a:r>
                        <a:rPr lang="de-DE" sz="1000" b="1" noProof="0" dirty="0">
                          <a:solidFill>
                            <a:schemeClr val="bg1"/>
                          </a:solidFill>
                          <a:latin typeface="+mn-lt"/>
                          <a:cs typeface="PT Sans"/>
                        </a:rPr>
                        <a:t>Objektivierter Wert gem. IDW S1</a:t>
                      </a:r>
                    </a:p>
                  </a:txBody>
                  <a:tcPr>
                    <a:lnL w="12700" cmpd="sng">
                      <a:noFill/>
                    </a:lnL>
                    <a:lnR w="12700" cmpd="sng">
                      <a:noFill/>
                    </a:lnR>
                    <a:lnT w="12700" cmpd="sng">
                      <a:no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spcBef>
                          <a:spcPts val="300"/>
                        </a:spcBef>
                        <a:buClr>
                          <a:srgbClr val="8BAABF"/>
                        </a:buClr>
                        <a:buFont typeface="Arial"/>
                        <a:buNone/>
                      </a:pPr>
                      <a:r>
                        <a:rPr lang="de-DE" sz="1000" b="1" noProof="0" dirty="0">
                          <a:solidFill>
                            <a:schemeClr val="bg1"/>
                          </a:solidFill>
                          <a:latin typeface="+mn-lt"/>
                          <a:cs typeface="PT Sans"/>
                        </a:rPr>
                        <a:t>Subjektiver Wert gem. IDW S1</a:t>
                      </a:r>
                    </a:p>
                  </a:txBody>
                  <a:tcPr>
                    <a:lnL w="12700" cmpd="sng">
                      <a:noFill/>
                    </a:lnL>
                    <a:lnR w="12700" cmpd="sng">
                      <a:noFill/>
                    </a:lnR>
                    <a:lnT w="12700" cmpd="sng">
                      <a:no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32267931"/>
                  </a:ext>
                </a:extLst>
              </a:tr>
              <a:tr h="523177">
                <a:tc>
                  <a:txBody>
                    <a:bodyPr/>
                    <a:lstStyle/>
                    <a:p>
                      <a:r>
                        <a:rPr lang="de-DE" sz="1000" noProof="0">
                          <a:solidFill>
                            <a:srgbClr val="2E455C"/>
                          </a:solidFill>
                          <a:latin typeface="+mj-lt"/>
                        </a:rPr>
                        <a:t>Unternehmenseigner</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solidFill>
                            <a:srgbClr val="2E455C"/>
                          </a:solidFill>
                          <a:latin typeface="+mj-lt"/>
                        </a:rPr>
                        <a:t>Inländische, unbeschränkt steuerpflichtige natürliche Person</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a:solidFill>
                            <a:srgbClr val="2E455C"/>
                          </a:solidFill>
                          <a:latin typeface="+mj-lt"/>
                        </a:rPr>
                        <a:t>Konkrete Eigentümerstruktur des Unternehmens, wenn bekannt und sinnvoll anwendbar. Ansonsten zweckmäßige Typisierung</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890587"/>
                  </a:ext>
                </a:extLst>
              </a:tr>
              <a:tr h="523177">
                <a:tc>
                  <a:txBody>
                    <a:bodyPr/>
                    <a:lstStyle/>
                    <a:p>
                      <a:r>
                        <a:rPr lang="de-DE" sz="1000" noProof="0">
                          <a:solidFill>
                            <a:srgbClr val="2E455C"/>
                          </a:solidFill>
                          <a:latin typeface="+mj-lt"/>
                        </a:rPr>
                        <a:t>Abgrenzung des Bewertungsobjekts </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solidFill>
                            <a:srgbClr val="2E455C"/>
                          </a:solidFill>
                          <a:latin typeface="+mj-lt"/>
                        </a:rPr>
                        <a:t>Stand-Alone Bewertung des Unternehmens, die Folgen aus dem Bewertungsanlass werden nicht berücksichtigt</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a:solidFill>
                            <a:srgbClr val="2E455C"/>
                          </a:solidFill>
                          <a:latin typeface="+mj-lt"/>
                        </a:rPr>
                        <a:t>Folgen aus dem Bewertungsanlass und weitere externe Beziehungen des Unternehmens können berücksichtigt werden</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556503"/>
                  </a:ext>
                </a:extLst>
              </a:tr>
              <a:tr h="351188">
                <a:tc>
                  <a:txBody>
                    <a:bodyPr/>
                    <a:lstStyle/>
                    <a:p>
                      <a:r>
                        <a:rPr lang="de-DE" sz="1000" noProof="0" dirty="0"/>
                        <a:t>Unternehmenskonzept</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a:t>Nur bereits eingeleitete oder hinreichend gut dokumentierte Maßnahmen</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Alle geplanten oder beabsichtigten Maßnahmen</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990276"/>
                  </a:ext>
                </a:extLst>
              </a:tr>
              <a:tr h="610395">
                <a:tc>
                  <a:txBody>
                    <a:bodyPr/>
                    <a:lstStyle/>
                    <a:p>
                      <a:r>
                        <a:rPr lang="de-DE" sz="1000" noProof="0"/>
                        <a:t>Berücksichtigung von Synergieeffekten</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Nur unechte Synergieeffekte (lassen sich ohne Durchführung der dem Bewertungsanlass zugrunde liegenden Maßnahme realisieren)</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a:t>Unechte und echte Synergieeffekte</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0959514"/>
                  </a:ext>
                </a:extLst>
              </a:tr>
              <a:tr h="486260">
                <a:tc>
                  <a:txBody>
                    <a:bodyPr/>
                    <a:lstStyle/>
                    <a:p>
                      <a:r>
                        <a:rPr lang="de-DE" sz="1000" noProof="0"/>
                        <a:t>Finanzierungs- und Ausschüttungsannahmen</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Phase 1: individuelles Unternehmenskonzept;</a:t>
                      </a:r>
                    </a:p>
                    <a:p>
                      <a:pPr marL="171450" indent="-171450">
                        <a:buClr>
                          <a:srgbClr val="002060"/>
                        </a:buClr>
                        <a:buFont typeface="Arial" panose="020B0604020202020204" pitchFamily="34" charset="0"/>
                        <a:buChar char="•"/>
                      </a:pPr>
                      <a:r>
                        <a:rPr lang="de-DE" sz="1000" noProof="0" dirty="0"/>
                        <a:t>Phase 2: typisierte Annahmen (äquivalent zur Alternativanlage)</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Individuelles Unternehmenskonzept</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7083010"/>
                  </a:ext>
                </a:extLst>
              </a:tr>
              <a:tr h="486260">
                <a:tc>
                  <a:txBody>
                    <a:bodyPr/>
                    <a:lstStyle/>
                    <a:p>
                      <a:r>
                        <a:rPr lang="de-DE" sz="1000" noProof="0"/>
                        <a:t>Berücksichtigung von Managementfaktoren</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Annahme, dass das Management im Unternehmen verbleibt sowie Fremdgeschäftsführer-Fiktion (Gehalt muss bspw. Drittvergleich standhalten)</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a:t>Berücksichtigung des Managements gemäß individuellen Planungen</a:t>
                      </a:r>
                      <a:endParaRPr lang="de-DE" sz="1000" noProof="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643630"/>
                  </a:ext>
                </a:extLst>
              </a:tr>
              <a:tr h="891476">
                <a:tc>
                  <a:txBody>
                    <a:bodyPr/>
                    <a:lstStyle/>
                    <a:p>
                      <a:r>
                        <a:rPr lang="de-DE" sz="1000" noProof="0">
                          <a:solidFill>
                            <a:srgbClr val="2E455C"/>
                          </a:solidFill>
                          <a:latin typeface="+mj-lt"/>
                        </a:rPr>
                        <a:t>Ertragssteuer der Unternehmenseigner</a:t>
                      </a: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Unternehmerische Bewertungsanlässe: mittelbare Typisierung (Bewertung vor persönlichen Ertragssteuern);</a:t>
                      </a:r>
                    </a:p>
                    <a:p>
                      <a:pPr marL="171450" indent="-171450">
                        <a:buClr>
                          <a:srgbClr val="002060"/>
                        </a:buClr>
                        <a:buFont typeface="Arial" panose="020B0604020202020204" pitchFamily="34" charset="0"/>
                        <a:buChar char="•"/>
                      </a:pPr>
                      <a:r>
                        <a:rPr lang="de-DE" sz="1000" noProof="0" dirty="0"/>
                        <a:t>Gesetzliche Bewertungsanlässe: unmittelbare Typisierung (Bewertung nach persönlichen Ertragssteuern)</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Clr>
                          <a:srgbClr val="002060"/>
                        </a:buClr>
                        <a:buFont typeface="Arial" panose="020B0604020202020204" pitchFamily="34" charset="0"/>
                        <a:buChar char="•"/>
                      </a:pPr>
                      <a:r>
                        <a:rPr lang="de-DE" sz="1000" noProof="0" dirty="0"/>
                        <a:t>Tatsächliche Steuerbelastung</a:t>
                      </a:r>
                      <a:endParaRPr lang="de-DE" sz="1000" noProof="0" dirty="0">
                        <a:solidFill>
                          <a:srgbClr val="2E455C"/>
                        </a:solidFill>
                        <a:latin typeface="+mj-lt"/>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704900"/>
                  </a:ext>
                </a:extLst>
              </a:tr>
              <a:tr h="437877">
                <a:tc>
                  <a:txBody>
                    <a:bodyPr/>
                    <a:lstStyle/>
                    <a:p>
                      <a:pPr>
                        <a:spcBef>
                          <a:spcPts val="300"/>
                        </a:spcBef>
                      </a:pPr>
                      <a:endParaRPr lang="de-DE" sz="1000" b="0" noProof="0">
                        <a:solidFill>
                          <a:schemeClr val="tx1"/>
                        </a:solidFill>
                        <a:latin typeface="+mn-lt"/>
                        <a:cs typeface="PT Sans"/>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300"/>
                        </a:spcBef>
                        <a:buClr>
                          <a:srgbClr val="8BAABF"/>
                        </a:buClr>
                        <a:buFont typeface="Arial" panose="020B0604020202020204" pitchFamily="34" charset="0"/>
                        <a:buChar char="•"/>
                      </a:pPr>
                      <a:endParaRPr lang="de-DE" sz="1000" b="0" noProof="0">
                        <a:solidFill>
                          <a:schemeClr val="tx1"/>
                        </a:solidFill>
                        <a:latin typeface="+mn-lt"/>
                        <a:cs typeface="PT Sans"/>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spcBef>
                          <a:spcPts val="300"/>
                        </a:spcBef>
                        <a:buClr>
                          <a:srgbClr val="8BAABF"/>
                        </a:buClr>
                        <a:buFont typeface="Arial" panose="020B0604020202020204" pitchFamily="34" charset="0"/>
                        <a:buChar char="•"/>
                      </a:pPr>
                      <a:endParaRPr lang="de-DE" sz="1000" b="0" noProof="0" dirty="0">
                        <a:solidFill>
                          <a:schemeClr val="tx1"/>
                        </a:solidFill>
                        <a:latin typeface="+mn-lt"/>
                        <a:cs typeface="PT Sans"/>
                      </a:endParaRPr>
                    </a:p>
                  </a:txBody>
                  <a:tcPr>
                    <a:lnL w="12700" cmpd="sng">
                      <a:noFill/>
                    </a:lnL>
                    <a:lnR w="12700" cmpd="sng">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6031358"/>
                  </a:ext>
                </a:extLst>
              </a:tr>
            </a:tbl>
          </a:graphicData>
        </a:graphic>
      </p:graphicFrame>
    </p:spTree>
    <p:extLst>
      <p:ext uri="{BB962C8B-B14F-4D97-AF65-F5344CB8AC3E}">
        <p14:creationId xmlns:p14="http://schemas.microsoft.com/office/powerpoint/2010/main" val="2300765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5</a:t>
            </a:fld>
            <a:endParaRPr lang="en-US" dirty="0"/>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en-US" sz="2100"/>
              <a:t>BEWERTUNGSMETHODEN - ZUKUNFTSERFOLGSVERFAHREN</a:t>
            </a:r>
            <a:endParaRPr lang="en-US" sz="2100" dirty="0"/>
          </a:p>
        </p:txBody>
      </p:sp>
      <p:sp>
        <p:nvSpPr>
          <p:cNvPr id="30" name="Textplatzhalter 2">
            <a:extLst>
              <a:ext uri="{FF2B5EF4-FFF2-40B4-BE49-F238E27FC236}">
                <a16:creationId xmlns:a16="http://schemas.microsoft.com/office/drawing/2014/main" id="{8EDFAD4A-7937-4FEB-B782-8F861BC63D8C}"/>
              </a:ext>
            </a:extLst>
          </p:cNvPr>
          <p:cNvSpPr txBox="1">
            <a:spLocks/>
          </p:cNvSpPr>
          <p:nvPr/>
        </p:nvSpPr>
        <p:spPr>
          <a:xfrm>
            <a:off x="288526" y="4245426"/>
            <a:ext cx="9395243" cy="2110925"/>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Die Zukunftserfolgsverfahren werden nach Brutto- und Nettoverfahren unterschieden</a:t>
            </a:r>
          </a:p>
          <a:p>
            <a:pPr marL="171450" indent="-171450" algn="just">
              <a:spcBef>
                <a:spcPts val="600"/>
              </a:spcBef>
              <a:buClr>
                <a:srgbClr val="002060"/>
              </a:buClr>
              <a:buFont typeface="Arial" panose="020B0604020202020204" pitchFamily="34" charset="0"/>
              <a:buChar char="•"/>
            </a:pPr>
            <a:r>
              <a:rPr lang="de-DE" sz="1100" dirty="0"/>
              <a:t>Bei den Bruttoverfahren (Entity-Ansatz) wird zunächst der Wert des Gesamtkapitals bestimmt. Dies geschieht durch Diskontierung der finanziellen Überschüsse, die sowohl Fremd- als auch Eigenkapitalgebern zustehen (Free Cashflow </a:t>
            </a:r>
            <a:r>
              <a:rPr lang="de-DE" sz="1100" dirty="0" err="1"/>
              <a:t>to</a:t>
            </a:r>
            <a:r>
              <a:rPr lang="de-DE" sz="1100" dirty="0"/>
              <a:t> </a:t>
            </a:r>
            <a:r>
              <a:rPr lang="de-DE" sz="1100" dirty="0" err="1"/>
              <a:t>the</a:t>
            </a:r>
            <a:r>
              <a:rPr lang="de-DE" sz="1100" dirty="0"/>
              <a:t> Firm – FCFF oder „freie Cashflows“). Durch Abzug des Marktwerts des verzinslichen Fremdkapitals wird der Wert des Eigenkapitals ermittelt. Zu den Bruttoverfahren gehören das WACC- (</a:t>
            </a:r>
            <a:r>
              <a:rPr lang="de-DE" sz="1100" dirty="0" err="1"/>
              <a:t>Weighted</a:t>
            </a:r>
            <a:r>
              <a:rPr lang="de-DE" sz="1100" dirty="0"/>
              <a:t> Average </a:t>
            </a:r>
            <a:r>
              <a:rPr lang="de-DE" sz="1100" dirty="0" err="1"/>
              <a:t>Cost</a:t>
            </a:r>
            <a:r>
              <a:rPr lang="de-DE" sz="1100" dirty="0"/>
              <a:t> </a:t>
            </a:r>
            <a:r>
              <a:rPr lang="de-DE" sz="1100" dirty="0" err="1"/>
              <a:t>of</a:t>
            </a:r>
            <a:r>
              <a:rPr lang="de-DE" sz="1100" dirty="0"/>
              <a:t> Capital), das APV- (</a:t>
            </a:r>
            <a:r>
              <a:rPr lang="de-DE" sz="1100" dirty="0" err="1"/>
              <a:t>Adjusted</a:t>
            </a:r>
            <a:r>
              <a:rPr lang="de-DE" sz="1100" dirty="0"/>
              <a:t> </a:t>
            </a:r>
            <a:r>
              <a:rPr lang="de-DE" sz="1100" dirty="0" err="1"/>
              <a:t>Present</a:t>
            </a:r>
            <a:r>
              <a:rPr lang="de-DE" sz="1100" dirty="0"/>
              <a:t> Value) und das TCF-Verfahren (Total Cashflow-Verfahren)</a:t>
            </a:r>
          </a:p>
          <a:p>
            <a:pPr marL="171450" indent="-171450" algn="just">
              <a:spcBef>
                <a:spcPts val="600"/>
              </a:spcBef>
              <a:buClr>
                <a:srgbClr val="002060"/>
              </a:buClr>
              <a:buFont typeface="Arial" panose="020B0604020202020204" pitchFamily="34" charset="0"/>
              <a:buChar char="•"/>
            </a:pPr>
            <a:r>
              <a:rPr lang="de-DE" sz="1100" dirty="0"/>
              <a:t>Bei den Nettoverfahren wird der Wert des Eigenkapitals direkt durch Diskontierung der den Unternehmenseignern zufließenden künftigen finanziellen Überschüsse (</a:t>
            </a:r>
            <a:r>
              <a:rPr lang="de-DE" sz="1100" dirty="0" err="1"/>
              <a:t>Flows</a:t>
            </a:r>
            <a:r>
              <a:rPr lang="de-DE" sz="1100" dirty="0"/>
              <a:t> </a:t>
            </a:r>
            <a:r>
              <a:rPr lang="de-DE" sz="1100" dirty="0" err="1"/>
              <a:t>to</a:t>
            </a:r>
            <a:r>
              <a:rPr lang="de-DE" sz="1100" dirty="0"/>
              <a:t> Equity, Eigenkapital-Cashflows) ermittelt. Zu den Nettoverfahren gehören das Ertragswertverfahren und das </a:t>
            </a:r>
            <a:r>
              <a:rPr lang="de-DE" sz="1100" dirty="0" err="1"/>
              <a:t>FtE</a:t>
            </a:r>
            <a:r>
              <a:rPr lang="de-DE" sz="1100" dirty="0"/>
              <a:t>-Verfahren (Flow-</a:t>
            </a:r>
            <a:r>
              <a:rPr lang="de-DE" sz="1100" dirty="0" err="1"/>
              <a:t>to</a:t>
            </a:r>
            <a:r>
              <a:rPr lang="de-DE" sz="1100" dirty="0"/>
              <a:t>-Equity)</a:t>
            </a:r>
          </a:p>
          <a:p>
            <a:pPr marL="171450" indent="-171450" algn="just">
              <a:spcBef>
                <a:spcPts val="600"/>
              </a:spcBef>
              <a:buClr>
                <a:srgbClr val="002060"/>
              </a:buClr>
              <a:buFont typeface="Arial" panose="020B0604020202020204" pitchFamily="34" charset="0"/>
              <a:buChar char="•"/>
            </a:pPr>
            <a:r>
              <a:rPr lang="de-DE" sz="1100" dirty="0"/>
              <a:t>Die hier dargestellten Zukunftserfolgsverfahren beruhen auf der gleichen konzeptionellen Grundlage und kommen unter Verwendung konsistenter Annahmen zu identischen Ergebnissen</a:t>
            </a:r>
          </a:p>
          <a:p>
            <a:pPr marL="171450" indent="-171450" algn="just">
              <a:buClr>
                <a:schemeClr val="accent2"/>
              </a:buClr>
              <a:buFont typeface="Arial" panose="020B0604020202020204" pitchFamily="34" charset="0"/>
              <a:buChar char="•"/>
            </a:pPr>
            <a:endParaRPr lang="de-DE" dirty="0"/>
          </a:p>
        </p:txBody>
      </p:sp>
      <p:sp>
        <p:nvSpPr>
          <p:cNvPr id="31" name="Rechteck 30">
            <a:extLst>
              <a:ext uri="{FF2B5EF4-FFF2-40B4-BE49-F238E27FC236}">
                <a16:creationId xmlns:a16="http://schemas.microsoft.com/office/drawing/2014/main" id="{6AA2CBF1-70BF-429A-AE69-733EEB827A9C}"/>
              </a:ext>
            </a:extLst>
          </p:cNvPr>
          <p:cNvSpPr/>
          <p:nvPr/>
        </p:nvSpPr>
        <p:spPr>
          <a:xfrm>
            <a:off x="288526" y="1398709"/>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a:solidFill>
                  <a:srgbClr val="32434D"/>
                </a:solidFill>
              </a:rPr>
              <a:t>Verfahren der Unternehmensbewertung (1 / 3)</a:t>
            </a:r>
          </a:p>
        </p:txBody>
      </p:sp>
      <p:sp>
        <p:nvSpPr>
          <p:cNvPr id="7" name="Rechteck 6">
            <a:extLst>
              <a:ext uri="{FF2B5EF4-FFF2-40B4-BE49-F238E27FC236}">
                <a16:creationId xmlns:a16="http://schemas.microsoft.com/office/drawing/2014/main" id="{5AC678DF-0129-4460-B373-FC5FBC891FF7}"/>
              </a:ext>
            </a:extLst>
          </p:cNvPr>
          <p:cNvSpPr/>
          <p:nvPr/>
        </p:nvSpPr>
        <p:spPr>
          <a:xfrm>
            <a:off x="288526" y="3908644"/>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200" b="1">
                <a:solidFill>
                  <a:srgbClr val="32434D"/>
                </a:solidFill>
              </a:rPr>
              <a:t>Kommentare</a:t>
            </a:r>
          </a:p>
        </p:txBody>
      </p:sp>
      <p:sp>
        <p:nvSpPr>
          <p:cNvPr id="5" name="Rechteck 4">
            <a:extLst>
              <a:ext uri="{FF2B5EF4-FFF2-40B4-BE49-F238E27FC236}">
                <a16:creationId xmlns:a16="http://schemas.microsoft.com/office/drawing/2014/main" id="{DB0101FB-5253-462D-B75C-CAA703AF288B}"/>
              </a:ext>
            </a:extLst>
          </p:cNvPr>
          <p:cNvSpPr/>
          <p:nvPr/>
        </p:nvSpPr>
        <p:spPr>
          <a:xfrm>
            <a:off x="336129" y="2603589"/>
            <a:ext cx="2250149" cy="468314"/>
          </a:xfrm>
          <a:prstGeom prst="rect">
            <a:avLst/>
          </a:prstGeom>
          <a:solidFill>
            <a:srgbClr val="8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Bruttoverfahren</a:t>
            </a:r>
            <a:endParaRPr lang="en-US" sz="1200" dirty="0"/>
          </a:p>
        </p:txBody>
      </p:sp>
      <p:sp>
        <p:nvSpPr>
          <p:cNvPr id="10" name="Rechteck 9">
            <a:extLst>
              <a:ext uri="{FF2B5EF4-FFF2-40B4-BE49-F238E27FC236}">
                <a16:creationId xmlns:a16="http://schemas.microsoft.com/office/drawing/2014/main" id="{AF7DD103-0352-4AB2-9013-EA233C8DB7B5}"/>
              </a:ext>
            </a:extLst>
          </p:cNvPr>
          <p:cNvSpPr/>
          <p:nvPr/>
        </p:nvSpPr>
        <p:spPr>
          <a:xfrm>
            <a:off x="4292990" y="1885682"/>
            <a:ext cx="223601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Marktpreisorientierte Bewertungsverfahren</a:t>
            </a:r>
            <a:endParaRPr lang="en-US" sz="1200" dirty="0"/>
          </a:p>
        </p:txBody>
      </p:sp>
      <p:sp>
        <p:nvSpPr>
          <p:cNvPr id="11" name="Rechteck 10">
            <a:extLst>
              <a:ext uri="{FF2B5EF4-FFF2-40B4-BE49-F238E27FC236}">
                <a16:creationId xmlns:a16="http://schemas.microsoft.com/office/drawing/2014/main" id="{F5BCFF74-7CF9-4033-A509-4250660E0CB2}"/>
              </a:ext>
            </a:extLst>
          </p:cNvPr>
          <p:cNvSpPr/>
          <p:nvPr/>
        </p:nvSpPr>
        <p:spPr>
          <a:xfrm>
            <a:off x="6677651" y="1866116"/>
            <a:ext cx="2899316"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Substanzwert-verfahren</a:t>
            </a:r>
            <a:endParaRPr lang="en-US" sz="1200" dirty="0"/>
          </a:p>
        </p:txBody>
      </p:sp>
      <p:sp>
        <p:nvSpPr>
          <p:cNvPr id="12" name="Rechteck 11">
            <a:extLst>
              <a:ext uri="{FF2B5EF4-FFF2-40B4-BE49-F238E27FC236}">
                <a16:creationId xmlns:a16="http://schemas.microsoft.com/office/drawing/2014/main" id="{0A8E193B-5F74-4DF2-AE97-3761754B077F}"/>
              </a:ext>
            </a:extLst>
          </p:cNvPr>
          <p:cNvSpPr/>
          <p:nvPr/>
        </p:nvSpPr>
        <p:spPr>
          <a:xfrm>
            <a:off x="336131" y="3270373"/>
            <a:ext cx="692084"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WACC</a:t>
            </a:r>
          </a:p>
        </p:txBody>
      </p:sp>
      <p:sp>
        <p:nvSpPr>
          <p:cNvPr id="13" name="Rechteck 12">
            <a:extLst>
              <a:ext uri="{FF2B5EF4-FFF2-40B4-BE49-F238E27FC236}">
                <a16:creationId xmlns:a16="http://schemas.microsoft.com/office/drawing/2014/main" id="{A8248CC7-EC46-4252-AB71-C63094FB44CA}"/>
              </a:ext>
            </a:extLst>
          </p:cNvPr>
          <p:cNvSpPr/>
          <p:nvPr/>
        </p:nvSpPr>
        <p:spPr>
          <a:xfrm>
            <a:off x="1115163" y="3270372"/>
            <a:ext cx="692084"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APV</a:t>
            </a:r>
            <a:endParaRPr lang="en-US" sz="1200" dirty="0"/>
          </a:p>
        </p:txBody>
      </p:sp>
      <p:sp>
        <p:nvSpPr>
          <p:cNvPr id="14" name="Rechteck 13">
            <a:extLst>
              <a:ext uri="{FF2B5EF4-FFF2-40B4-BE49-F238E27FC236}">
                <a16:creationId xmlns:a16="http://schemas.microsoft.com/office/drawing/2014/main" id="{3A5B6D71-2865-4140-858F-18A73BA2D3CB}"/>
              </a:ext>
            </a:extLst>
          </p:cNvPr>
          <p:cNvSpPr/>
          <p:nvPr/>
        </p:nvSpPr>
        <p:spPr>
          <a:xfrm>
            <a:off x="1894195" y="3270373"/>
            <a:ext cx="692084"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TCF</a:t>
            </a:r>
            <a:endParaRPr lang="en-US" sz="1200" dirty="0"/>
          </a:p>
        </p:txBody>
      </p:sp>
      <p:sp>
        <p:nvSpPr>
          <p:cNvPr id="15" name="Rechteck 14">
            <a:extLst>
              <a:ext uri="{FF2B5EF4-FFF2-40B4-BE49-F238E27FC236}">
                <a16:creationId xmlns:a16="http://schemas.microsoft.com/office/drawing/2014/main" id="{487F780B-A461-4B3D-9BBB-6628C717A2FB}"/>
              </a:ext>
            </a:extLst>
          </p:cNvPr>
          <p:cNvSpPr/>
          <p:nvPr/>
        </p:nvSpPr>
        <p:spPr>
          <a:xfrm>
            <a:off x="2673227" y="3284027"/>
            <a:ext cx="692084"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FTE</a:t>
            </a:r>
            <a:endParaRPr lang="en-US" sz="1200" dirty="0"/>
          </a:p>
        </p:txBody>
      </p:sp>
      <p:sp>
        <p:nvSpPr>
          <p:cNvPr id="16" name="Rechteck 15">
            <a:extLst>
              <a:ext uri="{FF2B5EF4-FFF2-40B4-BE49-F238E27FC236}">
                <a16:creationId xmlns:a16="http://schemas.microsoft.com/office/drawing/2014/main" id="{4361843B-07EA-4668-BE08-A9040E73FB72}"/>
              </a:ext>
            </a:extLst>
          </p:cNvPr>
          <p:cNvSpPr/>
          <p:nvPr/>
        </p:nvSpPr>
        <p:spPr>
          <a:xfrm>
            <a:off x="3452260" y="3288871"/>
            <a:ext cx="692084"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Ertrags-wert</a:t>
            </a:r>
            <a:endParaRPr lang="en-US" sz="1200" dirty="0"/>
          </a:p>
        </p:txBody>
      </p:sp>
      <p:sp>
        <p:nvSpPr>
          <p:cNvPr id="17" name="Rechteck 16">
            <a:extLst>
              <a:ext uri="{FF2B5EF4-FFF2-40B4-BE49-F238E27FC236}">
                <a16:creationId xmlns:a16="http://schemas.microsoft.com/office/drawing/2014/main" id="{905CD6AE-4795-43E8-8D93-683E09913F54}"/>
              </a:ext>
            </a:extLst>
          </p:cNvPr>
          <p:cNvSpPr/>
          <p:nvPr/>
        </p:nvSpPr>
        <p:spPr>
          <a:xfrm>
            <a:off x="336129" y="1885682"/>
            <a:ext cx="3808215" cy="46831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Zukunftserfolgsverfahren</a:t>
            </a:r>
            <a:endParaRPr lang="en-US" sz="1200" dirty="0"/>
          </a:p>
        </p:txBody>
      </p:sp>
      <p:sp>
        <p:nvSpPr>
          <p:cNvPr id="18" name="Rechteck 17">
            <a:extLst>
              <a:ext uri="{FF2B5EF4-FFF2-40B4-BE49-F238E27FC236}">
                <a16:creationId xmlns:a16="http://schemas.microsoft.com/office/drawing/2014/main" id="{741C8A16-75EA-4551-AA6D-E96AE28C167E}"/>
              </a:ext>
            </a:extLst>
          </p:cNvPr>
          <p:cNvSpPr/>
          <p:nvPr/>
        </p:nvSpPr>
        <p:spPr>
          <a:xfrm>
            <a:off x="2673227" y="2603589"/>
            <a:ext cx="1471117" cy="468314"/>
          </a:xfrm>
          <a:prstGeom prst="rect">
            <a:avLst/>
          </a:prstGeom>
          <a:solidFill>
            <a:srgbClr val="8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Nettoverfahren</a:t>
            </a:r>
            <a:endParaRPr lang="en-US" sz="1200" dirty="0"/>
          </a:p>
        </p:txBody>
      </p:sp>
      <p:sp>
        <p:nvSpPr>
          <p:cNvPr id="19" name="Rechteck 18">
            <a:extLst>
              <a:ext uri="{FF2B5EF4-FFF2-40B4-BE49-F238E27FC236}">
                <a16:creationId xmlns:a16="http://schemas.microsoft.com/office/drawing/2014/main" id="{F22B6048-4D85-4E4F-90D8-08C05517F673}"/>
              </a:ext>
            </a:extLst>
          </p:cNvPr>
          <p:cNvSpPr/>
          <p:nvPr/>
        </p:nvSpPr>
        <p:spPr>
          <a:xfrm>
            <a:off x="4297235" y="2592305"/>
            <a:ext cx="1079390"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Börsen-Multiples</a:t>
            </a:r>
            <a:endParaRPr lang="en-US" sz="1200" dirty="0"/>
          </a:p>
        </p:txBody>
      </p:sp>
      <p:sp>
        <p:nvSpPr>
          <p:cNvPr id="20" name="Rechteck 19">
            <a:extLst>
              <a:ext uri="{FF2B5EF4-FFF2-40B4-BE49-F238E27FC236}">
                <a16:creationId xmlns:a16="http://schemas.microsoft.com/office/drawing/2014/main" id="{91463010-75D4-497E-B696-4B152EFACD01}"/>
              </a:ext>
            </a:extLst>
          </p:cNvPr>
          <p:cNvSpPr/>
          <p:nvPr/>
        </p:nvSpPr>
        <p:spPr>
          <a:xfrm>
            <a:off x="5449615" y="2592304"/>
            <a:ext cx="1079390"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Transaktions-multiples</a:t>
            </a:r>
            <a:endParaRPr lang="en-US" sz="1200" dirty="0"/>
          </a:p>
        </p:txBody>
      </p:sp>
      <p:sp>
        <p:nvSpPr>
          <p:cNvPr id="23" name="Rechteck 22">
            <a:extLst>
              <a:ext uri="{FF2B5EF4-FFF2-40B4-BE49-F238E27FC236}">
                <a16:creationId xmlns:a16="http://schemas.microsoft.com/office/drawing/2014/main" id="{6233689E-9C30-4B81-B28C-D82186FD6864}"/>
              </a:ext>
            </a:extLst>
          </p:cNvPr>
          <p:cNvSpPr/>
          <p:nvPr/>
        </p:nvSpPr>
        <p:spPr>
          <a:xfrm>
            <a:off x="8417528" y="2598617"/>
            <a:ext cx="1159439"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t>Liquidations-wert</a:t>
            </a:r>
            <a:endParaRPr lang="en-US" sz="1200" dirty="0"/>
          </a:p>
        </p:txBody>
      </p:sp>
      <p:sp>
        <p:nvSpPr>
          <p:cNvPr id="24" name="Rechteck 23">
            <a:extLst>
              <a:ext uri="{FF2B5EF4-FFF2-40B4-BE49-F238E27FC236}">
                <a16:creationId xmlns:a16="http://schemas.microsoft.com/office/drawing/2014/main" id="{2A74C8B4-6CA6-433B-BBB9-A85B8818CA25}"/>
              </a:ext>
            </a:extLst>
          </p:cNvPr>
          <p:cNvSpPr/>
          <p:nvPr/>
        </p:nvSpPr>
        <p:spPr>
          <a:xfrm>
            <a:off x="6677651" y="2598617"/>
            <a:ext cx="167467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t>Wiederbeschaffungs-wert</a:t>
            </a:r>
            <a:endParaRPr lang="en-US" sz="1200" dirty="0"/>
          </a:p>
        </p:txBody>
      </p:sp>
      <p:cxnSp>
        <p:nvCxnSpPr>
          <p:cNvPr id="21" name="Verbinder: gewinkelt 20">
            <a:extLst>
              <a:ext uri="{FF2B5EF4-FFF2-40B4-BE49-F238E27FC236}">
                <a16:creationId xmlns:a16="http://schemas.microsoft.com/office/drawing/2014/main" id="{53A72A45-6408-4F1B-AB81-CFE223A5891C}"/>
              </a:ext>
            </a:extLst>
          </p:cNvPr>
          <p:cNvCxnSpPr>
            <a:cxnSpLocks/>
            <a:stCxn id="17" idx="2"/>
            <a:endCxn id="18" idx="0"/>
          </p:cNvCxnSpPr>
          <p:nvPr/>
        </p:nvCxnSpPr>
        <p:spPr>
          <a:xfrm rot="16200000" flipH="1">
            <a:off x="2699715" y="1894517"/>
            <a:ext cx="249593" cy="11685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FEA0BB3A-7C50-4843-8F01-5C9CABC7E2EA}"/>
              </a:ext>
            </a:extLst>
          </p:cNvPr>
          <p:cNvCxnSpPr>
            <a:cxnSpLocks/>
            <a:stCxn id="17" idx="2"/>
            <a:endCxn id="5" idx="0"/>
          </p:cNvCxnSpPr>
          <p:nvPr/>
        </p:nvCxnSpPr>
        <p:spPr>
          <a:xfrm rot="5400000">
            <a:off x="1725925" y="2089276"/>
            <a:ext cx="249593" cy="7790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93917BE7-847C-4798-AE7A-0AF2A17C4617}"/>
              </a:ext>
            </a:extLst>
          </p:cNvPr>
          <p:cNvCxnSpPr>
            <a:cxnSpLocks/>
            <a:stCxn id="5" idx="2"/>
            <a:endCxn id="12" idx="0"/>
          </p:cNvCxnSpPr>
          <p:nvPr/>
        </p:nvCxnSpPr>
        <p:spPr>
          <a:xfrm rot="5400000">
            <a:off x="972454" y="2781623"/>
            <a:ext cx="198470" cy="7790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winkelt 33">
            <a:extLst>
              <a:ext uri="{FF2B5EF4-FFF2-40B4-BE49-F238E27FC236}">
                <a16:creationId xmlns:a16="http://schemas.microsoft.com/office/drawing/2014/main" id="{C39BDAF1-7B9B-41C2-BD54-889997B17934}"/>
              </a:ext>
            </a:extLst>
          </p:cNvPr>
          <p:cNvCxnSpPr>
            <a:cxnSpLocks/>
            <a:stCxn id="5" idx="2"/>
            <a:endCxn id="13" idx="0"/>
          </p:cNvCxnSpPr>
          <p:nvPr/>
        </p:nvCxnSpPr>
        <p:spPr>
          <a:xfrm rot="16200000" flipH="1">
            <a:off x="1361970" y="3171136"/>
            <a:ext cx="198469"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winkelt 36">
            <a:extLst>
              <a:ext uri="{FF2B5EF4-FFF2-40B4-BE49-F238E27FC236}">
                <a16:creationId xmlns:a16="http://schemas.microsoft.com/office/drawing/2014/main" id="{5644FBFF-1CF4-483E-89A8-A21E3D80012E}"/>
              </a:ext>
            </a:extLst>
          </p:cNvPr>
          <p:cNvCxnSpPr>
            <a:cxnSpLocks/>
            <a:stCxn id="5" idx="2"/>
            <a:endCxn id="14" idx="0"/>
          </p:cNvCxnSpPr>
          <p:nvPr/>
        </p:nvCxnSpPr>
        <p:spPr>
          <a:xfrm rot="16200000" flipH="1">
            <a:off x="1751485" y="2781621"/>
            <a:ext cx="198470" cy="77903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winkelt 41">
            <a:extLst>
              <a:ext uri="{FF2B5EF4-FFF2-40B4-BE49-F238E27FC236}">
                <a16:creationId xmlns:a16="http://schemas.microsoft.com/office/drawing/2014/main" id="{78C93E35-F9F0-4C47-9111-23471A428837}"/>
              </a:ext>
            </a:extLst>
          </p:cNvPr>
          <p:cNvCxnSpPr>
            <a:cxnSpLocks/>
            <a:stCxn id="18" idx="2"/>
            <a:endCxn id="16" idx="0"/>
          </p:cNvCxnSpPr>
          <p:nvPr/>
        </p:nvCxnSpPr>
        <p:spPr>
          <a:xfrm rot="16200000" flipH="1">
            <a:off x="3495060" y="2985629"/>
            <a:ext cx="216968" cy="38951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winkelt 47">
            <a:extLst>
              <a:ext uri="{FF2B5EF4-FFF2-40B4-BE49-F238E27FC236}">
                <a16:creationId xmlns:a16="http://schemas.microsoft.com/office/drawing/2014/main" id="{1D77766E-37C3-4539-8485-07B0498C0144}"/>
              </a:ext>
            </a:extLst>
          </p:cNvPr>
          <p:cNvCxnSpPr>
            <a:cxnSpLocks/>
            <a:stCxn id="18" idx="2"/>
            <a:endCxn id="15" idx="0"/>
          </p:cNvCxnSpPr>
          <p:nvPr/>
        </p:nvCxnSpPr>
        <p:spPr>
          <a:xfrm rot="5400000">
            <a:off x="3107966" y="2983207"/>
            <a:ext cx="212124" cy="38951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Verbinder: gewinkelt 50">
            <a:extLst>
              <a:ext uri="{FF2B5EF4-FFF2-40B4-BE49-F238E27FC236}">
                <a16:creationId xmlns:a16="http://schemas.microsoft.com/office/drawing/2014/main" id="{A8DD1158-910E-4D92-AEBB-FA69A849BE33}"/>
              </a:ext>
            </a:extLst>
          </p:cNvPr>
          <p:cNvCxnSpPr>
            <a:cxnSpLocks/>
            <a:stCxn id="10" idx="2"/>
            <a:endCxn id="20" idx="0"/>
          </p:cNvCxnSpPr>
          <p:nvPr/>
        </p:nvCxnSpPr>
        <p:spPr>
          <a:xfrm rot="16200000" flipH="1">
            <a:off x="5581000" y="2183994"/>
            <a:ext cx="238308" cy="578312"/>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Verbinder: gewinkelt 53">
            <a:extLst>
              <a:ext uri="{FF2B5EF4-FFF2-40B4-BE49-F238E27FC236}">
                <a16:creationId xmlns:a16="http://schemas.microsoft.com/office/drawing/2014/main" id="{C23733A5-7D4A-4051-8543-7E1B4B5D1406}"/>
              </a:ext>
            </a:extLst>
          </p:cNvPr>
          <p:cNvCxnSpPr>
            <a:cxnSpLocks/>
            <a:stCxn id="10" idx="2"/>
            <a:endCxn id="19" idx="0"/>
          </p:cNvCxnSpPr>
          <p:nvPr/>
        </p:nvCxnSpPr>
        <p:spPr>
          <a:xfrm rot="5400000">
            <a:off x="5004810" y="2186116"/>
            <a:ext cx="238309" cy="574068"/>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Verbinder: gewinkelt 56">
            <a:extLst>
              <a:ext uri="{FF2B5EF4-FFF2-40B4-BE49-F238E27FC236}">
                <a16:creationId xmlns:a16="http://schemas.microsoft.com/office/drawing/2014/main" id="{BD84AB33-8BB5-46A9-87C8-CC6ACA48CC1A}"/>
              </a:ext>
            </a:extLst>
          </p:cNvPr>
          <p:cNvCxnSpPr>
            <a:cxnSpLocks/>
            <a:stCxn id="11" idx="2"/>
            <a:endCxn id="23" idx="0"/>
          </p:cNvCxnSpPr>
          <p:nvPr/>
        </p:nvCxnSpPr>
        <p:spPr>
          <a:xfrm rot="16200000" flipH="1">
            <a:off x="8430185" y="2031553"/>
            <a:ext cx="264187" cy="869939"/>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Verbinder: gewinkelt 59">
            <a:extLst>
              <a:ext uri="{FF2B5EF4-FFF2-40B4-BE49-F238E27FC236}">
                <a16:creationId xmlns:a16="http://schemas.microsoft.com/office/drawing/2014/main" id="{EDF115D1-72C1-4C38-96EA-004447B808BC}"/>
              </a:ext>
            </a:extLst>
          </p:cNvPr>
          <p:cNvCxnSpPr>
            <a:cxnSpLocks/>
            <a:stCxn id="11" idx="2"/>
            <a:endCxn id="24" idx="0"/>
          </p:cNvCxnSpPr>
          <p:nvPr/>
        </p:nvCxnSpPr>
        <p:spPr>
          <a:xfrm rot="5400000">
            <a:off x="7689056" y="2160363"/>
            <a:ext cx="264187" cy="612320"/>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7656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6</a:t>
            </a:fld>
            <a:endParaRPr lang="en-US" dirty="0"/>
          </a:p>
        </p:txBody>
      </p:sp>
      <p:sp>
        <p:nvSpPr>
          <p:cNvPr id="4" name="Textplatzhalter 3"/>
          <p:cNvSpPr>
            <a:spLocks noGrp="1"/>
          </p:cNvSpPr>
          <p:nvPr>
            <p:ph type="body" sz="quarter" idx="4294967295"/>
          </p:nvPr>
        </p:nvSpPr>
        <p:spPr>
          <a:xfrm>
            <a:off x="288526" y="184376"/>
            <a:ext cx="8804674" cy="896937"/>
          </a:xfrm>
        </p:spPr>
        <p:txBody>
          <a:bodyPr vert="horz" lIns="0" tIns="45720" rIns="91440" bIns="45720" rtlCol="0" anchor="ctr">
            <a:normAutofit/>
          </a:bodyPr>
          <a:lstStyle/>
          <a:p>
            <a:pPr marL="0" indent="0">
              <a:buNone/>
            </a:pPr>
            <a:r>
              <a:rPr lang="en-US" sz="2100"/>
              <a:t>BEWERTUNGSMETHODEN - MARKTPREISEORIENTIERTE VERFAHREN</a:t>
            </a:r>
            <a:endParaRPr lang="en-US" sz="2100" dirty="0"/>
          </a:p>
        </p:txBody>
      </p:sp>
      <p:sp>
        <p:nvSpPr>
          <p:cNvPr id="30" name="Textplatzhalter 2">
            <a:extLst>
              <a:ext uri="{FF2B5EF4-FFF2-40B4-BE49-F238E27FC236}">
                <a16:creationId xmlns:a16="http://schemas.microsoft.com/office/drawing/2014/main" id="{8EDFAD4A-7937-4FEB-B782-8F861BC63D8C}"/>
              </a:ext>
            </a:extLst>
          </p:cNvPr>
          <p:cNvSpPr txBox="1">
            <a:spLocks/>
          </p:cNvSpPr>
          <p:nvPr/>
        </p:nvSpPr>
        <p:spPr>
          <a:xfrm>
            <a:off x="288526" y="4245424"/>
            <a:ext cx="9395243" cy="2110927"/>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Die Marktpreisorientierten Bewertungsverfahren versuchen den Unternehmens- oder Eigenkapitalwert durch Verwendung aktueller Marktpreise zu erzielen. Dabei skalieren sie eine Bezugsgröße (z.B. der Umsatz oder eine Gewinngröße wie EBIT) des Unternehmens auf am Markt beobachtbare Größen wie die Marktkapitalisierung oder den (operativen) Unternehmenswert (Enterprise Value). Die Marktbeobachtungen leiten sich entweder aus börsennotierten Vergleichsunternehmen oder vergleichbaren Transaktionen in der (näheren) Vergangenheit ab</a:t>
            </a:r>
          </a:p>
          <a:p>
            <a:pPr marL="171450" indent="-171450" algn="just">
              <a:spcBef>
                <a:spcPts val="600"/>
              </a:spcBef>
              <a:buClr>
                <a:srgbClr val="002060"/>
              </a:buClr>
              <a:buFont typeface="Arial" panose="020B0604020202020204" pitchFamily="34" charset="0"/>
              <a:buChar char="•"/>
            </a:pPr>
            <a:r>
              <a:rPr lang="de-DE" sz="1100" dirty="0"/>
              <a:t>Bei den Börsen-Multiplikatoren werden vergleichbare börsennotierte Unternehmen herangezogen und aufgrund deren Marktkapitalisierung und Unternehmens(gesamt)wert sowie Gewinn- oder nichtfinanziellen Größen Rückschlüsse auf den Wert des zu bewertenden Unternehmens gezogen. Die Bewertung bezieht sich dabei grundsätzlich auf Minderheitsanteile am Unternehmen</a:t>
            </a:r>
          </a:p>
          <a:p>
            <a:pPr marL="171450" indent="-171450" algn="just">
              <a:buClr>
                <a:srgbClr val="002060"/>
              </a:buClr>
              <a:buFont typeface="Arial" panose="020B0604020202020204" pitchFamily="34" charset="0"/>
              <a:buChar char="•"/>
            </a:pPr>
            <a:r>
              <a:rPr lang="de-DE" sz="1100" dirty="0"/>
              <a:t>Bei den Transaktions-Multiplikatoren werden diese Rückschlüsse aufgrund (veröffentlichter) gezahlter Preise für Unternehmen und Unternehmensanteile in ähnlicher Form gezogen. Hierbei ist darauf zu achten, ob ein Minderheits- oder ein Mehrheitsanteil (meist Anteile &gt;50%) erworben wurde. Bei Letzterem können Effekte aus erwarteten Synergien oder Kontroll-Zuschläge in das Kalkül einbezogen worden sein</a:t>
            </a:r>
          </a:p>
        </p:txBody>
      </p:sp>
      <p:sp>
        <p:nvSpPr>
          <p:cNvPr id="31" name="Rechteck 30">
            <a:extLst>
              <a:ext uri="{FF2B5EF4-FFF2-40B4-BE49-F238E27FC236}">
                <a16:creationId xmlns:a16="http://schemas.microsoft.com/office/drawing/2014/main" id="{6AA2CBF1-70BF-429A-AE69-733EEB827A9C}"/>
              </a:ext>
            </a:extLst>
          </p:cNvPr>
          <p:cNvSpPr/>
          <p:nvPr/>
        </p:nvSpPr>
        <p:spPr>
          <a:xfrm>
            <a:off x="288526" y="1398709"/>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a:solidFill>
                  <a:srgbClr val="32434D"/>
                </a:solidFill>
              </a:rPr>
              <a:t>Verfahren der Unternehmensbewertung (2 / 3)</a:t>
            </a:r>
          </a:p>
        </p:txBody>
      </p:sp>
      <p:sp>
        <p:nvSpPr>
          <p:cNvPr id="7" name="Rechteck 6">
            <a:extLst>
              <a:ext uri="{FF2B5EF4-FFF2-40B4-BE49-F238E27FC236}">
                <a16:creationId xmlns:a16="http://schemas.microsoft.com/office/drawing/2014/main" id="{5AC678DF-0129-4460-B373-FC5FBC891FF7}"/>
              </a:ext>
            </a:extLst>
          </p:cNvPr>
          <p:cNvSpPr/>
          <p:nvPr/>
        </p:nvSpPr>
        <p:spPr>
          <a:xfrm>
            <a:off x="288526" y="3908642"/>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200" b="1">
                <a:solidFill>
                  <a:srgbClr val="32434D"/>
                </a:solidFill>
              </a:rPr>
              <a:t>Kommentare</a:t>
            </a:r>
          </a:p>
        </p:txBody>
      </p:sp>
      <p:sp>
        <p:nvSpPr>
          <p:cNvPr id="5" name="Rechteck 4">
            <a:extLst>
              <a:ext uri="{FF2B5EF4-FFF2-40B4-BE49-F238E27FC236}">
                <a16:creationId xmlns:a16="http://schemas.microsoft.com/office/drawing/2014/main" id="{DB0101FB-5253-462D-B75C-CAA703AF288B}"/>
              </a:ext>
            </a:extLst>
          </p:cNvPr>
          <p:cNvSpPr/>
          <p:nvPr/>
        </p:nvSpPr>
        <p:spPr>
          <a:xfrm>
            <a:off x="336129" y="2612924"/>
            <a:ext cx="2250149"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Bruttoverfahren</a:t>
            </a:r>
            <a:endParaRPr lang="en-US" sz="1200" dirty="0"/>
          </a:p>
        </p:txBody>
      </p:sp>
      <p:sp>
        <p:nvSpPr>
          <p:cNvPr id="10" name="Rechteck 9">
            <a:extLst>
              <a:ext uri="{FF2B5EF4-FFF2-40B4-BE49-F238E27FC236}">
                <a16:creationId xmlns:a16="http://schemas.microsoft.com/office/drawing/2014/main" id="{AF7DD103-0352-4AB2-9013-EA233C8DB7B5}"/>
              </a:ext>
            </a:extLst>
          </p:cNvPr>
          <p:cNvSpPr/>
          <p:nvPr/>
        </p:nvSpPr>
        <p:spPr>
          <a:xfrm>
            <a:off x="4292990" y="1895017"/>
            <a:ext cx="2236015" cy="46831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Marktpreisorientierte Bewertungsverfahren</a:t>
            </a:r>
            <a:endParaRPr lang="en-US" sz="1200" dirty="0"/>
          </a:p>
        </p:txBody>
      </p:sp>
      <p:sp>
        <p:nvSpPr>
          <p:cNvPr id="11" name="Rechteck 10">
            <a:extLst>
              <a:ext uri="{FF2B5EF4-FFF2-40B4-BE49-F238E27FC236}">
                <a16:creationId xmlns:a16="http://schemas.microsoft.com/office/drawing/2014/main" id="{F5BCFF74-7CF9-4033-A509-4250660E0CB2}"/>
              </a:ext>
            </a:extLst>
          </p:cNvPr>
          <p:cNvSpPr/>
          <p:nvPr/>
        </p:nvSpPr>
        <p:spPr>
          <a:xfrm>
            <a:off x="6677651" y="1875451"/>
            <a:ext cx="2899316"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Substanzwert-verfahren</a:t>
            </a:r>
            <a:endParaRPr lang="en-US" sz="1200" dirty="0"/>
          </a:p>
        </p:txBody>
      </p:sp>
      <p:sp>
        <p:nvSpPr>
          <p:cNvPr id="12" name="Rechteck 11">
            <a:extLst>
              <a:ext uri="{FF2B5EF4-FFF2-40B4-BE49-F238E27FC236}">
                <a16:creationId xmlns:a16="http://schemas.microsoft.com/office/drawing/2014/main" id="{0A8E193B-5F74-4DF2-AE97-3761754B077F}"/>
              </a:ext>
            </a:extLst>
          </p:cNvPr>
          <p:cNvSpPr/>
          <p:nvPr/>
        </p:nvSpPr>
        <p:spPr>
          <a:xfrm>
            <a:off x="336131" y="3279708"/>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WACC</a:t>
            </a:r>
            <a:endParaRPr lang="en-US" sz="1200" dirty="0"/>
          </a:p>
        </p:txBody>
      </p:sp>
      <p:sp>
        <p:nvSpPr>
          <p:cNvPr id="13" name="Rechteck 12">
            <a:extLst>
              <a:ext uri="{FF2B5EF4-FFF2-40B4-BE49-F238E27FC236}">
                <a16:creationId xmlns:a16="http://schemas.microsoft.com/office/drawing/2014/main" id="{A8248CC7-EC46-4252-AB71-C63094FB44CA}"/>
              </a:ext>
            </a:extLst>
          </p:cNvPr>
          <p:cNvSpPr/>
          <p:nvPr/>
        </p:nvSpPr>
        <p:spPr>
          <a:xfrm>
            <a:off x="1115163" y="3279707"/>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APV</a:t>
            </a:r>
            <a:endParaRPr lang="en-US" sz="1200" dirty="0"/>
          </a:p>
        </p:txBody>
      </p:sp>
      <p:sp>
        <p:nvSpPr>
          <p:cNvPr id="14" name="Rechteck 13">
            <a:extLst>
              <a:ext uri="{FF2B5EF4-FFF2-40B4-BE49-F238E27FC236}">
                <a16:creationId xmlns:a16="http://schemas.microsoft.com/office/drawing/2014/main" id="{3A5B6D71-2865-4140-858F-18A73BA2D3CB}"/>
              </a:ext>
            </a:extLst>
          </p:cNvPr>
          <p:cNvSpPr/>
          <p:nvPr/>
        </p:nvSpPr>
        <p:spPr>
          <a:xfrm>
            <a:off x="1894195" y="3279708"/>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TCF</a:t>
            </a:r>
            <a:endParaRPr lang="en-US" sz="1200" dirty="0"/>
          </a:p>
        </p:txBody>
      </p:sp>
      <p:sp>
        <p:nvSpPr>
          <p:cNvPr id="15" name="Rechteck 14">
            <a:extLst>
              <a:ext uri="{FF2B5EF4-FFF2-40B4-BE49-F238E27FC236}">
                <a16:creationId xmlns:a16="http://schemas.microsoft.com/office/drawing/2014/main" id="{487F780B-A461-4B3D-9BBB-6628C717A2FB}"/>
              </a:ext>
            </a:extLst>
          </p:cNvPr>
          <p:cNvSpPr/>
          <p:nvPr/>
        </p:nvSpPr>
        <p:spPr>
          <a:xfrm>
            <a:off x="2673227" y="3293362"/>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FTE</a:t>
            </a:r>
            <a:endParaRPr lang="en-US" sz="1200" dirty="0"/>
          </a:p>
        </p:txBody>
      </p:sp>
      <p:sp>
        <p:nvSpPr>
          <p:cNvPr id="16" name="Rechteck 15">
            <a:extLst>
              <a:ext uri="{FF2B5EF4-FFF2-40B4-BE49-F238E27FC236}">
                <a16:creationId xmlns:a16="http://schemas.microsoft.com/office/drawing/2014/main" id="{4361843B-07EA-4668-BE08-A9040E73FB72}"/>
              </a:ext>
            </a:extLst>
          </p:cNvPr>
          <p:cNvSpPr/>
          <p:nvPr/>
        </p:nvSpPr>
        <p:spPr>
          <a:xfrm>
            <a:off x="3452260" y="3298206"/>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Ertrags-wert</a:t>
            </a:r>
            <a:endParaRPr lang="en-US" sz="1200" dirty="0"/>
          </a:p>
        </p:txBody>
      </p:sp>
      <p:sp>
        <p:nvSpPr>
          <p:cNvPr id="17" name="Rechteck 16">
            <a:extLst>
              <a:ext uri="{FF2B5EF4-FFF2-40B4-BE49-F238E27FC236}">
                <a16:creationId xmlns:a16="http://schemas.microsoft.com/office/drawing/2014/main" id="{905CD6AE-4795-43E8-8D93-683E09913F54}"/>
              </a:ext>
            </a:extLst>
          </p:cNvPr>
          <p:cNvSpPr/>
          <p:nvPr/>
        </p:nvSpPr>
        <p:spPr>
          <a:xfrm>
            <a:off x="336129" y="1895017"/>
            <a:ext cx="380821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Zukunftserfolgsverfahren</a:t>
            </a:r>
            <a:endParaRPr lang="en-US" sz="1200" dirty="0"/>
          </a:p>
        </p:txBody>
      </p:sp>
      <p:sp>
        <p:nvSpPr>
          <p:cNvPr id="18" name="Rechteck 17">
            <a:extLst>
              <a:ext uri="{FF2B5EF4-FFF2-40B4-BE49-F238E27FC236}">
                <a16:creationId xmlns:a16="http://schemas.microsoft.com/office/drawing/2014/main" id="{741C8A16-75EA-4551-AA6D-E96AE28C167E}"/>
              </a:ext>
            </a:extLst>
          </p:cNvPr>
          <p:cNvSpPr/>
          <p:nvPr/>
        </p:nvSpPr>
        <p:spPr>
          <a:xfrm>
            <a:off x="2673227" y="2612924"/>
            <a:ext cx="1471117"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Nettoverfahren</a:t>
            </a:r>
            <a:endParaRPr lang="en-US" sz="1200" dirty="0"/>
          </a:p>
        </p:txBody>
      </p:sp>
      <p:sp>
        <p:nvSpPr>
          <p:cNvPr id="19" name="Rechteck 18">
            <a:extLst>
              <a:ext uri="{FF2B5EF4-FFF2-40B4-BE49-F238E27FC236}">
                <a16:creationId xmlns:a16="http://schemas.microsoft.com/office/drawing/2014/main" id="{F22B6048-4D85-4E4F-90D8-08C05517F673}"/>
              </a:ext>
            </a:extLst>
          </p:cNvPr>
          <p:cNvSpPr/>
          <p:nvPr/>
        </p:nvSpPr>
        <p:spPr>
          <a:xfrm>
            <a:off x="4297235" y="2601640"/>
            <a:ext cx="1079390"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Börsen-Multiples</a:t>
            </a:r>
            <a:endParaRPr lang="en-US" sz="1200" dirty="0"/>
          </a:p>
        </p:txBody>
      </p:sp>
      <p:sp>
        <p:nvSpPr>
          <p:cNvPr id="20" name="Rechteck 19">
            <a:extLst>
              <a:ext uri="{FF2B5EF4-FFF2-40B4-BE49-F238E27FC236}">
                <a16:creationId xmlns:a16="http://schemas.microsoft.com/office/drawing/2014/main" id="{91463010-75D4-497E-B696-4B152EFACD01}"/>
              </a:ext>
            </a:extLst>
          </p:cNvPr>
          <p:cNvSpPr/>
          <p:nvPr/>
        </p:nvSpPr>
        <p:spPr>
          <a:xfrm>
            <a:off x="5449615" y="2601639"/>
            <a:ext cx="1079390"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Transaktions-multiples</a:t>
            </a:r>
            <a:endParaRPr lang="en-US" sz="1200" dirty="0"/>
          </a:p>
        </p:txBody>
      </p:sp>
      <p:sp>
        <p:nvSpPr>
          <p:cNvPr id="23" name="Rechteck 22">
            <a:extLst>
              <a:ext uri="{FF2B5EF4-FFF2-40B4-BE49-F238E27FC236}">
                <a16:creationId xmlns:a16="http://schemas.microsoft.com/office/drawing/2014/main" id="{D79BC82A-10F6-4D62-A931-D5E79434ACE8}"/>
              </a:ext>
            </a:extLst>
          </p:cNvPr>
          <p:cNvSpPr/>
          <p:nvPr/>
        </p:nvSpPr>
        <p:spPr>
          <a:xfrm>
            <a:off x="8417528" y="2598617"/>
            <a:ext cx="1159439"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t>Liquidations-wert</a:t>
            </a:r>
            <a:endParaRPr lang="en-US" sz="1200" dirty="0"/>
          </a:p>
        </p:txBody>
      </p:sp>
      <p:sp>
        <p:nvSpPr>
          <p:cNvPr id="24" name="Rechteck 23">
            <a:extLst>
              <a:ext uri="{FF2B5EF4-FFF2-40B4-BE49-F238E27FC236}">
                <a16:creationId xmlns:a16="http://schemas.microsoft.com/office/drawing/2014/main" id="{1DC99A6E-9D17-4F3A-87EE-33BEE7DFEB72}"/>
              </a:ext>
            </a:extLst>
          </p:cNvPr>
          <p:cNvSpPr/>
          <p:nvPr/>
        </p:nvSpPr>
        <p:spPr>
          <a:xfrm>
            <a:off x="6677651" y="2598617"/>
            <a:ext cx="167467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t>Wiederbeschaffungs-wert</a:t>
            </a:r>
            <a:endParaRPr lang="en-US" sz="1200" dirty="0"/>
          </a:p>
        </p:txBody>
      </p:sp>
      <p:cxnSp>
        <p:nvCxnSpPr>
          <p:cNvPr id="21" name="Verbinder: gewinkelt 20">
            <a:extLst>
              <a:ext uri="{FF2B5EF4-FFF2-40B4-BE49-F238E27FC236}">
                <a16:creationId xmlns:a16="http://schemas.microsoft.com/office/drawing/2014/main" id="{F4643906-52E7-49FB-8C96-249C7CFE5BBA}"/>
              </a:ext>
            </a:extLst>
          </p:cNvPr>
          <p:cNvCxnSpPr>
            <a:cxnSpLocks/>
          </p:cNvCxnSpPr>
          <p:nvPr/>
        </p:nvCxnSpPr>
        <p:spPr>
          <a:xfrm rot="16200000" flipH="1">
            <a:off x="2699715" y="1894517"/>
            <a:ext cx="249593" cy="1168549"/>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Verbinder: gewinkelt 21">
            <a:extLst>
              <a:ext uri="{FF2B5EF4-FFF2-40B4-BE49-F238E27FC236}">
                <a16:creationId xmlns:a16="http://schemas.microsoft.com/office/drawing/2014/main" id="{1825AC0F-F299-4015-80C5-EE144788D86B}"/>
              </a:ext>
            </a:extLst>
          </p:cNvPr>
          <p:cNvCxnSpPr>
            <a:cxnSpLocks/>
          </p:cNvCxnSpPr>
          <p:nvPr/>
        </p:nvCxnSpPr>
        <p:spPr>
          <a:xfrm rot="5400000">
            <a:off x="1725925" y="2089276"/>
            <a:ext cx="249593" cy="779033"/>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Verbinder: gewinkelt 24">
            <a:extLst>
              <a:ext uri="{FF2B5EF4-FFF2-40B4-BE49-F238E27FC236}">
                <a16:creationId xmlns:a16="http://schemas.microsoft.com/office/drawing/2014/main" id="{9D651F8D-CB50-413B-AE8C-5037A1C47CFE}"/>
              </a:ext>
            </a:extLst>
          </p:cNvPr>
          <p:cNvCxnSpPr>
            <a:cxnSpLocks/>
          </p:cNvCxnSpPr>
          <p:nvPr/>
        </p:nvCxnSpPr>
        <p:spPr>
          <a:xfrm rot="5400000">
            <a:off x="972454" y="2781623"/>
            <a:ext cx="198470" cy="779031"/>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23D63B40-901C-4176-AFED-252F19681E05}"/>
              </a:ext>
            </a:extLst>
          </p:cNvPr>
          <p:cNvCxnSpPr>
            <a:cxnSpLocks/>
          </p:cNvCxnSpPr>
          <p:nvPr/>
        </p:nvCxnSpPr>
        <p:spPr>
          <a:xfrm rot="16200000" flipH="1">
            <a:off x="1751485" y="2781621"/>
            <a:ext cx="198470" cy="779033"/>
          </a:xfrm>
          <a:prstGeom prst="bentConnector3">
            <a:avLst>
              <a:gd name="adj1" fmla="val 50000"/>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winkelt 26">
            <a:extLst>
              <a:ext uri="{FF2B5EF4-FFF2-40B4-BE49-F238E27FC236}">
                <a16:creationId xmlns:a16="http://schemas.microsoft.com/office/drawing/2014/main" id="{26785598-2EEB-4BFD-8013-83FF9804BF96}"/>
              </a:ext>
            </a:extLst>
          </p:cNvPr>
          <p:cNvCxnSpPr>
            <a:cxnSpLocks/>
          </p:cNvCxnSpPr>
          <p:nvPr/>
        </p:nvCxnSpPr>
        <p:spPr>
          <a:xfrm rot="16200000" flipH="1">
            <a:off x="3495060" y="2985629"/>
            <a:ext cx="216968" cy="389516"/>
          </a:xfrm>
          <a:prstGeom prst="bentConnector3">
            <a:avLst>
              <a:gd name="adj1" fmla="val 50000"/>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winkelt 27">
            <a:extLst>
              <a:ext uri="{FF2B5EF4-FFF2-40B4-BE49-F238E27FC236}">
                <a16:creationId xmlns:a16="http://schemas.microsoft.com/office/drawing/2014/main" id="{0CFA960E-1BBC-43C5-AC04-2886896D0DE2}"/>
              </a:ext>
            </a:extLst>
          </p:cNvPr>
          <p:cNvCxnSpPr>
            <a:cxnSpLocks/>
          </p:cNvCxnSpPr>
          <p:nvPr/>
        </p:nvCxnSpPr>
        <p:spPr>
          <a:xfrm rot="5400000">
            <a:off x="3107966" y="2983207"/>
            <a:ext cx="212124" cy="389517"/>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9E306756-D229-4190-A041-77508341D105}"/>
              </a:ext>
            </a:extLst>
          </p:cNvPr>
          <p:cNvCxnSpPr>
            <a:cxnSpLocks/>
          </p:cNvCxnSpPr>
          <p:nvPr/>
        </p:nvCxnSpPr>
        <p:spPr>
          <a:xfrm rot="16200000" flipH="1">
            <a:off x="5581000" y="2183994"/>
            <a:ext cx="238308" cy="5783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winkelt 31">
            <a:extLst>
              <a:ext uri="{FF2B5EF4-FFF2-40B4-BE49-F238E27FC236}">
                <a16:creationId xmlns:a16="http://schemas.microsoft.com/office/drawing/2014/main" id="{1642D806-89F5-40D9-844C-EEB815DC2668}"/>
              </a:ext>
            </a:extLst>
          </p:cNvPr>
          <p:cNvCxnSpPr>
            <a:cxnSpLocks/>
          </p:cNvCxnSpPr>
          <p:nvPr/>
        </p:nvCxnSpPr>
        <p:spPr>
          <a:xfrm rot="5400000">
            <a:off x="5004810" y="2186116"/>
            <a:ext cx="238309" cy="5740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winkelt 32">
            <a:extLst>
              <a:ext uri="{FF2B5EF4-FFF2-40B4-BE49-F238E27FC236}">
                <a16:creationId xmlns:a16="http://schemas.microsoft.com/office/drawing/2014/main" id="{CDA4D5EE-BD53-4EF9-BA36-28C5CEAAD017}"/>
              </a:ext>
            </a:extLst>
          </p:cNvPr>
          <p:cNvCxnSpPr>
            <a:cxnSpLocks/>
          </p:cNvCxnSpPr>
          <p:nvPr/>
        </p:nvCxnSpPr>
        <p:spPr>
          <a:xfrm rot="16200000" flipH="1">
            <a:off x="8430185" y="2031553"/>
            <a:ext cx="264187" cy="869939"/>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winkelt 33">
            <a:extLst>
              <a:ext uri="{FF2B5EF4-FFF2-40B4-BE49-F238E27FC236}">
                <a16:creationId xmlns:a16="http://schemas.microsoft.com/office/drawing/2014/main" id="{D87971DE-C2D1-42B9-8605-ED0551546556}"/>
              </a:ext>
            </a:extLst>
          </p:cNvPr>
          <p:cNvCxnSpPr>
            <a:cxnSpLocks/>
          </p:cNvCxnSpPr>
          <p:nvPr/>
        </p:nvCxnSpPr>
        <p:spPr>
          <a:xfrm rot="5400000">
            <a:off x="7689056" y="2160363"/>
            <a:ext cx="264187" cy="612320"/>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Verbinder: gewinkelt 5">
            <a:extLst>
              <a:ext uri="{FF2B5EF4-FFF2-40B4-BE49-F238E27FC236}">
                <a16:creationId xmlns:a16="http://schemas.microsoft.com/office/drawing/2014/main" id="{A09AF333-37DB-432E-A1D7-AB2985341B86}"/>
              </a:ext>
            </a:extLst>
          </p:cNvPr>
          <p:cNvCxnSpPr>
            <a:cxnSpLocks/>
            <a:stCxn id="5" idx="2"/>
            <a:endCxn id="13" idx="0"/>
          </p:cNvCxnSpPr>
          <p:nvPr/>
        </p:nvCxnSpPr>
        <p:spPr>
          <a:xfrm rot="16200000" flipH="1">
            <a:off x="1361970" y="3180471"/>
            <a:ext cx="198469" cy="1"/>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295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7</a:t>
            </a:fld>
            <a:endParaRPr lang="en-US" dirty="0"/>
          </a:p>
        </p:txBody>
      </p:sp>
      <p:sp>
        <p:nvSpPr>
          <p:cNvPr id="4" name="Textplatzhalter 3"/>
          <p:cNvSpPr>
            <a:spLocks noGrp="1"/>
          </p:cNvSpPr>
          <p:nvPr>
            <p:ph type="body" sz="quarter" idx="4294967295"/>
          </p:nvPr>
        </p:nvSpPr>
        <p:spPr>
          <a:xfrm>
            <a:off x="288526" y="184376"/>
            <a:ext cx="8804674" cy="896937"/>
          </a:xfrm>
        </p:spPr>
        <p:txBody>
          <a:bodyPr vert="horz" lIns="0" tIns="45720" rIns="91440" bIns="45720" rtlCol="0" anchor="ctr">
            <a:normAutofit/>
          </a:bodyPr>
          <a:lstStyle/>
          <a:p>
            <a:pPr marL="0" indent="0">
              <a:buNone/>
            </a:pPr>
            <a:r>
              <a:rPr lang="en-US" sz="2100"/>
              <a:t>BEWERTUNGSMETHODEN - SUBSTANZWERTVERFAHREN</a:t>
            </a:r>
            <a:endParaRPr lang="en-US" sz="2100" dirty="0"/>
          </a:p>
        </p:txBody>
      </p:sp>
      <p:sp>
        <p:nvSpPr>
          <p:cNvPr id="31" name="Rechteck 30">
            <a:extLst>
              <a:ext uri="{FF2B5EF4-FFF2-40B4-BE49-F238E27FC236}">
                <a16:creationId xmlns:a16="http://schemas.microsoft.com/office/drawing/2014/main" id="{6AA2CBF1-70BF-429A-AE69-733EEB827A9C}"/>
              </a:ext>
            </a:extLst>
          </p:cNvPr>
          <p:cNvSpPr/>
          <p:nvPr/>
        </p:nvSpPr>
        <p:spPr>
          <a:xfrm>
            <a:off x="288526" y="1398709"/>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Verfahren der Unternehmensbewertung (3 / 3)</a:t>
            </a:r>
          </a:p>
        </p:txBody>
      </p:sp>
      <p:sp>
        <p:nvSpPr>
          <p:cNvPr id="7" name="Rechteck 6">
            <a:extLst>
              <a:ext uri="{FF2B5EF4-FFF2-40B4-BE49-F238E27FC236}">
                <a16:creationId xmlns:a16="http://schemas.microsoft.com/office/drawing/2014/main" id="{5AC678DF-0129-4460-B373-FC5FBC891FF7}"/>
              </a:ext>
            </a:extLst>
          </p:cNvPr>
          <p:cNvSpPr/>
          <p:nvPr/>
        </p:nvSpPr>
        <p:spPr>
          <a:xfrm>
            <a:off x="288526" y="3908642"/>
            <a:ext cx="932992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200" b="1" dirty="0">
                <a:solidFill>
                  <a:srgbClr val="32434D"/>
                </a:solidFill>
              </a:rPr>
              <a:t>Kommentare</a:t>
            </a:r>
          </a:p>
        </p:txBody>
      </p:sp>
      <p:sp>
        <p:nvSpPr>
          <p:cNvPr id="5" name="Rechteck 4">
            <a:extLst>
              <a:ext uri="{FF2B5EF4-FFF2-40B4-BE49-F238E27FC236}">
                <a16:creationId xmlns:a16="http://schemas.microsoft.com/office/drawing/2014/main" id="{DB0101FB-5253-462D-B75C-CAA703AF288B}"/>
              </a:ext>
            </a:extLst>
          </p:cNvPr>
          <p:cNvSpPr/>
          <p:nvPr/>
        </p:nvSpPr>
        <p:spPr>
          <a:xfrm>
            <a:off x="336129" y="2612924"/>
            <a:ext cx="2250149"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Bruttoverfahren</a:t>
            </a:r>
            <a:endParaRPr lang="en-US" sz="1200" dirty="0"/>
          </a:p>
        </p:txBody>
      </p:sp>
      <p:sp>
        <p:nvSpPr>
          <p:cNvPr id="10" name="Rechteck 9">
            <a:extLst>
              <a:ext uri="{FF2B5EF4-FFF2-40B4-BE49-F238E27FC236}">
                <a16:creationId xmlns:a16="http://schemas.microsoft.com/office/drawing/2014/main" id="{AF7DD103-0352-4AB2-9013-EA233C8DB7B5}"/>
              </a:ext>
            </a:extLst>
          </p:cNvPr>
          <p:cNvSpPr/>
          <p:nvPr/>
        </p:nvSpPr>
        <p:spPr>
          <a:xfrm>
            <a:off x="4292990" y="1895017"/>
            <a:ext cx="223601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Marktpreisorientierte Bewertungsverfahren</a:t>
            </a:r>
            <a:endParaRPr lang="en-US" sz="1200" dirty="0"/>
          </a:p>
        </p:txBody>
      </p:sp>
      <p:sp>
        <p:nvSpPr>
          <p:cNvPr id="11" name="Rechteck 10">
            <a:extLst>
              <a:ext uri="{FF2B5EF4-FFF2-40B4-BE49-F238E27FC236}">
                <a16:creationId xmlns:a16="http://schemas.microsoft.com/office/drawing/2014/main" id="{F5BCFF74-7CF9-4033-A509-4250660E0CB2}"/>
              </a:ext>
            </a:extLst>
          </p:cNvPr>
          <p:cNvSpPr/>
          <p:nvPr/>
        </p:nvSpPr>
        <p:spPr>
          <a:xfrm>
            <a:off x="6677651" y="1875451"/>
            <a:ext cx="2899316" cy="46831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Substanzwert-Verfahren</a:t>
            </a:r>
          </a:p>
        </p:txBody>
      </p:sp>
      <p:sp>
        <p:nvSpPr>
          <p:cNvPr id="12" name="Rechteck 11">
            <a:extLst>
              <a:ext uri="{FF2B5EF4-FFF2-40B4-BE49-F238E27FC236}">
                <a16:creationId xmlns:a16="http://schemas.microsoft.com/office/drawing/2014/main" id="{0A8E193B-5F74-4DF2-AE97-3761754B077F}"/>
              </a:ext>
            </a:extLst>
          </p:cNvPr>
          <p:cNvSpPr/>
          <p:nvPr/>
        </p:nvSpPr>
        <p:spPr>
          <a:xfrm>
            <a:off x="336131" y="3279708"/>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WACC</a:t>
            </a:r>
            <a:endParaRPr lang="en-US" sz="1200" dirty="0"/>
          </a:p>
        </p:txBody>
      </p:sp>
      <p:sp>
        <p:nvSpPr>
          <p:cNvPr id="13" name="Rechteck 12">
            <a:extLst>
              <a:ext uri="{FF2B5EF4-FFF2-40B4-BE49-F238E27FC236}">
                <a16:creationId xmlns:a16="http://schemas.microsoft.com/office/drawing/2014/main" id="{A8248CC7-EC46-4252-AB71-C63094FB44CA}"/>
              </a:ext>
            </a:extLst>
          </p:cNvPr>
          <p:cNvSpPr/>
          <p:nvPr/>
        </p:nvSpPr>
        <p:spPr>
          <a:xfrm>
            <a:off x="1115163" y="3279707"/>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APV</a:t>
            </a:r>
            <a:endParaRPr lang="en-US" sz="1200" dirty="0"/>
          </a:p>
        </p:txBody>
      </p:sp>
      <p:sp>
        <p:nvSpPr>
          <p:cNvPr id="14" name="Rechteck 13">
            <a:extLst>
              <a:ext uri="{FF2B5EF4-FFF2-40B4-BE49-F238E27FC236}">
                <a16:creationId xmlns:a16="http://schemas.microsoft.com/office/drawing/2014/main" id="{3A5B6D71-2865-4140-858F-18A73BA2D3CB}"/>
              </a:ext>
            </a:extLst>
          </p:cNvPr>
          <p:cNvSpPr/>
          <p:nvPr/>
        </p:nvSpPr>
        <p:spPr>
          <a:xfrm>
            <a:off x="1894195" y="3279708"/>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TCF</a:t>
            </a:r>
            <a:endParaRPr lang="en-US" sz="1200" dirty="0"/>
          </a:p>
        </p:txBody>
      </p:sp>
      <p:sp>
        <p:nvSpPr>
          <p:cNvPr id="15" name="Rechteck 14">
            <a:extLst>
              <a:ext uri="{FF2B5EF4-FFF2-40B4-BE49-F238E27FC236}">
                <a16:creationId xmlns:a16="http://schemas.microsoft.com/office/drawing/2014/main" id="{487F780B-A461-4B3D-9BBB-6628C717A2FB}"/>
              </a:ext>
            </a:extLst>
          </p:cNvPr>
          <p:cNvSpPr/>
          <p:nvPr/>
        </p:nvSpPr>
        <p:spPr>
          <a:xfrm>
            <a:off x="2673227" y="3293362"/>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FTE</a:t>
            </a:r>
            <a:endParaRPr lang="en-US" sz="1200" dirty="0"/>
          </a:p>
        </p:txBody>
      </p:sp>
      <p:sp>
        <p:nvSpPr>
          <p:cNvPr id="16" name="Rechteck 15">
            <a:extLst>
              <a:ext uri="{FF2B5EF4-FFF2-40B4-BE49-F238E27FC236}">
                <a16:creationId xmlns:a16="http://schemas.microsoft.com/office/drawing/2014/main" id="{4361843B-07EA-4668-BE08-A9040E73FB72}"/>
              </a:ext>
            </a:extLst>
          </p:cNvPr>
          <p:cNvSpPr/>
          <p:nvPr/>
        </p:nvSpPr>
        <p:spPr>
          <a:xfrm>
            <a:off x="3452260" y="3298206"/>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Ertrags-wert</a:t>
            </a:r>
            <a:endParaRPr lang="en-US" sz="1200" dirty="0"/>
          </a:p>
        </p:txBody>
      </p:sp>
      <p:sp>
        <p:nvSpPr>
          <p:cNvPr id="17" name="Rechteck 16">
            <a:extLst>
              <a:ext uri="{FF2B5EF4-FFF2-40B4-BE49-F238E27FC236}">
                <a16:creationId xmlns:a16="http://schemas.microsoft.com/office/drawing/2014/main" id="{905CD6AE-4795-43E8-8D93-683E09913F54}"/>
              </a:ext>
            </a:extLst>
          </p:cNvPr>
          <p:cNvSpPr/>
          <p:nvPr/>
        </p:nvSpPr>
        <p:spPr>
          <a:xfrm>
            <a:off x="336129" y="1895017"/>
            <a:ext cx="380821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Zukunftserfolgsverfahren</a:t>
            </a:r>
            <a:endParaRPr lang="en-US" sz="1200" dirty="0"/>
          </a:p>
        </p:txBody>
      </p:sp>
      <p:sp>
        <p:nvSpPr>
          <p:cNvPr id="18" name="Rechteck 17">
            <a:extLst>
              <a:ext uri="{FF2B5EF4-FFF2-40B4-BE49-F238E27FC236}">
                <a16:creationId xmlns:a16="http://schemas.microsoft.com/office/drawing/2014/main" id="{741C8A16-75EA-4551-AA6D-E96AE28C167E}"/>
              </a:ext>
            </a:extLst>
          </p:cNvPr>
          <p:cNvSpPr/>
          <p:nvPr/>
        </p:nvSpPr>
        <p:spPr>
          <a:xfrm>
            <a:off x="2673227" y="2612924"/>
            <a:ext cx="1471117"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Nettoverfahren</a:t>
            </a:r>
            <a:endParaRPr lang="en-US" sz="1200" dirty="0"/>
          </a:p>
        </p:txBody>
      </p:sp>
      <p:sp>
        <p:nvSpPr>
          <p:cNvPr id="19" name="Rechteck 18">
            <a:extLst>
              <a:ext uri="{FF2B5EF4-FFF2-40B4-BE49-F238E27FC236}">
                <a16:creationId xmlns:a16="http://schemas.microsoft.com/office/drawing/2014/main" id="{F22B6048-4D85-4E4F-90D8-08C05517F673}"/>
              </a:ext>
            </a:extLst>
          </p:cNvPr>
          <p:cNvSpPr/>
          <p:nvPr/>
        </p:nvSpPr>
        <p:spPr>
          <a:xfrm>
            <a:off x="4297235" y="2601640"/>
            <a:ext cx="1079390"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Börsen-Multiples</a:t>
            </a:r>
            <a:endParaRPr lang="en-US" sz="1200" dirty="0"/>
          </a:p>
        </p:txBody>
      </p:sp>
      <p:sp>
        <p:nvSpPr>
          <p:cNvPr id="20" name="Rechteck 19">
            <a:extLst>
              <a:ext uri="{FF2B5EF4-FFF2-40B4-BE49-F238E27FC236}">
                <a16:creationId xmlns:a16="http://schemas.microsoft.com/office/drawing/2014/main" id="{91463010-75D4-497E-B696-4B152EFACD01}"/>
              </a:ext>
            </a:extLst>
          </p:cNvPr>
          <p:cNvSpPr/>
          <p:nvPr/>
        </p:nvSpPr>
        <p:spPr>
          <a:xfrm>
            <a:off x="5449615" y="2601639"/>
            <a:ext cx="1079390"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Transaktions-multiples</a:t>
            </a:r>
            <a:endParaRPr lang="en-US" sz="1200" dirty="0"/>
          </a:p>
        </p:txBody>
      </p:sp>
      <p:sp>
        <p:nvSpPr>
          <p:cNvPr id="21" name="Rechteck 20">
            <a:extLst>
              <a:ext uri="{FF2B5EF4-FFF2-40B4-BE49-F238E27FC236}">
                <a16:creationId xmlns:a16="http://schemas.microsoft.com/office/drawing/2014/main" id="{0BD3BEEC-A067-4EE3-A834-CC2B54A058C0}"/>
              </a:ext>
            </a:extLst>
          </p:cNvPr>
          <p:cNvSpPr/>
          <p:nvPr/>
        </p:nvSpPr>
        <p:spPr>
          <a:xfrm>
            <a:off x="8417528" y="2598617"/>
            <a:ext cx="1159439" cy="46831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t>Liquidations-wert</a:t>
            </a:r>
            <a:endParaRPr lang="en-US" sz="1200" dirty="0"/>
          </a:p>
        </p:txBody>
      </p:sp>
      <p:sp>
        <p:nvSpPr>
          <p:cNvPr id="22" name="Rechteck 21">
            <a:extLst>
              <a:ext uri="{FF2B5EF4-FFF2-40B4-BE49-F238E27FC236}">
                <a16:creationId xmlns:a16="http://schemas.microsoft.com/office/drawing/2014/main" id="{4D691AF8-9E0A-4F15-905D-AA2919DDDC54}"/>
              </a:ext>
            </a:extLst>
          </p:cNvPr>
          <p:cNvSpPr/>
          <p:nvPr/>
        </p:nvSpPr>
        <p:spPr>
          <a:xfrm>
            <a:off x="6677651" y="2598617"/>
            <a:ext cx="1674675" cy="46831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200" dirty="0"/>
              <a:t>Wiederbeschaffungs-wert</a:t>
            </a:r>
          </a:p>
        </p:txBody>
      </p:sp>
      <p:cxnSp>
        <p:nvCxnSpPr>
          <p:cNvPr id="23" name="Verbinder: gewinkelt 22">
            <a:extLst>
              <a:ext uri="{FF2B5EF4-FFF2-40B4-BE49-F238E27FC236}">
                <a16:creationId xmlns:a16="http://schemas.microsoft.com/office/drawing/2014/main" id="{9A400DB9-DDC9-4224-A0DD-087FEBF45B0C}"/>
              </a:ext>
            </a:extLst>
          </p:cNvPr>
          <p:cNvCxnSpPr>
            <a:cxnSpLocks/>
          </p:cNvCxnSpPr>
          <p:nvPr/>
        </p:nvCxnSpPr>
        <p:spPr>
          <a:xfrm rot="16200000" flipH="1">
            <a:off x="2699715" y="1894517"/>
            <a:ext cx="249593" cy="1168549"/>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Verbinder: gewinkelt 23">
            <a:extLst>
              <a:ext uri="{FF2B5EF4-FFF2-40B4-BE49-F238E27FC236}">
                <a16:creationId xmlns:a16="http://schemas.microsoft.com/office/drawing/2014/main" id="{7A015111-140C-4629-8253-9399F7901137}"/>
              </a:ext>
            </a:extLst>
          </p:cNvPr>
          <p:cNvCxnSpPr>
            <a:cxnSpLocks/>
          </p:cNvCxnSpPr>
          <p:nvPr/>
        </p:nvCxnSpPr>
        <p:spPr>
          <a:xfrm rot="5400000">
            <a:off x="1725925" y="2089276"/>
            <a:ext cx="249593" cy="779033"/>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Verbinder: gewinkelt 24">
            <a:extLst>
              <a:ext uri="{FF2B5EF4-FFF2-40B4-BE49-F238E27FC236}">
                <a16:creationId xmlns:a16="http://schemas.microsoft.com/office/drawing/2014/main" id="{9823AD14-0885-4387-AD77-D696C3F05AEF}"/>
              </a:ext>
            </a:extLst>
          </p:cNvPr>
          <p:cNvCxnSpPr>
            <a:cxnSpLocks/>
          </p:cNvCxnSpPr>
          <p:nvPr/>
        </p:nvCxnSpPr>
        <p:spPr>
          <a:xfrm rot="5400000">
            <a:off x="972454" y="2781623"/>
            <a:ext cx="198470" cy="779031"/>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FE875201-CD12-438A-A228-109990382DE9}"/>
              </a:ext>
            </a:extLst>
          </p:cNvPr>
          <p:cNvCxnSpPr>
            <a:cxnSpLocks/>
          </p:cNvCxnSpPr>
          <p:nvPr/>
        </p:nvCxnSpPr>
        <p:spPr>
          <a:xfrm rot="16200000" flipH="1">
            <a:off x="1751485" y="2781621"/>
            <a:ext cx="198470" cy="779033"/>
          </a:xfrm>
          <a:prstGeom prst="bentConnector3">
            <a:avLst>
              <a:gd name="adj1" fmla="val 50000"/>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Verbinder: gewinkelt 26">
            <a:extLst>
              <a:ext uri="{FF2B5EF4-FFF2-40B4-BE49-F238E27FC236}">
                <a16:creationId xmlns:a16="http://schemas.microsoft.com/office/drawing/2014/main" id="{D1C2534D-6479-4D46-B1EB-84DA2729766B}"/>
              </a:ext>
            </a:extLst>
          </p:cNvPr>
          <p:cNvCxnSpPr>
            <a:cxnSpLocks/>
          </p:cNvCxnSpPr>
          <p:nvPr/>
        </p:nvCxnSpPr>
        <p:spPr>
          <a:xfrm rot="16200000" flipH="1">
            <a:off x="3495060" y="2985629"/>
            <a:ext cx="216968" cy="389516"/>
          </a:xfrm>
          <a:prstGeom prst="bentConnector3">
            <a:avLst>
              <a:gd name="adj1" fmla="val 50000"/>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Verbinder: gewinkelt 27">
            <a:extLst>
              <a:ext uri="{FF2B5EF4-FFF2-40B4-BE49-F238E27FC236}">
                <a16:creationId xmlns:a16="http://schemas.microsoft.com/office/drawing/2014/main" id="{698F90D4-6D18-4D04-BA6A-FC02BFE57486}"/>
              </a:ext>
            </a:extLst>
          </p:cNvPr>
          <p:cNvCxnSpPr>
            <a:cxnSpLocks/>
          </p:cNvCxnSpPr>
          <p:nvPr/>
        </p:nvCxnSpPr>
        <p:spPr>
          <a:xfrm rot="5400000">
            <a:off x="3107966" y="2983207"/>
            <a:ext cx="212124" cy="389517"/>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96BD05B5-2C4C-4143-8F0D-0DEDFF530148}"/>
              </a:ext>
            </a:extLst>
          </p:cNvPr>
          <p:cNvCxnSpPr>
            <a:cxnSpLocks/>
          </p:cNvCxnSpPr>
          <p:nvPr/>
        </p:nvCxnSpPr>
        <p:spPr>
          <a:xfrm rot="16200000" flipH="1">
            <a:off x="5581000" y="2183994"/>
            <a:ext cx="238308" cy="578312"/>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winkelt 31">
            <a:extLst>
              <a:ext uri="{FF2B5EF4-FFF2-40B4-BE49-F238E27FC236}">
                <a16:creationId xmlns:a16="http://schemas.microsoft.com/office/drawing/2014/main" id="{AB062110-ADE8-44EA-BE27-B8DD028B3700}"/>
              </a:ext>
            </a:extLst>
          </p:cNvPr>
          <p:cNvCxnSpPr>
            <a:cxnSpLocks/>
          </p:cNvCxnSpPr>
          <p:nvPr/>
        </p:nvCxnSpPr>
        <p:spPr>
          <a:xfrm rot="5400000">
            <a:off x="5004810" y="2186116"/>
            <a:ext cx="238309" cy="574068"/>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winkelt 32">
            <a:extLst>
              <a:ext uri="{FF2B5EF4-FFF2-40B4-BE49-F238E27FC236}">
                <a16:creationId xmlns:a16="http://schemas.microsoft.com/office/drawing/2014/main" id="{13228987-1C8F-4558-9C85-5A9AB3BE9D04}"/>
              </a:ext>
            </a:extLst>
          </p:cNvPr>
          <p:cNvCxnSpPr>
            <a:cxnSpLocks/>
          </p:cNvCxnSpPr>
          <p:nvPr/>
        </p:nvCxnSpPr>
        <p:spPr>
          <a:xfrm rot="16200000" flipH="1">
            <a:off x="8430185" y="2031553"/>
            <a:ext cx="264187" cy="8699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winkelt 33">
            <a:extLst>
              <a:ext uri="{FF2B5EF4-FFF2-40B4-BE49-F238E27FC236}">
                <a16:creationId xmlns:a16="http://schemas.microsoft.com/office/drawing/2014/main" id="{3BEC398A-012A-4FE1-B704-3615DF682D70}"/>
              </a:ext>
            </a:extLst>
          </p:cNvPr>
          <p:cNvCxnSpPr>
            <a:cxnSpLocks/>
          </p:cNvCxnSpPr>
          <p:nvPr/>
        </p:nvCxnSpPr>
        <p:spPr>
          <a:xfrm rot="5400000">
            <a:off x="7689056" y="2160363"/>
            <a:ext cx="264187" cy="6123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Verbinder: gewinkelt 5">
            <a:extLst>
              <a:ext uri="{FF2B5EF4-FFF2-40B4-BE49-F238E27FC236}">
                <a16:creationId xmlns:a16="http://schemas.microsoft.com/office/drawing/2014/main" id="{3281F862-22B7-4C98-AE44-DA7FB87305D8}"/>
              </a:ext>
            </a:extLst>
          </p:cNvPr>
          <p:cNvCxnSpPr>
            <a:cxnSpLocks/>
            <a:stCxn id="5" idx="2"/>
            <a:endCxn id="13" idx="0"/>
          </p:cNvCxnSpPr>
          <p:nvPr/>
        </p:nvCxnSpPr>
        <p:spPr>
          <a:xfrm rot="16200000" flipH="1">
            <a:off x="1361970" y="3180471"/>
            <a:ext cx="198469" cy="1"/>
          </a:xfrm>
          <a:prstGeom prst="bentConnector3">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platzhalter 2">
            <a:extLst>
              <a:ext uri="{FF2B5EF4-FFF2-40B4-BE49-F238E27FC236}">
                <a16:creationId xmlns:a16="http://schemas.microsoft.com/office/drawing/2014/main" id="{17722184-2B3E-4B84-8BC4-AB09DA255812}"/>
              </a:ext>
            </a:extLst>
          </p:cNvPr>
          <p:cNvSpPr txBox="1">
            <a:spLocks/>
          </p:cNvSpPr>
          <p:nvPr/>
        </p:nvSpPr>
        <p:spPr>
          <a:xfrm>
            <a:off x="288526" y="4245424"/>
            <a:ext cx="9395243" cy="2110927"/>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Der Substanzwert kann als Liquidationswert oder Wiederbeschaffungswert des Unternehmens ermittelt werden</a:t>
            </a:r>
          </a:p>
          <a:p>
            <a:pPr marL="171450" indent="-171450" algn="just">
              <a:spcBef>
                <a:spcPts val="600"/>
              </a:spcBef>
              <a:buClr>
                <a:srgbClr val="002060"/>
              </a:buClr>
              <a:buFont typeface="Arial" panose="020B0604020202020204" pitchFamily="34" charset="0"/>
              <a:buChar char="•"/>
            </a:pPr>
            <a:r>
              <a:rPr lang="de-DE" sz="1100" dirty="0"/>
              <a:t>Der Wiederbeschaffungswert versucht auf Kostenbasis zu ermitteln, was aufgewendet werden müsste, um das Unternehmen sozusagen „auf der grünen Wiese“ wieder zu errichten. Es kann herangezogen werden, um die Vorteilhaftigkeit des Kaufs gegenüber der Neuerrichtung eines Unternehmens abzuleiten</a:t>
            </a:r>
          </a:p>
          <a:p>
            <a:pPr marL="171450" indent="-171450" algn="just">
              <a:spcBef>
                <a:spcPts val="600"/>
              </a:spcBef>
              <a:buClr>
                <a:srgbClr val="002060"/>
              </a:buClr>
              <a:buFont typeface="Arial" panose="020B0604020202020204" pitchFamily="34" charset="0"/>
              <a:buChar char="•"/>
            </a:pPr>
            <a:r>
              <a:rPr lang="de-DE" sz="1100" dirty="0"/>
              <a:t>Der Liquidationswert bezieht die erwarteten Erlöse bei Veräußerung auf Basis erwarteter Marktpreise einzelner veräußerbarer Aktiva des Unternehmens, die Liquidationsgeschwindigkeit (normaler Prozess vs. „Notverkauf“) sowie notwendige Liquidationskosten in sein Kalkül ein. Er bildet eine Untergrenze für den Unternehmenswert, wenn die Zukunftserfolgsverfahren (z.B. aufgrund geringer Ertragskraft des Unternehmens oder der Eliminierung eigentümerbezogener Erfolgsbeiträge) zu geringeren Werten führen</a:t>
            </a:r>
          </a:p>
          <a:p>
            <a:pPr marL="171450" indent="-171450" algn="just">
              <a:spcBef>
                <a:spcPts val="600"/>
              </a:spcBef>
              <a:buClr>
                <a:srgbClr val="002060"/>
              </a:buClr>
              <a:buFont typeface="Arial" panose="020B0604020202020204" pitchFamily="34" charset="0"/>
              <a:buChar char="•"/>
            </a:pPr>
            <a:r>
              <a:rPr lang="de-DE" sz="1100" dirty="0"/>
              <a:t>Darüber hinaus wird dem Substanzwert keine eigenständige Bedeutung mehr zugeschrieben, es sei denn er ist rechtlich gefordert oder vertraglich im Bewertungsauftrag vereinbart</a:t>
            </a:r>
          </a:p>
        </p:txBody>
      </p:sp>
    </p:spTree>
    <p:extLst>
      <p:ext uri="{BB962C8B-B14F-4D97-AF65-F5344CB8AC3E}">
        <p14:creationId xmlns:p14="http://schemas.microsoft.com/office/powerpoint/2010/main" val="4080646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8</a:t>
            </a:fld>
            <a:endParaRPr lang="en-US" dirty="0"/>
          </a:p>
        </p:txBody>
      </p:sp>
      <p:sp>
        <p:nvSpPr>
          <p:cNvPr id="4" name="Textplatzhalter 3"/>
          <p:cNvSpPr>
            <a:spLocks noGrp="1"/>
          </p:cNvSpPr>
          <p:nvPr>
            <p:ph type="body" sz="quarter" idx="4294967295"/>
          </p:nvPr>
        </p:nvSpPr>
        <p:spPr>
          <a:xfrm>
            <a:off x="288525" y="184376"/>
            <a:ext cx="8380689" cy="896937"/>
          </a:xfrm>
        </p:spPr>
        <p:txBody>
          <a:bodyPr vert="horz" lIns="0" tIns="45720" rIns="91440" bIns="45720" rtlCol="0" anchor="ctr">
            <a:normAutofit/>
          </a:bodyPr>
          <a:lstStyle/>
          <a:p>
            <a:pPr marL="0" indent="0">
              <a:buNone/>
            </a:pPr>
            <a:r>
              <a:rPr lang="en-US" sz="2100" dirty="0"/>
              <a:t>BEWERTUNGSMETHODEN - ERTRAGSWERT u. DCF-VERFAHREN</a:t>
            </a:r>
          </a:p>
        </p:txBody>
      </p:sp>
      <p:sp>
        <p:nvSpPr>
          <p:cNvPr id="5" name="Rechteck 4">
            <a:extLst>
              <a:ext uri="{FF2B5EF4-FFF2-40B4-BE49-F238E27FC236}">
                <a16:creationId xmlns:a16="http://schemas.microsoft.com/office/drawing/2014/main" id="{DB0101FB-5253-462D-B75C-CAA703AF288B}"/>
              </a:ext>
            </a:extLst>
          </p:cNvPr>
          <p:cNvSpPr/>
          <p:nvPr/>
        </p:nvSpPr>
        <p:spPr>
          <a:xfrm>
            <a:off x="336129" y="2603589"/>
            <a:ext cx="2250149"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Bruttoverfahren</a:t>
            </a:r>
            <a:endParaRPr lang="en-US" sz="1200" dirty="0"/>
          </a:p>
        </p:txBody>
      </p:sp>
      <p:sp>
        <p:nvSpPr>
          <p:cNvPr id="15" name="Rechteck 14">
            <a:extLst>
              <a:ext uri="{FF2B5EF4-FFF2-40B4-BE49-F238E27FC236}">
                <a16:creationId xmlns:a16="http://schemas.microsoft.com/office/drawing/2014/main" id="{487F780B-A461-4B3D-9BBB-6628C717A2FB}"/>
              </a:ext>
            </a:extLst>
          </p:cNvPr>
          <p:cNvSpPr/>
          <p:nvPr/>
        </p:nvSpPr>
        <p:spPr>
          <a:xfrm>
            <a:off x="2673227" y="3284027"/>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FTE</a:t>
            </a:r>
            <a:endParaRPr lang="en-US" sz="1200" dirty="0"/>
          </a:p>
        </p:txBody>
      </p:sp>
      <p:sp>
        <p:nvSpPr>
          <p:cNvPr id="16" name="Rechteck 15">
            <a:extLst>
              <a:ext uri="{FF2B5EF4-FFF2-40B4-BE49-F238E27FC236}">
                <a16:creationId xmlns:a16="http://schemas.microsoft.com/office/drawing/2014/main" id="{4361843B-07EA-4668-BE08-A9040E73FB72}"/>
              </a:ext>
            </a:extLst>
          </p:cNvPr>
          <p:cNvSpPr/>
          <p:nvPr/>
        </p:nvSpPr>
        <p:spPr>
          <a:xfrm>
            <a:off x="3452260" y="3288871"/>
            <a:ext cx="692084" cy="46831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Ertrags-wert</a:t>
            </a:r>
          </a:p>
        </p:txBody>
      </p:sp>
      <p:sp>
        <p:nvSpPr>
          <p:cNvPr id="17" name="Rechteck 16">
            <a:extLst>
              <a:ext uri="{FF2B5EF4-FFF2-40B4-BE49-F238E27FC236}">
                <a16:creationId xmlns:a16="http://schemas.microsoft.com/office/drawing/2014/main" id="{905CD6AE-4795-43E8-8D93-683E09913F54}"/>
              </a:ext>
            </a:extLst>
          </p:cNvPr>
          <p:cNvSpPr/>
          <p:nvPr/>
        </p:nvSpPr>
        <p:spPr>
          <a:xfrm>
            <a:off x="336129" y="1885682"/>
            <a:ext cx="3808215"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Zukunftserfolgsverfahren</a:t>
            </a:r>
            <a:endParaRPr lang="en-US" sz="1200" dirty="0"/>
          </a:p>
        </p:txBody>
      </p:sp>
      <p:sp>
        <p:nvSpPr>
          <p:cNvPr id="18" name="Rechteck 17">
            <a:extLst>
              <a:ext uri="{FF2B5EF4-FFF2-40B4-BE49-F238E27FC236}">
                <a16:creationId xmlns:a16="http://schemas.microsoft.com/office/drawing/2014/main" id="{741C8A16-75EA-4551-AA6D-E96AE28C167E}"/>
              </a:ext>
            </a:extLst>
          </p:cNvPr>
          <p:cNvSpPr/>
          <p:nvPr/>
        </p:nvSpPr>
        <p:spPr>
          <a:xfrm>
            <a:off x="2673227" y="2603589"/>
            <a:ext cx="1471117" cy="46831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Nettoverfahren</a:t>
            </a:r>
            <a:endParaRPr lang="en-US" sz="1200" dirty="0"/>
          </a:p>
        </p:txBody>
      </p:sp>
      <p:cxnSp>
        <p:nvCxnSpPr>
          <p:cNvPr id="21" name="Verbinder: gewinkelt 20">
            <a:extLst>
              <a:ext uri="{FF2B5EF4-FFF2-40B4-BE49-F238E27FC236}">
                <a16:creationId xmlns:a16="http://schemas.microsoft.com/office/drawing/2014/main" id="{53A72A45-6408-4F1B-AB81-CFE223A5891C}"/>
              </a:ext>
            </a:extLst>
          </p:cNvPr>
          <p:cNvCxnSpPr>
            <a:cxnSpLocks/>
            <a:stCxn id="17" idx="2"/>
            <a:endCxn id="18" idx="0"/>
          </p:cNvCxnSpPr>
          <p:nvPr/>
        </p:nvCxnSpPr>
        <p:spPr>
          <a:xfrm rot="16200000" flipH="1">
            <a:off x="2699715" y="1894517"/>
            <a:ext cx="249593" cy="11685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FEA0BB3A-7C50-4843-8F01-5C9CABC7E2EA}"/>
              </a:ext>
            </a:extLst>
          </p:cNvPr>
          <p:cNvCxnSpPr>
            <a:cxnSpLocks/>
            <a:stCxn id="17" idx="2"/>
            <a:endCxn id="5" idx="0"/>
          </p:cNvCxnSpPr>
          <p:nvPr/>
        </p:nvCxnSpPr>
        <p:spPr>
          <a:xfrm rot="5400000">
            <a:off x="1725925" y="2089276"/>
            <a:ext cx="249593" cy="7790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winkelt 41">
            <a:extLst>
              <a:ext uri="{FF2B5EF4-FFF2-40B4-BE49-F238E27FC236}">
                <a16:creationId xmlns:a16="http://schemas.microsoft.com/office/drawing/2014/main" id="{78C93E35-F9F0-4C47-9111-23471A428837}"/>
              </a:ext>
            </a:extLst>
          </p:cNvPr>
          <p:cNvCxnSpPr>
            <a:cxnSpLocks/>
            <a:stCxn id="18" idx="2"/>
            <a:endCxn id="16" idx="0"/>
          </p:cNvCxnSpPr>
          <p:nvPr/>
        </p:nvCxnSpPr>
        <p:spPr>
          <a:xfrm rot="16200000" flipH="1">
            <a:off x="3495060" y="2985629"/>
            <a:ext cx="216968" cy="38951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winkelt 47">
            <a:extLst>
              <a:ext uri="{FF2B5EF4-FFF2-40B4-BE49-F238E27FC236}">
                <a16:creationId xmlns:a16="http://schemas.microsoft.com/office/drawing/2014/main" id="{1D77766E-37C3-4539-8485-07B0498C0144}"/>
              </a:ext>
            </a:extLst>
          </p:cNvPr>
          <p:cNvCxnSpPr>
            <a:cxnSpLocks/>
            <a:stCxn id="18" idx="2"/>
            <a:endCxn id="15" idx="0"/>
          </p:cNvCxnSpPr>
          <p:nvPr/>
        </p:nvCxnSpPr>
        <p:spPr>
          <a:xfrm rot="5400000">
            <a:off x="3107966" y="2983207"/>
            <a:ext cx="212124" cy="38951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Verbinder: gewinkelt 41">
            <a:extLst>
              <a:ext uri="{FF2B5EF4-FFF2-40B4-BE49-F238E27FC236}">
                <a16:creationId xmlns:a16="http://schemas.microsoft.com/office/drawing/2014/main" id="{DB984537-2C51-1FF0-F16E-D33011F9148C}"/>
              </a:ext>
            </a:extLst>
          </p:cNvPr>
          <p:cNvCxnSpPr>
            <a:cxnSpLocks/>
            <a:stCxn id="16" idx="2"/>
            <a:endCxn id="72" idx="0"/>
          </p:cNvCxnSpPr>
          <p:nvPr/>
        </p:nvCxnSpPr>
        <p:spPr>
          <a:xfrm rot="16200000" flipH="1">
            <a:off x="5454795" y="2100690"/>
            <a:ext cx="604825" cy="3917811"/>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hteck 11">
            <a:extLst>
              <a:ext uri="{FF2B5EF4-FFF2-40B4-BE49-F238E27FC236}">
                <a16:creationId xmlns:a16="http://schemas.microsoft.com/office/drawing/2014/main" id="{A5809E44-8463-9C42-4CA0-EBED8F042C33}"/>
              </a:ext>
            </a:extLst>
          </p:cNvPr>
          <p:cNvSpPr/>
          <p:nvPr/>
        </p:nvSpPr>
        <p:spPr>
          <a:xfrm>
            <a:off x="336131" y="3270373"/>
            <a:ext cx="692084" cy="46831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WACC</a:t>
            </a:r>
          </a:p>
        </p:txBody>
      </p:sp>
      <p:sp>
        <p:nvSpPr>
          <p:cNvPr id="27" name="Rechteck 12">
            <a:extLst>
              <a:ext uri="{FF2B5EF4-FFF2-40B4-BE49-F238E27FC236}">
                <a16:creationId xmlns:a16="http://schemas.microsoft.com/office/drawing/2014/main" id="{058D921F-6416-F351-B156-7B160499B564}"/>
              </a:ext>
            </a:extLst>
          </p:cNvPr>
          <p:cNvSpPr/>
          <p:nvPr/>
        </p:nvSpPr>
        <p:spPr>
          <a:xfrm>
            <a:off x="1115163" y="3270372"/>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APV</a:t>
            </a:r>
            <a:endParaRPr lang="en-US" sz="1200" dirty="0"/>
          </a:p>
        </p:txBody>
      </p:sp>
      <p:sp>
        <p:nvSpPr>
          <p:cNvPr id="28" name="Rechteck 13">
            <a:extLst>
              <a:ext uri="{FF2B5EF4-FFF2-40B4-BE49-F238E27FC236}">
                <a16:creationId xmlns:a16="http://schemas.microsoft.com/office/drawing/2014/main" id="{92878195-52D0-DCD5-7F33-36848FF8FB86}"/>
              </a:ext>
            </a:extLst>
          </p:cNvPr>
          <p:cNvSpPr/>
          <p:nvPr/>
        </p:nvSpPr>
        <p:spPr>
          <a:xfrm>
            <a:off x="1894195" y="3270373"/>
            <a:ext cx="692084" cy="4683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TCF</a:t>
            </a:r>
            <a:endParaRPr lang="en-US" sz="1200" dirty="0"/>
          </a:p>
        </p:txBody>
      </p:sp>
      <p:cxnSp>
        <p:nvCxnSpPr>
          <p:cNvPr id="32" name="Verbinder: gewinkelt 28">
            <a:extLst>
              <a:ext uri="{FF2B5EF4-FFF2-40B4-BE49-F238E27FC236}">
                <a16:creationId xmlns:a16="http://schemas.microsoft.com/office/drawing/2014/main" id="{D34811FB-4405-AEFA-7E29-35208A7E6319}"/>
              </a:ext>
            </a:extLst>
          </p:cNvPr>
          <p:cNvCxnSpPr>
            <a:cxnSpLocks/>
            <a:endCxn id="25" idx="0"/>
          </p:cNvCxnSpPr>
          <p:nvPr/>
        </p:nvCxnSpPr>
        <p:spPr>
          <a:xfrm rot="5400000">
            <a:off x="972454" y="2781623"/>
            <a:ext cx="198470" cy="7790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winkelt 33">
            <a:extLst>
              <a:ext uri="{FF2B5EF4-FFF2-40B4-BE49-F238E27FC236}">
                <a16:creationId xmlns:a16="http://schemas.microsoft.com/office/drawing/2014/main" id="{D025CA54-2BD9-57E6-5589-923C965AEB6A}"/>
              </a:ext>
            </a:extLst>
          </p:cNvPr>
          <p:cNvCxnSpPr>
            <a:cxnSpLocks/>
            <a:endCxn id="27" idx="0"/>
          </p:cNvCxnSpPr>
          <p:nvPr/>
        </p:nvCxnSpPr>
        <p:spPr>
          <a:xfrm rot="16200000" flipH="1">
            <a:off x="1361970" y="3171136"/>
            <a:ext cx="198469"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winkelt 36">
            <a:extLst>
              <a:ext uri="{FF2B5EF4-FFF2-40B4-BE49-F238E27FC236}">
                <a16:creationId xmlns:a16="http://schemas.microsoft.com/office/drawing/2014/main" id="{643687ED-7AFE-33FC-DE9C-A074AF2AB628}"/>
              </a:ext>
            </a:extLst>
          </p:cNvPr>
          <p:cNvCxnSpPr>
            <a:cxnSpLocks/>
            <a:endCxn id="28" idx="0"/>
          </p:cNvCxnSpPr>
          <p:nvPr/>
        </p:nvCxnSpPr>
        <p:spPr>
          <a:xfrm rot="16200000" flipH="1">
            <a:off x="1751485" y="2781621"/>
            <a:ext cx="198470" cy="77903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D4667A99-FA73-ED2E-4437-5CB9445F9EE1}"/>
              </a:ext>
            </a:extLst>
          </p:cNvPr>
          <p:cNvSpPr txBox="1">
            <a:spLocks/>
          </p:cNvSpPr>
          <p:nvPr/>
        </p:nvSpPr>
        <p:spPr>
          <a:xfrm>
            <a:off x="4968454" y="1773239"/>
            <a:ext cx="4485109" cy="2386272"/>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Für die Ermittlung eines Ertragswertes / Zukunftserfolgswertes wird meist ein </a:t>
            </a:r>
            <a:r>
              <a:rPr lang="de-DE" sz="1100" dirty="0" err="1"/>
              <a:t>Discounted</a:t>
            </a:r>
            <a:r>
              <a:rPr lang="de-DE" sz="1100" dirty="0"/>
              <a:t> Cashflow- oder das deutsche Ertragswertverfahren nach IDW S1 angewendet. Bei identischen Annahmen führen beide Verfahren zu gleichen Ergebnissen</a:t>
            </a:r>
          </a:p>
          <a:p>
            <a:pPr marL="171450" indent="-171450" algn="just">
              <a:spcBef>
                <a:spcPts val="600"/>
              </a:spcBef>
              <a:buClr>
                <a:srgbClr val="002060"/>
              </a:buClr>
              <a:buFont typeface="Arial" panose="020B0604020202020204" pitchFamily="34" charset="0"/>
              <a:buChar char="•"/>
            </a:pPr>
            <a:r>
              <a:rPr lang="de-DE" sz="1100" dirty="0"/>
              <a:t>Für die Ermittlung des Ertragswertes für kleinere und mittlere Unternehmen (KMU) gibt es in der Praxis eine Reihe von Verfahren, die meist eine Vereinfachung der Bewertung zum Ziel haben, wie das steuerlich relevante vereinfachte Ertragswertverfahren oder sonstige „branchenübliche“ Verfahren wie die Ärztekammer-Methode und den AWH-Standard im Handwerk</a:t>
            </a:r>
          </a:p>
          <a:p>
            <a:pPr marL="171450" indent="-171450" algn="just">
              <a:spcBef>
                <a:spcPts val="600"/>
              </a:spcBef>
              <a:buClr>
                <a:srgbClr val="002060"/>
              </a:buClr>
              <a:buFont typeface="Arial" panose="020B0604020202020204" pitchFamily="34" charset="0"/>
              <a:buChar char="•"/>
            </a:pPr>
            <a:r>
              <a:rPr lang="de-DE" sz="1100" dirty="0"/>
              <a:t>Das modifizierte Ertragswertverfahren ist dem Verfahren nach IDW S1 unter Anwendung der KMU-spezifischen Anpassungen gem. PH 1/2014 ähnlich</a:t>
            </a:r>
          </a:p>
        </p:txBody>
      </p:sp>
      <p:sp>
        <p:nvSpPr>
          <p:cNvPr id="38" name="Rechteck 88">
            <a:extLst>
              <a:ext uri="{FF2B5EF4-FFF2-40B4-BE49-F238E27FC236}">
                <a16:creationId xmlns:a16="http://schemas.microsoft.com/office/drawing/2014/main" id="{2D0A2EDA-AC09-D8F9-4E50-06EDFFD16F6E}"/>
              </a:ext>
            </a:extLst>
          </p:cNvPr>
          <p:cNvSpPr/>
          <p:nvPr/>
        </p:nvSpPr>
        <p:spPr>
          <a:xfrm>
            <a:off x="496056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cxnSp>
        <p:nvCxnSpPr>
          <p:cNvPr id="39" name="Gerader Verbinder 2">
            <a:extLst>
              <a:ext uri="{FF2B5EF4-FFF2-40B4-BE49-F238E27FC236}">
                <a16:creationId xmlns:a16="http://schemas.microsoft.com/office/drawing/2014/main" id="{62519463-947D-AC01-02F5-C42F9097D1C4}"/>
              </a:ext>
            </a:extLst>
          </p:cNvPr>
          <p:cNvCxnSpPr>
            <a:cxnSpLocks/>
          </p:cNvCxnSpPr>
          <p:nvPr/>
        </p:nvCxnSpPr>
        <p:spPr>
          <a:xfrm>
            <a:off x="4770123" y="1773239"/>
            <a:ext cx="0" cy="2030899"/>
          </a:xfrm>
          <a:prstGeom prst="line">
            <a:avLst/>
          </a:prstGeom>
          <a:ln w="6350">
            <a:solidFill>
              <a:srgbClr val="8BAABF"/>
            </a:solidFill>
          </a:ln>
        </p:spPr>
        <p:style>
          <a:lnRef idx="1">
            <a:schemeClr val="accent1"/>
          </a:lnRef>
          <a:fillRef idx="0">
            <a:schemeClr val="accent1"/>
          </a:fillRef>
          <a:effectRef idx="0">
            <a:schemeClr val="accent1"/>
          </a:effectRef>
          <a:fontRef idx="minor">
            <a:schemeClr val="tx1"/>
          </a:fontRef>
        </p:style>
      </p:cxnSp>
      <p:sp>
        <p:nvSpPr>
          <p:cNvPr id="14" name="Rechteck 13">
            <a:extLst>
              <a:ext uri="{FF2B5EF4-FFF2-40B4-BE49-F238E27FC236}">
                <a16:creationId xmlns:a16="http://schemas.microsoft.com/office/drawing/2014/main" id="{2F30410D-9D68-AF4B-60E7-3D3F647F92BD}"/>
              </a:ext>
            </a:extLst>
          </p:cNvPr>
          <p:cNvSpPr/>
          <p:nvPr/>
        </p:nvSpPr>
        <p:spPr>
          <a:xfrm>
            <a:off x="3078865" y="5417102"/>
            <a:ext cx="1440000" cy="72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gn="ctr"/>
            <a:r>
              <a:rPr lang="de-DE" sz="1000" strike="sngStrike" dirty="0">
                <a:solidFill>
                  <a:schemeClr val="tx1"/>
                </a:solidFill>
              </a:rPr>
              <a:t>“Modifiziertes” Ertragswertverfahren</a:t>
            </a:r>
          </a:p>
          <a:p>
            <a:pPr algn="ctr"/>
            <a:endParaRPr lang="de-DE" sz="1000" strike="sngStrike" dirty="0">
              <a:solidFill>
                <a:schemeClr val="tx1"/>
              </a:solidFill>
            </a:endParaRPr>
          </a:p>
          <a:p>
            <a:pPr algn="ctr"/>
            <a:r>
              <a:rPr lang="de-DE" sz="1000" strike="sngStrike" dirty="0">
                <a:solidFill>
                  <a:schemeClr val="tx1"/>
                </a:solidFill>
              </a:rPr>
              <a:t>BGH 2/2011</a:t>
            </a:r>
          </a:p>
        </p:txBody>
      </p:sp>
      <p:sp>
        <p:nvSpPr>
          <p:cNvPr id="19" name="Rechteck 18">
            <a:extLst>
              <a:ext uri="{FF2B5EF4-FFF2-40B4-BE49-F238E27FC236}">
                <a16:creationId xmlns:a16="http://schemas.microsoft.com/office/drawing/2014/main" id="{F6792560-0876-123E-BE12-2DE6631D376E}"/>
              </a:ext>
            </a:extLst>
          </p:cNvPr>
          <p:cNvSpPr/>
          <p:nvPr/>
        </p:nvSpPr>
        <p:spPr>
          <a:xfrm>
            <a:off x="428981" y="5417102"/>
            <a:ext cx="1440000" cy="720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ctr"/>
          <a:lstStyle/>
          <a:p>
            <a:pPr algn="ctr"/>
            <a:endParaRPr lang="de-DE" sz="1050" dirty="0"/>
          </a:p>
          <a:p>
            <a:pPr algn="ctr"/>
            <a:r>
              <a:rPr lang="de-DE" sz="1050" dirty="0"/>
              <a:t>Für KMU:</a:t>
            </a:r>
          </a:p>
          <a:p>
            <a:pPr algn="ctr"/>
            <a:r>
              <a:rPr lang="de-DE" sz="1000" dirty="0"/>
              <a:t>PH 1/2014</a:t>
            </a:r>
          </a:p>
          <a:p>
            <a:pPr algn="ctr"/>
            <a:r>
              <a:rPr lang="de-DE" sz="1000" dirty="0"/>
              <a:t>(Abschmelzmodell)</a:t>
            </a:r>
          </a:p>
          <a:p>
            <a:pPr algn="ctr"/>
            <a:endParaRPr lang="de-DE" sz="1200" dirty="0"/>
          </a:p>
          <a:p>
            <a:pPr algn="ctr"/>
            <a:endParaRPr lang="de-DE" sz="1200" dirty="0"/>
          </a:p>
        </p:txBody>
      </p:sp>
      <p:sp>
        <p:nvSpPr>
          <p:cNvPr id="20" name="Rechteck 19">
            <a:extLst>
              <a:ext uri="{FF2B5EF4-FFF2-40B4-BE49-F238E27FC236}">
                <a16:creationId xmlns:a16="http://schemas.microsoft.com/office/drawing/2014/main" id="{7B570D37-BC3E-0BB2-490A-C4872C7F6268}"/>
              </a:ext>
            </a:extLst>
          </p:cNvPr>
          <p:cNvSpPr/>
          <p:nvPr/>
        </p:nvSpPr>
        <p:spPr>
          <a:xfrm>
            <a:off x="4807069" y="4362009"/>
            <a:ext cx="1440000" cy="720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gn="ctr"/>
            <a:r>
              <a:rPr lang="de-DE" sz="1200" dirty="0"/>
              <a:t>“</a:t>
            </a:r>
          </a:p>
          <a:p>
            <a:pPr algn="ctr"/>
            <a:r>
              <a:rPr lang="de-DE" sz="1000" dirty="0"/>
              <a:t>Vereinfachtes” Ertragswertverfahren</a:t>
            </a:r>
            <a:br>
              <a:rPr lang="de-DE" sz="1000" dirty="0"/>
            </a:br>
            <a:r>
              <a:rPr lang="de-DE" sz="1000" dirty="0"/>
              <a:t>(</a:t>
            </a:r>
            <a:r>
              <a:rPr lang="de-DE" sz="1000" dirty="0" err="1"/>
              <a:t>steuerl</a:t>
            </a:r>
            <a:r>
              <a:rPr lang="de-DE" sz="1000" dirty="0"/>
              <a:t>. Verfahren)</a:t>
            </a:r>
          </a:p>
          <a:p>
            <a:pPr algn="ctr"/>
            <a:r>
              <a:rPr lang="de-DE" sz="1000" dirty="0"/>
              <a:t>§ 199 BewG </a:t>
            </a:r>
          </a:p>
          <a:p>
            <a:pPr algn="ctr"/>
            <a:endParaRPr lang="de-DE" sz="1200" dirty="0"/>
          </a:p>
        </p:txBody>
      </p:sp>
      <p:sp>
        <p:nvSpPr>
          <p:cNvPr id="22" name="Rechteck 21">
            <a:extLst>
              <a:ext uri="{FF2B5EF4-FFF2-40B4-BE49-F238E27FC236}">
                <a16:creationId xmlns:a16="http://schemas.microsoft.com/office/drawing/2014/main" id="{66F3492B-5B24-80C1-16B4-EFE6036AADDA}"/>
              </a:ext>
            </a:extLst>
          </p:cNvPr>
          <p:cNvSpPr/>
          <p:nvPr/>
        </p:nvSpPr>
        <p:spPr>
          <a:xfrm>
            <a:off x="428981" y="4362009"/>
            <a:ext cx="1440000" cy="720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gn="ctr"/>
            <a:r>
              <a:rPr lang="de-DE" sz="1000" dirty="0"/>
              <a:t>Ertragswertverfahren</a:t>
            </a:r>
          </a:p>
          <a:p>
            <a:pPr algn="ctr"/>
            <a:endParaRPr lang="de-DE" sz="1000" dirty="0"/>
          </a:p>
          <a:p>
            <a:pPr algn="ctr"/>
            <a:r>
              <a:rPr lang="de-DE" sz="1000" dirty="0"/>
              <a:t>IDW S 1</a:t>
            </a:r>
          </a:p>
        </p:txBody>
      </p:sp>
      <p:sp>
        <p:nvSpPr>
          <p:cNvPr id="37" name="Rechteck 36">
            <a:extLst>
              <a:ext uri="{FF2B5EF4-FFF2-40B4-BE49-F238E27FC236}">
                <a16:creationId xmlns:a16="http://schemas.microsoft.com/office/drawing/2014/main" id="{E218288D-5D4E-0BCD-0FC6-B23922C09CF2}"/>
              </a:ext>
            </a:extLst>
          </p:cNvPr>
          <p:cNvSpPr/>
          <p:nvPr/>
        </p:nvSpPr>
        <p:spPr>
          <a:xfrm rot="20920753">
            <a:off x="6457442" y="5493911"/>
            <a:ext cx="1094936" cy="288000"/>
          </a:xfrm>
          <a:prstGeom prst="rect">
            <a:avLst/>
          </a:prstGeom>
          <a:solidFill>
            <a:schemeClr val="bg1"/>
          </a:solidFill>
          <a:ln w="254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lumMod val="65000"/>
                  </a:schemeClr>
                </a:solidFill>
              </a:rPr>
              <a:t>Ärztekammer</a:t>
            </a:r>
          </a:p>
        </p:txBody>
      </p:sp>
      <p:cxnSp>
        <p:nvCxnSpPr>
          <p:cNvPr id="9" name="Connector: Elbow 8">
            <a:extLst>
              <a:ext uri="{FF2B5EF4-FFF2-40B4-BE49-F238E27FC236}">
                <a16:creationId xmlns:a16="http://schemas.microsoft.com/office/drawing/2014/main" id="{4D9C8F94-5C41-737B-A6C2-61DB010DB0CB}"/>
              </a:ext>
            </a:extLst>
          </p:cNvPr>
          <p:cNvCxnSpPr>
            <a:cxnSpLocks/>
            <a:stCxn id="16" idx="2"/>
            <a:endCxn id="22" idx="0"/>
          </p:cNvCxnSpPr>
          <p:nvPr/>
        </p:nvCxnSpPr>
        <p:spPr>
          <a:xfrm rot="5400000">
            <a:off x="2171230" y="2734936"/>
            <a:ext cx="604825" cy="26493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E8796532-E48E-AA56-2252-42576EFACE3D}"/>
              </a:ext>
            </a:extLst>
          </p:cNvPr>
          <p:cNvCxnSpPr>
            <a:cxnSpLocks/>
            <a:stCxn id="16" idx="2"/>
            <a:endCxn id="20" idx="0"/>
          </p:cNvCxnSpPr>
          <p:nvPr/>
        </p:nvCxnSpPr>
        <p:spPr>
          <a:xfrm rot="16200000" flipH="1">
            <a:off x="4360273" y="3195212"/>
            <a:ext cx="604825" cy="17287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5426399C-EE80-635D-5844-C42661E7E3BD}"/>
              </a:ext>
            </a:extLst>
          </p:cNvPr>
          <p:cNvCxnSpPr>
            <a:cxnSpLocks/>
            <a:stCxn id="16" idx="2"/>
            <a:endCxn id="14" idx="0"/>
          </p:cNvCxnSpPr>
          <p:nvPr/>
        </p:nvCxnSpPr>
        <p:spPr>
          <a:xfrm rot="16200000" flipH="1">
            <a:off x="2968624" y="4586861"/>
            <a:ext cx="1659918" cy="5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Rechteck 13">
            <a:extLst>
              <a:ext uri="{FF2B5EF4-FFF2-40B4-BE49-F238E27FC236}">
                <a16:creationId xmlns:a16="http://schemas.microsoft.com/office/drawing/2014/main" id="{0E7E7323-71C8-856F-7C46-68E8A24D87D9}"/>
              </a:ext>
            </a:extLst>
          </p:cNvPr>
          <p:cNvSpPr/>
          <p:nvPr/>
        </p:nvSpPr>
        <p:spPr>
          <a:xfrm>
            <a:off x="6996113" y="4362009"/>
            <a:ext cx="1440000" cy="72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gn="ctr"/>
            <a:r>
              <a:rPr lang="de-DE" sz="1000" dirty="0">
                <a:solidFill>
                  <a:schemeClr val="accent5">
                    <a:lumMod val="50000"/>
                  </a:schemeClr>
                </a:solidFill>
              </a:rPr>
              <a:t>Sonstige branchenübliche Verfahren</a:t>
            </a:r>
          </a:p>
        </p:txBody>
      </p:sp>
      <p:cxnSp>
        <p:nvCxnSpPr>
          <p:cNvPr id="86" name="Straight Arrow Connector 85">
            <a:extLst>
              <a:ext uri="{FF2B5EF4-FFF2-40B4-BE49-F238E27FC236}">
                <a16:creationId xmlns:a16="http://schemas.microsoft.com/office/drawing/2014/main" id="{DC801CB9-1853-0238-FD0E-D9B1EBB3DD32}"/>
              </a:ext>
            </a:extLst>
          </p:cNvPr>
          <p:cNvCxnSpPr>
            <a:cxnSpLocks/>
            <a:stCxn id="22" idx="2"/>
            <a:endCxn id="19" idx="0"/>
          </p:cNvCxnSpPr>
          <p:nvPr/>
        </p:nvCxnSpPr>
        <p:spPr>
          <a:xfrm>
            <a:off x="1148981" y="5082009"/>
            <a:ext cx="0" cy="335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Rechteck 36">
            <a:extLst>
              <a:ext uri="{FF2B5EF4-FFF2-40B4-BE49-F238E27FC236}">
                <a16:creationId xmlns:a16="http://schemas.microsoft.com/office/drawing/2014/main" id="{AB68C61E-0335-7F9D-C732-0DE6B7734147}"/>
              </a:ext>
            </a:extLst>
          </p:cNvPr>
          <p:cNvSpPr/>
          <p:nvPr/>
        </p:nvSpPr>
        <p:spPr>
          <a:xfrm rot="806967">
            <a:off x="7828245" y="5478281"/>
            <a:ext cx="1094936" cy="288000"/>
          </a:xfrm>
          <a:prstGeom prst="rect">
            <a:avLst/>
          </a:prstGeom>
          <a:solidFill>
            <a:schemeClr val="bg1"/>
          </a:solidFill>
          <a:ln w="254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lumMod val="65000"/>
                  </a:schemeClr>
                </a:solidFill>
              </a:rPr>
              <a:t>AWH-Standard</a:t>
            </a:r>
          </a:p>
        </p:txBody>
      </p:sp>
      <p:sp>
        <p:nvSpPr>
          <p:cNvPr id="91" name="Rechteck 36">
            <a:extLst>
              <a:ext uri="{FF2B5EF4-FFF2-40B4-BE49-F238E27FC236}">
                <a16:creationId xmlns:a16="http://schemas.microsoft.com/office/drawing/2014/main" id="{B350CFAE-0964-CA34-C307-CE7B9E605987}"/>
              </a:ext>
            </a:extLst>
          </p:cNvPr>
          <p:cNvSpPr/>
          <p:nvPr/>
        </p:nvSpPr>
        <p:spPr>
          <a:xfrm rot="21143378">
            <a:off x="7269875" y="5804087"/>
            <a:ext cx="738587" cy="288000"/>
          </a:xfrm>
          <a:prstGeom prst="rect">
            <a:avLst/>
          </a:prstGeom>
          <a:solidFill>
            <a:schemeClr val="bg1"/>
          </a:solidFill>
          <a:ln w="254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lumMod val="65000"/>
                  </a:schemeClr>
                </a:solidFill>
              </a:rPr>
              <a:t>…</a:t>
            </a:r>
          </a:p>
        </p:txBody>
      </p:sp>
      <p:grpSp>
        <p:nvGrpSpPr>
          <p:cNvPr id="3" name="Gruppieren 37">
            <a:extLst>
              <a:ext uri="{FF2B5EF4-FFF2-40B4-BE49-F238E27FC236}">
                <a16:creationId xmlns:a16="http://schemas.microsoft.com/office/drawing/2014/main" id="{4EC56611-99C4-508F-7727-1DA52CE31A42}"/>
              </a:ext>
            </a:extLst>
          </p:cNvPr>
          <p:cNvGrpSpPr/>
          <p:nvPr/>
        </p:nvGrpSpPr>
        <p:grpSpPr>
          <a:xfrm>
            <a:off x="139795" y="3120281"/>
            <a:ext cx="360000" cy="360000"/>
            <a:chOff x="2618251" y="2784150"/>
            <a:chExt cx="360000" cy="360000"/>
          </a:xfrm>
        </p:grpSpPr>
        <p:sp>
          <p:nvSpPr>
            <p:cNvPr id="6" name="Ellipse 38">
              <a:extLst>
                <a:ext uri="{FF2B5EF4-FFF2-40B4-BE49-F238E27FC236}">
                  <a16:creationId xmlns:a16="http://schemas.microsoft.com/office/drawing/2014/main" id="{418D26C2-C1D0-ED7C-46AB-926CF70F151A}"/>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7" name="Textfeld 39">
              <a:extLst>
                <a:ext uri="{FF2B5EF4-FFF2-40B4-BE49-F238E27FC236}">
                  <a16:creationId xmlns:a16="http://schemas.microsoft.com/office/drawing/2014/main" id="{CC94964A-F2F4-2B9A-EC23-0AF5E0B113A4}"/>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1</a:t>
              </a:r>
            </a:p>
          </p:txBody>
        </p:sp>
      </p:grpSp>
      <p:grpSp>
        <p:nvGrpSpPr>
          <p:cNvPr id="10" name="Gruppieren 37">
            <a:extLst>
              <a:ext uri="{FF2B5EF4-FFF2-40B4-BE49-F238E27FC236}">
                <a16:creationId xmlns:a16="http://schemas.microsoft.com/office/drawing/2014/main" id="{6E7D14C4-830A-1153-CDE9-0B65FC0751A1}"/>
              </a:ext>
            </a:extLst>
          </p:cNvPr>
          <p:cNvGrpSpPr/>
          <p:nvPr/>
        </p:nvGrpSpPr>
        <p:grpSpPr>
          <a:xfrm>
            <a:off x="4030357" y="3120281"/>
            <a:ext cx="360000" cy="360000"/>
            <a:chOff x="2618251" y="2784150"/>
            <a:chExt cx="360000" cy="360000"/>
          </a:xfrm>
        </p:grpSpPr>
        <p:sp>
          <p:nvSpPr>
            <p:cNvPr id="11" name="Ellipse 38">
              <a:extLst>
                <a:ext uri="{FF2B5EF4-FFF2-40B4-BE49-F238E27FC236}">
                  <a16:creationId xmlns:a16="http://schemas.microsoft.com/office/drawing/2014/main" id="{F9E6753B-C1A4-FB83-5E3A-7CE6E8948CAC}"/>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12" name="Textfeld 39">
              <a:extLst>
                <a:ext uri="{FF2B5EF4-FFF2-40B4-BE49-F238E27FC236}">
                  <a16:creationId xmlns:a16="http://schemas.microsoft.com/office/drawing/2014/main" id="{AAD9B3FB-F21F-AE75-47C1-4F4368DC34C1}"/>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2</a:t>
              </a:r>
            </a:p>
          </p:txBody>
        </p:sp>
      </p:grpSp>
      <p:sp>
        <p:nvSpPr>
          <p:cNvPr id="41" name="Rectangle 40">
            <a:extLst>
              <a:ext uri="{FF2B5EF4-FFF2-40B4-BE49-F238E27FC236}">
                <a16:creationId xmlns:a16="http://schemas.microsoft.com/office/drawing/2014/main" id="{CBA959A6-6BF5-5237-EF35-EDC321DB885E}"/>
              </a:ext>
            </a:extLst>
          </p:cNvPr>
          <p:cNvSpPr/>
          <p:nvPr/>
        </p:nvSpPr>
        <p:spPr>
          <a:xfrm>
            <a:off x="236538" y="5259306"/>
            <a:ext cx="9084441" cy="97906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tlCol="0" anchor="b"/>
          <a:lstStyle/>
          <a:p>
            <a:pPr algn="r"/>
            <a:r>
              <a:rPr lang="de-DE" sz="1200" b="1" dirty="0">
                <a:solidFill>
                  <a:srgbClr val="FF0000"/>
                </a:solidFill>
              </a:rPr>
              <a:t>KMU-spezifisch</a:t>
            </a:r>
          </a:p>
        </p:txBody>
      </p:sp>
      <p:cxnSp>
        <p:nvCxnSpPr>
          <p:cNvPr id="23" name="Straight Arrow Connector 22">
            <a:extLst>
              <a:ext uri="{FF2B5EF4-FFF2-40B4-BE49-F238E27FC236}">
                <a16:creationId xmlns:a16="http://schemas.microsoft.com/office/drawing/2014/main" id="{1666DDD3-1265-5452-BBA7-84C20ED41A42}"/>
              </a:ext>
            </a:extLst>
          </p:cNvPr>
          <p:cNvCxnSpPr>
            <a:cxnSpLocks/>
            <a:stCxn id="72" idx="2"/>
          </p:cNvCxnSpPr>
          <p:nvPr/>
        </p:nvCxnSpPr>
        <p:spPr>
          <a:xfrm>
            <a:off x="7716113" y="5082009"/>
            <a:ext cx="0" cy="307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25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9</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Unterscheidung Wert und Preis</a:t>
            </a:r>
          </a:p>
        </p:txBody>
      </p:sp>
      <p:sp>
        <p:nvSpPr>
          <p:cNvPr id="18" name="Text Placeholder 11">
            <a:extLst>
              <a:ext uri="{FF2B5EF4-FFF2-40B4-BE49-F238E27FC236}">
                <a16:creationId xmlns:a16="http://schemas.microsoft.com/office/drawing/2014/main" id="{14F96940-6B07-D42C-5053-42911D23CF6D}"/>
              </a:ext>
            </a:extLst>
          </p:cNvPr>
          <p:cNvSpPr txBox="1">
            <a:spLocks/>
          </p:cNvSpPr>
          <p:nvPr/>
        </p:nvSpPr>
        <p:spPr>
          <a:xfrm>
            <a:off x="4784643" y="1847390"/>
            <a:ext cx="4832834" cy="4327034"/>
          </a:xfrm>
          <a:prstGeom prst="rect">
            <a:avLst/>
          </a:prstGeom>
        </p:spPr>
        <p:txBody>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002060"/>
              </a:buClr>
            </a:pPr>
            <a:r>
              <a:rPr lang="de-DE" dirty="0"/>
              <a:t>Price </a:t>
            </a:r>
            <a:r>
              <a:rPr lang="de-DE" dirty="0" err="1"/>
              <a:t>is</a:t>
            </a:r>
            <a:r>
              <a:rPr lang="de-DE" dirty="0"/>
              <a:t> </a:t>
            </a:r>
            <a:r>
              <a:rPr lang="de-DE" dirty="0" err="1"/>
              <a:t>what</a:t>
            </a:r>
            <a:r>
              <a:rPr lang="de-DE" dirty="0"/>
              <a:t> </a:t>
            </a:r>
            <a:r>
              <a:rPr lang="de-DE" dirty="0" err="1"/>
              <a:t>you</a:t>
            </a:r>
            <a:r>
              <a:rPr lang="de-DE" dirty="0"/>
              <a:t> </a:t>
            </a:r>
            <a:r>
              <a:rPr lang="de-DE" dirty="0" err="1"/>
              <a:t>pay</a:t>
            </a:r>
            <a:r>
              <a:rPr lang="de-DE" dirty="0"/>
              <a:t>, </a:t>
            </a:r>
            <a:r>
              <a:rPr lang="de-DE" dirty="0" err="1"/>
              <a:t>value</a:t>
            </a:r>
            <a:r>
              <a:rPr lang="de-DE" dirty="0"/>
              <a:t> </a:t>
            </a:r>
            <a:r>
              <a:rPr lang="de-DE" dirty="0" err="1"/>
              <a:t>is</a:t>
            </a:r>
            <a:r>
              <a:rPr lang="de-DE" dirty="0"/>
              <a:t> </a:t>
            </a:r>
            <a:r>
              <a:rPr lang="de-DE" dirty="0" err="1"/>
              <a:t>what</a:t>
            </a:r>
            <a:r>
              <a:rPr lang="de-DE" dirty="0"/>
              <a:t> </a:t>
            </a:r>
            <a:r>
              <a:rPr lang="de-DE" dirty="0" err="1"/>
              <a:t>you</a:t>
            </a:r>
            <a:r>
              <a:rPr lang="de-DE" dirty="0"/>
              <a:t> </a:t>
            </a:r>
            <a:r>
              <a:rPr lang="de-DE" dirty="0" err="1"/>
              <a:t>get</a:t>
            </a:r>
            <a:r>
              <a:rPr lang="de-DE" dirty="0"/>
              <a:t> </a:t>
            </a:r>
            <a:r>
              <a:rPr lang="de-DE" dirty="0">
                <a:solidFill>
                  <a:srgbClr val="000000"/>
                </a:solidFill>
              </a:rPr>
              <a:t>(</a:t>
            </a:r>
            <a:r>
              <a:rPr lang="de-DE" dirty="0">
                <a:solidFill>
                  <a:srgbClr val="000000"/>
                </a:solidFill>
                <a:highlight>
                  <a:srgbClr val="FFFF00"/>
                </a:highlight>
              </a:rPr>
              <a:t>Buffet ?, Sicht Value Investor</a:t>
            </a:r>
            <a:r>
              <a:rPr lang="de-DE" dirty="0">
                <a:solidFill>
                  <a:srgbClr val="000000"/>
                </a:solidFill>
              </a:rPr>
              <a:t>) </a:t>
            </a:r>
            <a:r>
              <a:rPr lang="de-DE" dirty="0">
                <a:solidFill>
                  <a:srgbClr val="000000"/>
                </a:solidFill>
                <a:sym typeface="Wingdings" panose="05000000000000000000" pitchFamily="2" charset="2"/>
              </a:rPr>
              <a:t> Verkehrswert früher „</a:t>
            </a:r>
            <a:r>
              <a:rPr lang="de-DE" dirty="0" err="1">
                <a:solidFill>
                  <a:srgbClr val="000000"/>
                </a:solidFill>
                <a:sym typeface="Wingdings" panose="05000000000000000000" pitchFamily="2" charset="2"/>
              </a:rPr>
              <a:t>Jedermannwert</a:t>
            </a:r>
            <a:r>
              <a:rPr lang="de-DE" dirty="0">
                <a:solidFill>
                  <a:srgbClr val="000000"/>
                </a:solidFill>
                <a:sym typeface="Wingdings" panose="05000000000000000000" pitchFamily="2" charset="2"/>
              </a:rPr>
              <a:t>“ genannt </a:t>
            </a:r>
            <a:r>
              <a:rPr lang="de-DE" dirty="0">
                <a:solidFill>
                  <a:srgbClr val="000000"/>
                </a:solidFill>
                <a:highlight>
                  <a:srgbClr val="FFFF00"/>
                </a:highlight>
                <a:sym typeface="Wingdings" panose="05000000000000000000" pitchFamily="2" charset="2"/>
              </a:rPr>
              <a:t>(Check), also die erwarteten erzielbaren Zahlungsströme mit einem objektivierten, am Kapitalmarkt erzielbaren Kapitalisierungszins abgezinst</a:t>
            </a:r>
            <a:endParaRPr lang="de-DE" dirty="0">
              <a:solidFill>
                <a:srgbClr val="000000"/>
              </a:solidFill>
              <a:highlight>
                <a:srgbClr val="FFFF00"/>
              </a:highlight>
            </a:endParaRPr>
          </a:p>
          <a:p>
            <a:pPr>
              <a:buClr>
                <a:srgbClr val="002060"/>
              </a:buClr>
            </a:pPr>
            <a:r>
              <a:rPr lang="de-DE" dirty="0"/>
              <a:t>Es existiert nicht „der“ allgemeingültige Wert eines Unternehmens</a:t>
            </a:r>
          </a:p>
          <a:p>
            <a:pPr>
              <a:buClr>
                <a:srgbClr val="002060"/>
              </a:buClr>
            </a:pPr>
            <a:r>
              <a:rPr lang="de-DE" dirty="0"/>
              <a:t>Berechnete Werte sind eigentlich grundsätzlich subjektive Entscheidungswerte (Grenzpreise) </a:t>
            </a:r>
            <a:r>
              <a:rPr lang="de-DE" dirty="0">
                <a:sym typeface="Wingdings" panose="05000000000000000000" pitchFamily="2" charset="2"/>
              </a:rPr>
              <a:t></a:t>
            </a:r>
            <a:r>
              <a:rPr lang="de-DE" dirty="0"/>
              <a:t> da die individuellen Nutzenfunktionen nicht beobachtbar sind. Gezahlte Kaufpreise meist Ergebnisse von Verhandlungsprozessen (Stichwort Markmacht)</a:t>
            </a:r>
          </a:p>
          <a:p>
            <a:pPr>
              <a:buClr>
                <a:srgbClr val="002060"/>
              </a:buClr>
            </a:pPr>
            <a:r>
              <a:rPr lang="de-DE" dirty="0"/>
              <a:t>Das Konzept des Grenzpreises stellt den maximalen Preis dar, die Verkäufer und Käufer jeweils zu zahlen bereit sind. Sie sind von der jeweiligen Nutzenfunktion des Wirtschaftssubjekts und seiner damit in Zusammenhang stehenden Renditeforderung sowie der Zukunftserwartungen für das Bewertungsobjekt abhängig</a:t>
            </a:r>
          </a:p>
          <a:p>
            <a:pPr>
              <a:buClr>
                <a:srgbClr val="002060"/>
              </a:buClr>
            </a:pPr>
            <a:r>
              <a:rPr lang="de-DE" dirty="0"/>
              <a:t>Weder Verkäufer noch Käufer nennen im Rahmen von Verhandlungen ihren Grenzpreis</a:t>
            </a:r>
          </a:p>
          <a:p>
            <a:pPr>
              <a:buClr>
                <a:srgbClr val="002060"/>
              </a:buClr>
            </a:pPr>
            <a:r>
              <a:rPr lang="de-DE" dirty="0"/>
              <a:t>Beide werden versuchen, die Gegenseite durch „ihre“ Unternehmenswerte und weitere Argumente zu beeinflussen</a:t>
            </a:r>
          </a:p>
          <a:p>
            <a:pPr>
              <a:buClr>
                <a:srgbClr val="002060"/>
              </a:buClr>
            </a:pPr>
            <a:r>
              <a:rPr lang="de-DE" dirty="0"/>
              <a:t>Grenzpreise können in Verhandlungssituationen über bewertungstheoretische Kapitalisierungsraten abgeleitet werden, müssen es aber nicht. Es können auch eigene Renditeforderung der Parteien herangezogen werden, z.B. die (ggf. nur geschätzte) eigene nächstbeste Investitionsmöglichkeit mit dem dazugehörigen Zinssatz</a:t>
            </a:r>
          </a:p>
          <a:p>
            <a:pPr>
              <a:buClr>
                <a:srgbClr val="002060"/>
              </a:buClr>
            </a:pPr>
            <a:r>
              <a:rPr lang="de-DE" dirty="0"/>
              <a:t>Bei rechtlich geprägten Unternehmensbewertungen werden die Kapitalisierungszinsen </a:t>
            </a:r>
            <a:r>
              <a:rPr lang="de-DE" dirty="0">
                <a:highlight>
                  <a:srgbClr val="00FF00"/>
                </a:highlight>
              </a:rPr>
              <a:t>aufgrund der Prämisse der Risikoäquivalenz </a:t>
            </a:r>
            <a:r>
              <a:rPr lang="de-DE" dirty="0"/>
              <a:t>jedoch immer mittels kapitalmarkttheoretisch fundierten Modellen, meist mittels des zuvor dargestellten Capital Asset Pricing Model (CAPM), hergeleitet </a:t>
            </a:r>
          </a:p>
          <a:p>
            <a:endParaRPr lang="de-DE" dirty="0"/>
          </a:p>
          <a:p>
            <a:endParaRPr lang="en-US" dirty="0"/>
          </a:p>
        </p:txBody>
      </p:sp>
      <p:sp>
        <p:nvSpPr>
          <p:cNvPr id="19" name="Rechteck 88">
            <a:extLst>
              <a:ext uri="{FF2B5EF4-FFF2-40B4-BE49-F238E27FC236}">
                <a16:creationId xmlns:a16="http://schemas.microsoft.com/office/drawing/2014/main" id="{9F291C00-C4F4-5DE9-5F91-79318F2F9577}"/>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cxnSp>
        <p:nvCxnSpPr>
          <p:cNvPr id="21" name="Straight Arrow Connector 20">
            <a:extLst>
              <a:ext uri="{FF2B5EF4-FFF2-40B4-BE49-F238E27FC236}">
                <a16:creationId xmlns:a16="http://schemas.microsoft.com/office/drawing/2014/main" id="{3EF29488-2749-1184-27D7-38EF16E6C8D2}"/>
              </a:ext>
            </a:extLst>
          </p:cNvPr>
          <p:cNvCxnSpPr>
            <a:cxnSpLocks/>
          </p:cNvCxnSpPr>
          <p:nvPr/>
        </p:nvCxnSpPr>
        <p:spPr>
          <a:xfrm>
            <a:off x="275655" y="4868494"/>
            <a:ext cx="40296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9900631-9687-D4C0-1326-60B5D31F9FC7}"/>
              </a:ext>
            </a:extLst>
          </p:cNvPr>
          <p:cNvCxnSpPr>
            <a:cxnSpLocks/>
          </p:cNvCxnSpPr>
          <p:nvPr/>
        </p:nvCxnSpPr>
        <p:spPr>
          <a:xfrm flipV="1">
            <a:off x="275654" y="1852892"/>
            <a:ext cx="0" cy="3024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43AC2440-8EB1-CBBA-07D1-6B8931434FA6}"/>
              </a:ext>
            </a:extLst>
          </p:cNvPr>
          <p:cNvSpPr/>
          <p:nvPr/>
        </p:nvSpPr>
        <p:spPr>
          <a:xfrm>
            <a:off x="2714380" y="2895931"/>
            <a:ext cx="869577" cy="4482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002060"/>
                </a:solidFill>
              </a:rPr>
              <a:t>Preis</a:t>
            </a:r>
          </a:p>
        </p:txBody>
      </p:sp>
      <p:sp>
        <p:nvSpPr>
          <p:cNvPr id="32" name="Rectangle: Rounded Corners 31">
            <a:extLst>
              <a:ext uri="{FF2B5EF4-FFF2-40B4-BE49-F238E27FC236}">
                <a16:creationId xmlns:a16="http://schemas.microsoft.com/office/drawing/2014/main" id="{516C329A-5609-6E59-9FEE-90923071DAFA}"/>
              </a:ext>
            </a:extLst>
          </p:cNvPr>
          <p:cNvSpPr/>
          <p:nvPr/>
        </p:nvSpPr>
        <p:spPr>
          <a:xfrm>
            <a:off x="514180" y="2205151"/>
            <a:ext cx="3614062" cy="4482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002060"/>
                </a:solidFill>
              </a:rPr>
              <a:t>Grenzpreis Käufer (Obergrenze)</a:t>
            </a:r>
          </a:p>
        </p:txBody>
      </p:sp>
      <p:sp>
        <p:nvSpPr>
          <p:cNvPr id="33" name="Rectangle: Rounded Corners 32">
            <a:extLst>
              <a:ext uri="{FF2B5EF4-FFF2-40B4-BE49-F238E27FC236}">
                <a16:creationId xmlns:a16="http://schemas.microsoft.com/office/drawing/2014/main" id="{008EFBE7-0E34-2004-CDF3-05DB5B875790}"/>
              </a:ext>
            </a:extLst>
          </p:cNvPr>
          <p:cNvSpPr/>
          <p:nvPr/>
        </p:nvSpPr>
        <p:spPr>
          <a:xfrm>
            <a:off x="514180" y="4212020"/>
            <a:ext cx="3614062" cy="4482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002060"/>
                </a:solidFill>
              </a:rPr>
              <a:t>Grenzpreis Verkäufer (Untergrenze)</a:t>
            </a:r>
          </a:p>
        </p:txBody>
      </p:sp>
      <p:cxnSp>
        <p:nvCxnSpPr>
          <p:cNvPr id="35" name="Straight Connector 34">
            <a:extLst>
              <a:ext uri="{FF2B5EF4-FFF2-40B4-BE49-F238E27FC236}">
                <a16:creationId xmlns:a16="http://schemas.microsoft.com/office/drawing/2014/main" id="{414C0786-0C7E-BA72-F4EC-7E7447A8402D}"/>
              </a:ext>
            </a:extLst>
          </p:cNvPr>
          <p:cNvCxnSpPr>
            <a:cxnSpLocks/>
          </p:cNvCxnSpPr>
          <p:nvPr/>
        </p:nvCxnSpPr>
        <p:spPr>
          <a:xfrm>
            <a:off x="398925" y="2599597"/>
            <a:ext cx="2700000" cy="17931"/>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85970B-DD82-DE26-ADBD-379137102941}"/>
              </a:ext>
            </a:extLst>
          </p:cNvPr>
          <p:cNvCxnSpPr>
            <a:cxnSpLocks/>
          </p:cNvCxnSpPr>
          <p:nvPr/>
        </p:nvCxnSpPr>
        <p:spPr>
          <a:xfrm flipV="1">
            <a:off x="398925" y="4176157"/>
            <a:ext cx="2700000" cy="1793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BB3483C6-88B1-EA2D-7479-F923017154D8}"/>
              </a:ext>
            </a:extLst>
          </p:cNvPr>
          <p:cNvCxnSpPr>
            <a:cxnSpLocks/>
            <a:endCxn id="30" idx="1"/>
          </p:cNvCxnSpPr>
          <p:nvPr/>
        </p:nvCxnSpPr>
        <p:spPr>
          <a:xfrm>
            <a:off x="398925" y="2852738"/>
            <a:ext cx="2315455" cy="267309"/>
          </a:xfrm>
          <a:prstGeom prst="curved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5A9F4578-7D4E-FFD5-3BC0-5379CAA84ADE}"/>
              </a:ext>
            </a:extLst>
          </p:cNvPr>
          <p:cNvCxnSpPr>
            <a:cxnSpLocks/>
            <a:endCxn id="30" idx="1"/>
          </p:cNvCxnSpPr>
          <p:nvPr/>
        </p:nvCxnSpPr>
        <p:spPr>
          <a:xfrm flipV="1">
            <a:off x="514180" y="3120047"/>
            <a:ext cx="2200200" cy="848703"/>
          </a:xfrm>
          <a:prstGeom prst="curved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771AD243-D52B-EBB6-1E8B-82E8A48B859C}"/>
              </a:ext>
            </a:extLst>
          </p:cNvPr>
          <p:cNvSpPr/>
          <p:nvPr/>
        </p:nvSpPr>
        <p:spPr>
          <a:xfrm>
            <a:off x="398847" y="3399688"/>
            <a:ext cx="1428581" cy="4482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002060"/>
                </a:solidFill>
              </a:rPr>
              <a:t>Verhandlung</a:t>
            </a:r>
          </a:p>
        </p:txBody>
      </p:sp>
      <p:pic>
        <p:nvPicPr>
          <p:cNvPr id="54" name="Graphic 53" descr="Boardroom outline">
            <a:extLst>
              <a:ext uri="{FF2B5EF4-FFF2-40B4-BE49-F238E27FC236}">
                <a16:creationId xmlns:a16="http://schemas.microsoft.com/office/drawing/2014/main" id="{47D6F8CF-7A30-7002-37CC-1E98B5D092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6010" y="2768394"/>
            <a:ext cx="914400" cy="914400"/>
          </a:xfrm>
          <a:prstGeom prst="rect">
            <a:avLst/>
          </a:prstGeom>
        </p:spPr>
      </p:pic>
      <p:sp>
        <p:nvSpPr>
          <p:cNvPr id="58" name="Right Brace 57">
            <a:extLst>
              <a:ext uri="{FF2B5EF4-FFF2-40B4-BE49-F238E27FC236}">
                <a16:creationId xmlns:a16="http://schemas.microsoft.com/office/drawing/2014/main" id="{1B2EDC59-8195-1F05-0028-B83E12AF31E0}"/>
              </a:ext>
            </a:extLst>
          </p:cNvPr>
          <p:cNvSpPr/>
          <p:nvPr/>
        </p:nvSpPr>
        <p:spPr>
          <a:xfrm>
            <a:off x="3232870" y="2671315"/>
            <a:ext cx="316627" cy="1504842"/>
          </a:xfrm>
          <a:prstGeom prst="rightBrace">
            <a:avLst>
              <a:gd name="adj1" fmla="val 8333"/>
              <a:gd name="adj2" fmla="val 49431"/>
            </a:avLst>
          </a:prstGeom>
          <a:ln w="19050">
            <a:solidFill>
              <a:srgbClr val="00206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5" name="Rectangle: Rounded Corners 64">
            <a:extLst>
              <a:ext uri="{FF2B5EF4-FFF2-40B4-BE49-F238E27FC236}">
                <a16:creationId xmlns:a16="http://schemas.microsoft.com/office/drawing/2014/main" id="{DBDC5B4D-DB03-218E-9B27-7698C30529A1}"/>
              </a:ext>
            </a:extLst>
          </p:cNvPr>
          <p:cNvSpPr/>
          <p:nvPr/>
        </p:nvSpPr>
        <p:spPr>
          <a:xfrm>
            <a:off x="3647667" y="3137649"/>
            <a:ext cx="869577" cy="4482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32434D"/>
                </a:solidFill>
              </a:rPr>
              <a:t>Einigungs-Bereich</a:t>
            </a:r>
          </a:p>
        </p:txBody>
      </p:sp>
      <p:sp>
        <p:nvSpPr>
          <p:cNvPr id="66" name="Text Placeholder 6">
            <a:extLst>
              <a:ext uri="{FF2B5EF4-FFF2-40B4-BE49-F238E27FC236}">
                <a16:creationId xmlns:a16="http://schemas.microsoft.com/office/drawing/2014/main" id="{8C1DCFC3-2831-6896-03E4-7A8177315EF2}"/>
              </a:ext>
            </a:extLst>
          </p:cNvPr>
          <p:cNvSpPr txBox="1">
            <a:spLocks/>
          </p:cNvSpPr>
          <p:nvPr/>
        </p:nvSpPr>
        <p:spPr>
          <a:xfrm>
            <a:off x="288526" y="1356677"/>
            <a:ext cx="4555947" cy="315077"/>
          </a:xfrm>
          <a:prstGeom prst="rect">
            <a:avLst/>
          </a:prstGeom>
        </p:spPr>
        <p:txBody>
          <a:bodyPr vert="horz" lIns="0" tIns="0" rIns="0" bIns="45720" rtlCol="0" anchor="ctr" anchorCtr="0">
            <a:noAutofit/>
          </a:bodyPr>
          <a:lstStyle>
            <a:lvl1pPr marL="0" indent="0" algn="l" defTabSz="685800" rtl="0" eaLnBrk="1" latinLnBrk="0" hangingPunct="1">
              <a:lnSpc>
                <a:spcPct val="90000"/>
              </a:lnSpc>
              <a:spcBef>
                <a:spcPts val="750"/>
              </a:spcBef>
              <a:buClr>
                <a:srgbClr val="1792BA"/>
              </a:buClr>
              <a:buFont typeface="+mj-lt"/>
              <a:buNone/>
              <a:defRPr sz="1200" b="1" kern="1200" baseline="0">
                <a:solidFill>
                  <a:srgbClr val="8BAABF"/>
                </a:solidFill>
                <a:latin typeface="+mn-lt"/>
                <a:ea typeface="+mn-ea"/>
                <a:cs typeface="+mn-cs"/>
              </a:defRPr>
            </a:lvl1pPr>
            <a:lvl2pPr marL="914400" indent="-457200" algn="l" defTabSz="685800" rtl="0" eaLnBrk="1" latinLnBrk="0" hangingPunct="1">
              <a:lnSpc>
                <a:spcPct val="90000"/>
              </a:lnSpc>
              <a:spcBef>
                <a:spcPts val="375"/>
              </a:spcBef>
              <a:buClr>
                <a:srgbClr val="1792BA"/>
              </a:buClr>
              <a:buFont typeface="+mj-lt"/>
              <a:buAutoNum type="arabicPeriod"/>
              <a:defRPr sz="1100" kern="1200">
                <a:solidFill>
                  <a:schemeClr val="tx1"/>
                </a:solidFill>
                <a:latin typeface="+mn-lt"/>
                <a:ea typeface="+mn-ea"/>
                <a:cs typeface="+mn-cs"/>
              </a:defRPr>
            </a:lvl2pPr>
            <a:lvl3pPr marL="1371600" indent="-457200" algn="l" defTabSz="685800" rtl="0" eaLnBrk="1" latinLnBrk="0" hangingPunct="1">
              <a:lnSpc>
                <a:spcPct val="90000"/>
              </a:lnSpc>
              <a:spcBef>
                <a:spcPts val="375"/>
              </a:spcBef>
              <a:buClr>
                <a:srgbClr val="1792BA"/>
              </a:buClr>
              <a:buFont typeface="+mj-lt"/>
              <a:buAutoNum type="arabicPeriod"/>
              <a:defRPr sz="1500" kern="1200">
                <a:solidFill>
                  <a:schemeClr val="tx1"/>
                </a:solidFill>
                <a:latin typeface="+mn-lt"/>
                <a:ea typeface="+mn-ea"/>
                <a:cs typeface="+mn-cs"/>
              </a:defRPr>
            </a:lvl3pPr>
            <a:lvl4pPr marL="17145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4pPr>
            <a:lvl5pPr marL="21717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solidFill>
                  <a:srgbClr val="32434D"/>
                </a:solidFill>
              </a:rPr>
              <a:t>Darstellung</a:t>
            </a:r>
            <a:endParaRPr lang="en-US" dirty="0">
              <a:solidFill>
                <a:srgbClr val="32434D"/>
              </a:solidFill>
            </a:endParaRPr>
          </a:p>
        </p:txBody>
      </p:sp>
    </p:spTree>
    <p:extLst>
      <p:ext uri="{BB962C8B-B14F-4D97-AF65-F5344CB8AC3E}">
        <p14:creationId xmlns:p14="http://schemas.microsoft.com/office/powerpoint/2010/main" val="3582462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10</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Werttreiber - was beeinflusst den Unternehmenswert?</a:t>
            </a:r>
          </a:p>
        </p:txBody>
      </p:sp>
      <p:sp>
        <p:nvSpPr>
          <p:cNvPr id="19" name="Rechteck 88">
            <a:extLst>
              <a:ext uri="{FF2B5EF4-FFF2-40B4-BE49-F238E27FC236}">
                <a16:creationId xmlns:a16="http://schemas.microsoft.com/office/drawing/2014/main" id="{9F291C00-C4F4-5DE9-5F91-79318F2F9577}"/>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sp>
        <p:nvSpPr>
          <p:cNvPr id="66" name="Text Placeholder 6">
            <a:extLst>
              <a:ext uri="{FF2B5EF4-FFF2-40B4-BE49-F238E27FC236}">
                <a16:creationId xmlns:a16="http://schemas.microsoft.com/office/drawing/2014/main" id="{8C1DCFC3-2831-6896-03E4-7A8177315EF2}"/>
              </a:ext>
            </a:extLst>
          </p:cNvPr>
          <p:cNvSpPr txBox="1">
            <a:spLocks/>
          </p:cNvSpPr>
          <p:nvPr/>
        </p:nvSpPr>
        <p:spPr>
          <a:xfrm>
            <a:off x="288526" y="1356677"/>
            <a:ext cx="4555947" cy="315077"/>
          </a:xfrm>
          <a:prstGeom prst="rect">
            <a:avLst/>
          </a:prstGeom>
        </p:spPr>
        <p:txBody>
          <a:bodyPr vert="horz" lIns="0" tIns="0" rIns="0" bIns="45720" rtlCol="0" anchor="ctr" anchorCtr="0">
            <a:noAutofit/>
          </a:bodyPr>
          <a:lstStyle>
            <a:lvl1pPr marL="0" indent="0" algn="l" defTabSz="685800" rtl="0" eaLnBrk="1" latinLnBrk="0" hangingPunct="1">
              <a:lnSpc>
                <a:spcPct val="90000"/>
              </a:lnSpc>
              <a:spcBef>
                <a:spcPts val="750"/>
              </a:spcBef>
              <a:buClr>
                <a:srgbClr val="1792BA"/>
              </a:buClr>
              <a:buFont typeface="+mj-lt"/>
              <a:buNone/>
              <a:defRPr sz="1200" b="1" kern="1200" baseline="0">
                <a:solidFill>
                  <a:srgbClr val="8BAABF"/>
                </a:solidFill>
                <a:latin typeface="+mn-lt"/>
                <a:ea typeface="+mn-ea"/>
                <a:cs typeface="+mn-cs"/>
              </a:defRPr>
            </a:lvl1pPr>
            <a:lvl2pPr marL="914400" indent="-457200" algn="l" defTabSz="685800" rtl="0" eaLnBrk="1" latinLnBrk="0" hangingPunct="1">
              <a:lnSpc>
                <a:spcPct val="90000"/>
              </a:lnSpc>
              <a:spcBef>
                <a:spcPts val="375"/>
              </a:spcBef>
              <a:buClr>
                <a:srgbClr val="1792BA"/>
              </a:buClr>
              <a:buFont typeface="+mj-lt"/>
              <a:buAutoNum type="arabicPeriod"/>
              <a:defRPr sz="1100" kern="1200">
                <a:solidFill>
                  <a:schemeClr val="tx1"/>
                </a:solidFill>
                <a:latin typeface="+mn-lt"/>
                <a:ea typeface="+mn-ea"/>
                <a:cs typeface="+mn-cs"/>
              </a:defRPr>
            </a:lvl2pPr>
            <a:lvl3pPr marL="1371600" indent="-457200" algn="l" defTabSz="685800" rtl="0" eaLnBrk="1" latinLnBrk="0" hangingPunct="1">
              <a:lnSpc>
                <a:spcPct val="90000"/>
              </a:lnSpc>
              <a:spcBef>
                <a:spcPts val="375"/>
              </a:spcBef>
              <a:buClr>
                <a:srgbClr val="1792BA"/>
              </a:buClr>
              <a:buFont typeface="+mj-lt"/>
              <a:buAutoNum type="arabicPeriod"/>
              <a:defRPr sz="1500" kern="1200">
                <a:solidFill>
                  <a:schemeClr val="tx1"/>
                </a:solidFill>
                <a:latin typeface="+mn-lt"/>
                <a:ea typeface="+mn-ea"/>
                <a:cs typeface="+mn-cs"/>
              </a:defRPr>
            </a:lvl3pPr>
            <a:lvl4pPr marL="17145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4pPr>
            <a:lvl5pPr marL="21717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solidFill>
                  <a:srgbClr val="32434D"/>
                </a:solidFill>
              </a:rPr>
              <a:t>Darstellung</a:t>
            </a:r>
            <a:endParaRPr lang="en-US" dirty="0">
              <a:solidFill>
                <a:srgbClr val="32434D"/>
              </a:solidFill>
            </a:endParaRPr>
          </a:p>
        </p:txBody>
      </p:sp>
      <p:sp>
        <p:nvSpPr>
          <p:cNvPr id="3" name="Gleichschenkliges Dreieck 2">
            <a:extLst>
              <a:ext uri="{FF2B5EF4-FFF2-40B4-BE49-F238E27FC236}">
                <a16:creationId xmlns:a16="http://schemas.microsoft.com/office/drawing/2014/main" id="{E23F7BF3-03B3-CCC0-CC3C-7E8DC19742A5}"/>
              </a:ext>
            </a:extLst>
          </p:cNvPr>
          <p:cNvSpPr/>
          <p:nvPr/>
        </p:nvSpPr>
        <p:spPr>
          <a:xfrm>
            <a:off x="923717" y="2574258"/>
            <a:ext cx="2016810" cy="1848120"/>
          </a:xfrm>
          <a:prstGeom prst="triangle">
            <a:avLst/>
          </a:prstGeom>
          <a:noFill/>
          <a:ln w="2222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20">
            <a:extLst>
              <a:ext uri="{FF2B5EF4-FFF2-40B4-BE49-F238E27FC236}">
                <a16:creationId xmlns:a16="http://schemas.microsoft.com/office/drawing/2014/main" id="{E2C0042A-2E03-805F-EB85-7358EEA81703}"/>
              </a:ext>
            </a:extLst>
          </p:cNvPr>
          <p:cNvSpPr/>
          <p:nvPr/>
        </p:nvSpPr>
        <p:spPr>
          <a:xfrm>
            <a:off x="-23552" y="4498852"/>
            <a:ext cx="1466335" cy="31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Risiko</a:t>
            </a:r>
          </a:p>
        </p:txBody>
      </p:sp>
      <p:sp>
        <p:nvSpPr>
          <p:cNvPr id="6" name="Rechteck 21">
            <a:extLst>
              <a:ext uri="{FF2B5EF4-FFF2-40B4-BE49-F238E27FC236}">
                <a16:creationId xmlns:a16="http://schemas.microsoft.com/office/drawing/2014/main" id="{D62826C7-5A20-2775-9154-59A575873C85}"/>
              </a:ext>
            </a:extLst>
          </p:cNvPr>
          <p:cNvSpPr/>
          <p:nvPr/>
        </p:nvSpPr>
        <p:spPr>
          <a:xfrm>
            <a:off x="2107933" y="4498852"/>
            <a:ext cx="2736539" cy="410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Zeitschiene / „Länge“ der Zahlungsmittelüberschüsse</a:t>
            </a:r>
          </a:p>
        </p:txBody>
      </p:sp>
      <p:sp>
        <p:nvSpPr>
          <p:cNvPr id="7" name="Rechteck 22">
            <a:extLst>
              <a:ext uri="{FF2B5EF4-FFF2-40B4-BE49-F238E27FC236}">
                <a16:creationId xmlns:a16="http://schemas.microsoft.com/office/drawing/2014/main" id="{A77E6932-7838-362A-2304-D83887013E3D}"/>
              </a:ext>
            </a:extLst>
          </p:cNvPr>
          <p:cNvSpPr/>
          <p:nvPr/>
        </p:nvSpPr>
        <p:spPr>
          <a:xfrm>
            <a:off x="839133" y="2070727"/>
            <a:ext cx="2185978" cy="410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Höhe Zahlungsmittel-überschüsse</a:t>
            </a:r>
          </a:p>
        </p:txBody>
      </p:sp>
      <p:sp>
        <p:nvSpPr>
          <p:cNvPr id="8" name="Text Placeholder 11">
            <a:extLst>
              <a:ext uri="{FF2B5EF4-FFF2-40B4-BE49-F238E27FC236}">
                <a16:creationId xmlns:a16="http://schemas.microsoft.com/office/drawing/2014/main" id="{FAA53918-5985-6DD2-FCB7-14F853508290}"/>
              </a:ext>
            </a:extLst>
          </p:cNvPr>
          <p:cNvSpPr txBox="1">
            <a:spLocks/>
          </p:cNvSpPr>
          <p:nvPr/>
        </p:nvSpPr>
        <p:spPr>
          <a:xfrm>
            <a:off x="4953001" y="1847390"/>
            <a:ext cx="4664476" cy="4426410"/>
          </a:xfrm>
          <a:prstGeom prst="rect">
            <a:avLst/>
          </a:prstGeom>
        </p:spPr>
        <p:txBody>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002060"/>
              </a:buClr>
            </a:pPr>
            <a:r>
              <a:rPr lang="de-DE" dirty="0"/>
              <a:t>Unternehmen dienen der Einkommenserzielung. Bewertungsrelevant sind die Zuflüsse aus dem Unternehmen, die der Unternehmenseigner aufgrund seiner gesellschaftsrechtlichen Position erhält (</a:t>
            </a:r>
            <a:r>
              <a:rPr lang="pl-PL" dirty="0"/>
              <a:t>IDW S1 i. d. F. 2008, Rz. 24.</a:t>
            </a:r>
            <a:r>
              <a:rPr lang="de-DE" dirty="0"/>
              <a:t>)</a:t>
            </a:r>
          </a:p>
          <a:p>
            <a:pPr>
              <a:buClr>
                <a:srgbClr val="002060"/>
              </a:buClr>
            </a:pPr>
            <a:r>
              <a:rPr lang="de-DE" dirty="0"/>
              <a:t>Der Wert eines Unternehmens wird allein aus seiner Eigenschaft abgeleitet, finanzielle Überschüsse für die Unternehmenseigner zu erwirtschaften (</a:t>
            </a:r>
            <a:r>
              <a:rPr lang="pl-PL" dirty="0"/>
              <a:t>IDW S1 i. d. F. 2008, Rz. 4.</a:t>
            </a:r>
            <a:r>
              <a:rPr lang="de-DE" dirty="0"/>
              <a:t>)</a:t>
            </a:r>
          </a:p>
          <a:p>
            <a:pPr>
              <a:buClr>
                <a:srgbClr val="002060"/>
              </a:buClr>
            </a:pPr>
            <a:r>
              <a:rPr lang="de-DE" dirty="0"/>
              <a:t>Einfluss auf den Unternehmenswert haben alle Faktoren und Annahmen, die sich (a) auf die Höhe der Zahlungsmittelüberschüsse, die (b) Zeitschiene (Länge der erwarteten Zahlungsmittelüberschüsse) oder (c) das Risiko der Zahlungsströme / der Gesellschaft auswirken</a:t>
            </a:r>
          </a:p>
          <a:p>
            <a:pPr>
              <a:buClr>
                <a:srgbClr val="002060"/>
              </a:buClr>
            </a:pPr>
            <a:r>
              <a:rPr lang="de-DE" dirty="0">
                <a:highlight>
                  <a:srgbClr val="FFFF00"/>
                </a:highlight>
              </a:rPr>
              <a:t>Beispiele für Maßnahmen, die auf diese Faktoren wirken sind die Erhöhung von Umsätzen z.B. aufgrund von erfolgreichen Marketing-Maßnahmen, die Durchsetzung höherer Preise (Preissetzungsmacht, z.B. durch Markenstärke), effizienterer Einsatz von Material und Personal (höhere operative Marge), Reduzierung des Steueraufwands, effizientere Investitionen in Sachanlage und Umlaufvermögen, Reduzierung Fremdkapital, wenn die optimale Fremdkapitalrelation überschritten ist etc. </a:t>
            </a:r>
          </a:p>
          <a:p>
            <a:pPr>
              <a:buClr>
                <a:srgbClr val="002060"/>
              </a:buClr>
            </a:pPr>
            <a:r>
              <a:rPr lang="de-DE" dirty="0">
                <a:highlight>
                  <a:srgbClr val="FFFF00"/>
                </a:highlight>
              </a:rPr>
              <a:t>Daher können aufgrund unterschiedlicher Vorstellungen der Wirtschaftssubjekte in subjektiven Bewertungsanlässen sowie abhängig </a:t>
            </a:r>
            <a:r>
              <a:rPr lang="de-DE" dirty="0">
                <a:highlight>
                  <a:srgbClr val="FFFF00"/>
                </a:highlight>
                <a:sym typeface="Wingdings" panose="05000000000000000000" pitchFamily="2" charset="2"/>
              </a:rPr>
              <a:t>vom Anlass, dem gewählten Verfahren sowie den zugrundeliegenden Annahmen der beteiligten Parteien abweichende Unternehmenswerte für das gleiche Bewertungsobjekt hergeleitet werden</a:t>
            </a:r>
            <a:endParaRPr lang="de-DE" dirty="0">
              <a:highlight>
                <a:srgbClr val="FFFF00"/>
              </a:highlight>
            </a:endParaRPr>
          </a:p>
          <a:p>
            <a:endParaRPr lang="en-US" dirty="0"/>
          </a:p>
        </p:txBody>
      </p:sp>
    </p:spTree>
    <p:extLst>
      <p:ext uri="{BB962C8B-B14F-4D97-AF65-F5344CB8AC3E}">
        <p14:creationId xmlns:p14="http://schemas.microsoft.com/office/powerpoint/2010/main" val="2154131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11</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BEISPIEL DCF-WACC</a:t>
            </a:r>
          </a:p>
        </p:txBody>
      </p:sp>
      <p:pic>
        <p:nvPicPr>
          <p:cNvPr id="5" name="Grafik 4">
            <a:extLst>
              <a:ext uri="{FF2B5EF4-FFF2-40B4-BE49-F238E27FC236}">
                <a16:creationId xmlns:a16="http://schemas.microsoft.com/office/drawing/2014/main" id="{D4CC9C59-5C40-8DB7-FE5F-C5AFC690047B}"/>
              </a:ext>
            </a:extLst>
          </p:cNvPr>
          <p:cNvPicPr>
            <a:picLocks noChangeAspect="1"/>
          </p:cNvPicPr>
          <p:nvPr/>
        </p:nvPicPr>
        <p:blipFill>
          <a:blip r:embed="rId2"/>
          <a:stretch>
            <a:fillRect/>
          </a:stretch>
        </p:blipFill>
        <p:spPr>
          <a:xfrm>
            <a:off x="296354" y="1958056"/>
            <a:ext cx="3714049" cy="2055519"/>
          </a:xfrm>
          <a:prstGeom prst="rect">
            <a:avLst/>
          </a:prstGeom>
        </p:spPr>
      </p:pic>
      <p:sp>
        <p:nvSpPr>
          <p:cNvPr id="6" name="Rechteck 88">
            <a:extLst>
              <a:ext uri="{FF2B5EF4-FFF2-40B4-BE49-F238E27FC236}">
                <a16:creationId xmlns:a16="http://schemas.microsoft.com/office/drawing/2014/main" id="{BC614EC0-0BBB-7F6E-0320-42A78BC91576}"/>
              </a:ext>
            </a:extLst>
          </p:cNvPr>
          <p:cNvSpPr/>
          <p:nvPr/>
        </p:nvSpPr>
        <p:spPr>
          <a:xfrm>
            <a:off x="2754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Berechnung Zahlungsüberschüsse (vereinfacht)</a:t>
            </a:r>
          </a:p>
        </p:txBody>
      </p:sp>
      <p:sp>
        <p:nvSpPr>
          <p:cNvPr id="7" name="Rechteck 48">
            <a:extLst>
              <a:ext uri="{FF2B5EF4-FFF2-40B4-BE49-F238E27FC236}">
                <a16:creationId xmlns:a16="http://schemas.microsoft.com/office/drawing/2014/main" id="{E1889E58-E56F-4442-FD47-05931198F72C}"/>
              </a:ext>
            </a:extLst>
          </p:cNvPr>
          <p:cNvSpPr/>
          <p:nvPr/>
        </p:nvSpPr>
        <p:spPr>
          <a:xfrm>
            <a:off x="5274691" y="2592531"/>
            <a:ext cx="629436" cy="5634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dirty="0"/>
              <a:t>Unver-</a:t>
            </a:r>
            <a:r>
              <a:rPr lang="en-US" sz="900" dirty="0" err="1"/>
              <a:t>schuldetes</a:t>
            </a:r>
            <a:r>
              <a:rPr lang="en-US" sz="900" dirty="0"/>
              <a:t> Beta</a:t>
            </a:r>
          </a:p>
        </p:txBody>
      </p:sp>
      <p:sp>
        <p:nvSpPr>
          <p:cNvPr id="8" name="Rechteck 49">
            <a:extLst>
              <a:ext uri="{FF2B5EF4-FFF2-40B4-BE49-F238E27FC236}">
                <a16:creationId xmlns:a16="http://schemas.microsoft.com/office/drawing/2014/main" id="{2C416E29-0C22-78A3-3F93-3CFD3AEA4168}"/>
              </a:ext>
            </a:extLst>
          </p:cNvPr>
          <p:cNvSpPr/>
          <p:nvPr/>
        </p:nvSpPr>
        <p:spPr>
          <a:xfrm>
            <a:off x="5616812" y="3656041"/>
            <a:ext cx="718678" cy="42162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de-DE" sz="900"/>
              <a:t>Verschul-detes Beta</a:t>
            </a:r>
          </a:p>
        </p:txBody>
      </p:sp>
      <p:sp>
        <p:nvSpPr>
          <p:cNvPr id="9" name="Rechteck 55">
            <a:extLst>
              <a:ext uri="{FF2B5EF4-FFF2-40B4-BE49-F238E27FC236}">
                <a16:creationId xmlns:a16="http://schemas.microsoft.com/office/drawing/2014/main" id="{243B4912-0957-6FD9-BD8D-B465487ECCBC}"/>
              </a:ext>
            </a:extLst>
          </p:cNvPr>
          <p:cNvSpPr/>
          <p:nvPr/>
        </p:nvSpPr>
        <p:spPr>
          <a:xfrm>
            <a:off x="7700531" y="1860617"/>
            <a:ext cx="1892762" cy="468313"/>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100">
                <a:solidFill>
                  <a:schemeClr val="tx1"/>
                </a:solidFill>
              </a:rPr>
              <a:t>Fremdkapitalkosten</a:t>
            </a:r>
            <a:endParaRPr lang="en-US" sz="1100" dirty="0">
              <a:solidFill>
                <a:schemeClr val="tx1"/>
              </a:solidFill>
            </a:endParaRPr>
          </a:p>
        </p:txBody>
      </p:sp>
      <p:sp>
        <p:nvSpPr>
          <p:cNvPr id="10" name="Rechteck 56">
            <a:extLst>
              <a:ext uri="{FF2B5EF4-FFF2-40B4-BE49-F238E27FC236}">
                <a16:creationId xmlns:a16="http://schemas.microsoft.com/office/drawing/2014/main" id="{306A6798-5152-D077-27E1-4C71985FF516}"/>
              </a:ext>
            </a:extLst>
          </p:cNvPr>
          <p:cNvSpPr/>
          <p:nvPr/>
        </p:nvSpPr>
        <p:spPr>
          <a:xfrm>
            <a:off x="6857001" y="5614459"/>
            <a:ext cx="1324128" cy="468313"/>
          </a:xfrm>
          <a:prstGeom prst="rect">
            <a:avLst/>
          </a:prstGeom>
          <a:solidFill>
            <a:srgbClr val="0A32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WACC</a:t>
            </a:r>
          </a:p>
        </p:txBody>
      </p:sp>
      <p:sp>
        <p:nvSpPr>
          <p:cNvPr id="11" name="Rechteck 57">
            <a:extLst>
              <a:ext uri="{FF2B5EF4-FFF2-40B4-BE49-F238E27FC236}">
                <a16:creationId xmlns:a16="http://schemas.microsoft.com/office/drawing/2014/main" id="{4D7E502C-F992-F557-4C1C-4F49E1BDE1F2}"/>
              </a:ext>
            </a:extLst>
          </p:cNvPr>
          <p:cNvSpPr/>
          <p:nvPr/>
        </p:nvSpPr>
        <p:spPr>
          <a:xfrm>
            <a:off x="6277045" y="2592531"/>
            <a:ext cx="524952" cy="5634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t>Steuer-satz</a:t>
            </a:r>
            <a:endParaRPr lang="en-US" sz="900" dirty="0"/>
          </a:p>
        </p:txBody>
      </p:sp>
      <p:sp>
        <p:nvSpPr>
          <p:cNvPr id="12" name="Rechteck 58">
            <a:extLst>
              <a:ext uri="{FF2B5EF4-FFF2-40B4-BE49-F238E27FC236}">
                <a16:creationId xmlns:a16="http://schemas.microsoft.com/office/drawing/2014/main" id="{5E066BB9-9E92-848E-597A-E7C15C8EBB27}"/>
              </a:ext>
            </a:extLst>
          </p:cNvPr>
          <p:cNvSpPr/>
          <p:nvPr/>
        </p:nvSpPr>
        <p:spPr>
          <a:xfrm>
            <a:off x="6951306" y="2592531"/>
            <a:ext cx="668980" cy="57210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t>Verschul-</a:t>
            </a:r>
          </a:p>
          <a:p>
            <a:pPr algn="ctr"/>
            <a:r>
              <a:rPr lang="en-US" sz="900"/>
              <a:t>dungsgrad (FK/EK)</a:t>
            </a:r>
            <a:endParaRPr lang="en-US" sz="900" dirty="0"/>
          </a:p>
        </p:txBody>
      </p:sp>
      <p:sp>
        <p:nvSpPr>
          <p:cNvPr id="13" name="Rechteck 60">
            <a:extLst>
              <a:ext uri="{FF2B5EF4-FFF2-40B4-BE49-F238E27FC236}">
                <a16:creationId xmlns:a16="http://schemas.microsoft.com/office/drawing/2014/main" id="{F91CECD4-0F30-3689-17BE-CDAEFBB74619}"/>
              </a:ext>
            </a:extLst>
          </p:cNvPr>
          <p:cNvSpPr/>
          <p:nvPr/>
        </p:nvSpPr>
        <p:spPr>
          <a:xfrm>
            <a:off x="6582948" y="3656041"/>
            <a:ext cx="718678" cy="42162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900" dirty="0" err="1"/>
              <a:t>Marktrisiko-Prämie</a:t>
            </a:r>
            <a:endParaRPr lang="en-US" sz="900" dirty="0"/>
          </a:p>
        </p:txBody>
      </p:sp>
      <p:sp>
        <p:nvSpPr>
          <p:cNvPr id="14" name="Rechteck 61">
            <a:extLst>
              <a:ext uri="{FF2B5EF4-FFF2-40B4-BE49-F238E27FC236}">
                <a16:creationId xmlns:a16="http://schemas.microsoft.com/office/drawing/2014/main" id="{C6752697-46BF-A5B2-B7D2-9FB351267411}"/>
              </a:ext>
            </a:extLst>
          </p:cNvPr>
          <p:cNvSpPr/>
          <p:nvPr/>
        </p:nvSpPr>
        <p:spPr>
          <a:xfrm>
            <a:off x="8005522" y="2592531"/>
            <a:ext cx="629437" cy="563465"/>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900">
                <a:solidFill>
                  <a:schemeClr val="tx1"/>
                </a:solidFill>
              </a:rPr>
              <a:t>Risiko-loser Zinssatz</a:t>
            </a:r>
            <a:endParaRPr lang="en-US" sz="900" dirty="0">
              <a:solidFill>
                <a:schemeClr val="tx1"/>
              </a:solidFill>
            </a:endParaRPr>
          </a:p>
        </p:txBody>
      </p:sp>
      <p:sp>
        <p:nvSpPr>
          <p:cNvPr id="15" name="Rechteck 63">
            <a:extLst>
              <a:ext uri="{FF2B5EF4-FFF2-40B4-BE49-F238E27FC236}">
                <a16:creationId xmlns:a16="http://schemas.microsoft.com/office/drawing/2014/main" id="{B6DFCDAC-F893-CC79-C6F9-CDDABA2BB6E7}"/>
              </a:ext>
            </a:extLst>
          </p:cNvPr>
          <p:cNvSpPr/>
          <p:nvPr/>
        </p:nvSpPr>
        <p:spPr>
          <a:xfrm>
            <a:off x="8838326" y="2592531"/>
            <a:ext cx="629437" cy="563464"/>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solidFill>
                  <a:schemeClr val="tx1"/>
                </a:solidFill>
              </a:rPr>
              <a:t>Kredit-Spread</a:t>
            </a:r>
            <a:endParaRPr lang="en-US" sz="900" dirty="0">
              <a:solidFill>
                <a:schemeClr val="tx1"/>
              </a:solidFill>
            </a:endParaRPr>
          </a:p>
        </p:txBody>
      </p:sp>
      <p:sp>
        <p:nvSpPr>
          <p:cNvPr id="16" name="Rechteck 64">
            <a:extLst>
              <a:ext uri="{FF2B5EF4-FFF2-40B4-BE49-F238E27FC236}">
                <a16:creationId xmlns:a16="http://schemas.microsoft.com/office/drawing/2014/main" id="{349A50A9-9123-1B0B-4599-C28171BF62F1}"/>
              </a:ext>
            </a:extLst>
          </p:cNvPr>
          <p:cNvSpPr/>
          <p:nvPr/>
        </p:nvSpPr>
        <p:spPr>
          <a:xfrm>
            <a:off x="7700530" y="3665373"/>
            <a:ext cx="638005" cy="429912"/>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solidFill>
                  <a:schemeClr val="tx1"/>
                </a:solidFill>
              </a:rPr>
              <a:t>FK-Kosten </a:t>
            </a:r>
            <a:br>
              <a:rPr lang="en-US" sz="900">
                <a:solidFill>
                  <a:schemeClr val="tx1"/>
                </a:solidFill>
              </a:rPr>
            </a:br>
            <a:r>
              <a:rPr lang="en-US" sz="900">
                <a:solidFill>
                  <a:schemeClr val="tx1"/>
                </a:solidFill>
              </a:rPr>
              <a:t>v. Steuern</a:t>
            </a:r>
            <a:endParaRPr lang="en-US" sz="900" dirty="0">
              <a:solidFill>
                <a:schemeClr val="tx1"/>
              </a:solidFill>
            </a:endParaRPr>
          </a:p>
        </p:txBody>
      </p:sp>
      <p:sp>
        <p:nvSpPr>
          <p:cNvPr id="17" name="Rechteck 65">
            <a:extLst>
              <a:ext uri="{FF2B5EF4-FFF2-40B4-BE49-F238E27FC236}">
                <a16:creationId xmlns:a16="http://schemas.microsoft.com/office/drawing/2014/main" id="{B5AD7147-84CB-F514-0027-B34EDB4E32C7}"/>
              </a:ext>
            </a:extLst>
          </p:cNvPr>
          <p:cNvSpPr/>
          <p:nvPr/>
        </p:nvSpPr>
        <p:spPr>
          <a:xfrm>
            <a:off x="8912642" y="3659681"/>
            <a:ext cx="680651" cy="429912"/>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solidFill>
                  <a:schemeClr val="tx1"/>
                </a:solidFill>
              </a:rPr>
              <a:t>Grenz-Steuersatz (MRT)</a:t>
            </a:r>
            <a:endParaRPr lang="en-US" sz="900" dirty="0">
              <a:solidFill>
                <a:schemeClr val="tx1"/>
              </a:solidFill>
            </a:endParaRPr>
          </a:p>
        </p:txBody>
      </p:sp>
      <p:sp>
        <p:nvSpPr>
          <p:cNvPr id="18" name="Rechteck 66">
            <a:extLst>
              <a:ext uri="{FF2B5EF4-FFF2-40B4-BE49-F238E27FC236}">
                <a16:creationId xmlns:a16="http://schemas.microsoft.com/office/drawing/2014/main" id="{3587E578-15D4-24B4-81EF-8BC64B65222A}"/>
              </a:ext>
            </a:extLst>
          </p:cNvPr>
          <p:cNvSpPr/>
          <p:nvPr/>
        </p:nvSpPr>
        <p:spPr>
          <a:xfrm>
            <a:off x="7847586" y="4595142"/>
            <a:ext cx="718678" cy="499960"/>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solidFill>
                  <a:schemeClr val="tx1"/>
                </a:solidFill>
              </a:rPr>
              <a:t>FK-Kosten n.St.</a:t>
            </a:r>
            <a:endParaRPr lang="en-US" sz="900" dirty="0">
              <a:solidFill>
                <a:schemeClr val="tx1"/>
              </a:solidFill>
            </a:endParaRPr>
          </a:p>
        </p:txBody>
      </p:sp>
      <p:sp>
        <p:nvSpPr>
          <p:cNvPr id="19" name="Rechteck 68">
            <a:extLst>
              <a:ext uri="{FF2B5EF4-FFF2-40B4-BE49-F238E27FC236}">
                <a16:creationId xmlns:a16="http://schemas.microsoft.com/office/drawing/2014/main" id="{4F5BEBCB-B9CC-A6D8-D4E6-C6C7695DFD91}"/>
              </a:ext>
            </a:extLst>
          </p:cNvPr>
          <p:cNvSpPr/>
          <p:nvPr/>
        </p:nvSpPr>
        <p:spPr>
          <a:xfrm>
            <a:off x="8838326" y="4619640"/>
            <a:ext cx="718678" cy="475461"/>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900">
                <a:solidFill>
                  <a:schemeClr val="tx1"/>
                </a:solidFill>
              </a:rPr>
              <a:t>FK / GK</a:t>
            </a:r>
            <a:endParaRPr lang="en-US" sz="900" dirty="0">
              <a:solidFill>
                <a:schemeClr val="tx1"/>
              </a:solidFill>
            </a:endParaRPr>
          </a:p>
        </p:txBody>
      </p:sp>
      <p:cxnSp>
        <p:nvCxnSpPr>
          <p:cNvPr id="20" name="Verbinder: gewinkelt 70">
            <a:extLst>
              <a:ext uri="{FF2B5EF4-FFF2-40B4-BE49-F238E27FC236}">
                <a16:creationId xmlns:a16="http://schemas.microsoft.com/office/drawing/2014/main" id="{848056E8-C37E-CD22-48B8-E2A72FBB6D47}"/>
              </a:ext>
            </a:extLst>
          </p:cNvPr>
          <p:cNvCxnSpPr>
            <a:cxnSpLocks/>
            <a:stCxn id="7" idx="2"/>
            <a:endCxn id="8" idx="0"/>
          </p:cNvCxnSpPr>
          <p:nvPr/>
        </p:nvCxnSpPr>
        <p:spPr>
          <a:xfrm rot="16200000" flipH="1">
            <a:off x="5532758" y="3212648"/>
            <a:ext cx="500044" cy="38674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Verbinder: gewinkelt 72">
            <a:extLst>
              <a:ext uri="{FF2B5EF4-FFF2-40B4-BE49-F238E27FC236}">
                <a16:creationId xmlns:a16="http://schemas.microsoft.com/office/drawing/2014/main" id="{F93CDE46-5C08-26A2-04A6-D419293C7135}"/>
              </a:ext>
            </a:extLst>
          </p:cNvPr>
          <p:cNvCxnSpPr>
            <a:cxnSpLocks/>
            <a:stCxn id="11" idx="2"/>
            <a:endCxn id="8" idx="0"/>
          </p:cNvCxnSpPr>
          <p:nvPr/>
        </p:nvCxnSpPr>
        <p:spPr>
          <a:xfrm rot="5400000">
            <a:off x="6007814" y="3124334"/>
            <a:ext cx="500044" cy="56337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Verbinder: gewinkelt 73">
            <a:extLst>
              <a:ext uri="{FF2B5EF4-FFF2-40B4-BE49-F238E27FC236}">
                <a16:creationId xmlns:a16="http://schemas.microsoft.com/office/drawing/2014/main" id="{DAF8D194-84CB-61C8-B933-D586F807D3A3}"/>
              </a:ext>
            </a:extLst>
          </p:cNvPr>
          <p:cNvCxnSpPr>
            <a:cxnSpLocks/>
            <a:stCxn id="12" idx="2"/>
            <a:endCxn id="8" idx="0"/>
          </p:cNvCxnSpPr>
          <p:nvPr/>
        </p:nvCxnSpPr>
        <p:spPr>
          <a:xfrm rot="5400000">
            <a:off x="6385272" y="2755516"/>
            <a:ext cx="491405" cy="13096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hteck 75">
            <a:extLst>
              <a:ext uri="{FF2B5EF4-FFF2-40B4-BE49-F238E27FC236}">
                <a16:creationId xmlns:a16="http://schemas.microsoft.com/office/drawing/2014/main" id="{C344702E-CD8F-6EFB-F4CA-A9EC85A569A5}"/>
              </a:ext>
            </a:extLst>
          </p:cNvPr>
          <p:cNvSpPr/>
          <p:nvPr/>
        </p:nvSpPr>
        <p:spPr>
          <a:xfrm>
            <a:off x="6267985" y="3749838"/>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X</a:t>
            </a:r>
          </a:p>
        </p:txBody>
      </p:sp>
      <p:sp>
        <p:nvSpPr>
          <p:cNvPr id="24" name="Rechteck 76">
            <a:extLst>
              <a:ext uri="{FF2B5EF4-FFF2-40B4-BE49-F238E27FC236}">
                <a16:creationId xmlns:a16="http://schemas.microsoft.com/office/drawing/2014/main" id="{60972F41-8896-2402-AC13-2F7F62F1BA8E}"/>
              </a:ext>
            </a:extLst>
          </p:cNvPr>
          <p:cNvSpPr/>
          <p:nvPr/>
        </p:nvSpPr>
        <p:spPr>
          <a:xfrm>
            <a:off x="8536700" y="2722584"/>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a:t>
            </a:r>
            <a:endParaRPr lang="en-US" sz="1400" dirty="0">
              <a:solidFill>
                <a:schemeClr val="tx1"/>
              </a:solidFill>
            </a:endParaRPr>
          </a:p>
        </p:txBody>
      </p:sp>
      <p:cxnSp>
        <p:nvCxnSpPr>
          <p:cNvPr id="25" name="Verbinder: gewinkelt 78">
            <a:extLst>
              <a:ext uri="{FF2B5EF4-FFF2-40B4-BE49-F238E27FC236}">
                <a16:creationId xmlns:a16="http://schemas.microsoft.com/office/drawing/2014/main" id="{63C7F953-8969-5B44-E5D5-8E2EDDB2A335}"/>
              </a:ext>
            </a:extLst>
          </p:cNvPr>
          <p:cNvCxnSpPr>
            <a:cxnSpLocks/>
            <a:stCxn id="8" idx="2"/>
            <a:endCxn id="30" idx="0"/>
          </p:cNvCxnSpPr>
          <p:nvPr/>
        </p:nvCxnSpPr>
        <p:spPr>
          <a:xfrm rot="16200000" flipH="1">
            <a:off x="5956442" y="4097379"/>
            <a:ext cx="515901" cy="4764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Verbinder: gewinkelt 79">
            <a:extLst>
              <a:ext uri="{FF2B5EF4-FFF2-40B4-BE49-F238E27FC236}">
                <a16:creationId xmlns:a16="http://schemas.microsoft.com/office/drawing/2014/main" id="{30734357-927E-B8CE-5C41-AF2D4F22AEE3}"/>
              </a:ext>
            </a:extLst>
          </p:cNvPr>
          <p:cNvCxnSpPr>
            <a:cxnSpLocks/>
            <a:stCxn id="13" idx="2"/>
            <a:endCxn id="30" idx="0"/>
          </p:cNvCxnSpPr>
          <p:nvPr/>
        </p:nvCxnSpPr>
        <p:spPr>
          <a:xfrm rot="5400000">
            <a:off x="6439510" y="4090793"/>
            <a:ext cx="515901" cy="4896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hteck 81">
            <a:extLst>
              <a:ext uri="{FF2B5EF4-FFF2-40B4-BE49-F238E27FC236}">
                <a16:creationId xmlns:a16="http://schemas.microsoft.com/office/drawing/2014/main" id="{98AB3893-81D1-7BBE-342F-2E9305FD590A}"/>
              </a:ext>
            </a:extLst>
          </p:cNvPr>
          <p:cNvSpPr/>
          <p:nvPr/>
        </p:nvSpPr>
        <p:spPr>
          <a:xfrm>
            <a:off x="5472655" y="4591100"/>
            <a:ext cx="504000" cy="504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de-DE" sz="900" dirty="0"/>
              <a:t>Risiko-loser Zinssatz</a:t>
            </a:r>
          </a:p>
        </p:txBody>
      </p:sp>
      <p:sp>
        <p:nvSpPr>
          <p:cNvPr id="28" name="Rechteck 82">
            <a:extLst>
              <a:ext uri="{FF2B5EF4-FFF2-40B4-BE49-F238E27FC236}">
                <a16:creationId xmlns:a16="http://schemas.microsoft.com/office/drawing/2014/main" id="{40662912-5E9D-009E-42AC-96E2AD07D7B1}"/>
              </a:ext>
            </a:extLst>
          </p:cNvPr>
          <p:cNvSpPr/>
          <p:nvPr/>
        </p:nvSpPr>
        <p:spPr>
          <a:xfrm>
            <a:off x="5888927" y="4722526"/>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t>
            </a:r>
          </a:p>
        </p:txBody>
      </p:sp>
      <p:sp>
        <p:nvSpPr>
          <p:cNvPr id="29" name="Rechteck 84">
            <a:extLst>
              <a:ext uri="{FF2B5EF4-FFF2-40B4-BE49-F238E27FC236}">
                <a16:creationId xmlns:a16="http://schemas.microsoft.com/office/drawing/2014/main" id="{29D86100-F914-FFB1-BB70-CDF1C954CBB9}"/>
              </a:ext>
            </a:extLst>
          </p:cNvPr>
          <p:cNvSpPr/>
          <p:nvPr/>
        </p:nvSpPr>
        <p:spPr>
          <a:xfrm>
            <a:off x="8232124" y="3763700"/>
            <a:ext cx="795759" cy="2424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X </a:t>
            </a:r>
            <a:r>
              <a:rPr lang="en-US" sz="900">
                <a:solidFill>
                  <a:schemeClr val="tx1"/>
                </a:solidFill>
              </a:rPr>
              <a:t>(1- MRT)</a:t>
            </a:r>
            <a:endParaRPr lang="en-US" sz="900" dirty="0">
              <a:solidFill>
                <a:schemeClr val="tx1"/>
              </a:solidFill>
            </a:endParaRPr>
          </a:p>
        </p:txBody>
      </p:sp>
      <p:sp>
        <p:nvSpPr>
          <p:cNvPr id="30" name="Rechteck 85">
            <a:extLst>
              <a:ext uri="{FF2B5EF4-FFF2-40B4-BE49-F238E27FC236}">
                <a16:creationId xmlns:a16="http://schemas.microsoft.com/office/drawing/2014/main" id="{7BB04B5E-1A98-B371-E1A5-356B77E17861}"/>
              </a:ext>
            </a:extLst>
          </p:cNvPr>
          <p:cNvSpPr/>
          <p:nvPr/>
        </p:nvSpPr>
        <p:spPr>
          <a:xfrm>
            <a:off x="6200633" y="4593571"/>
            <a:ext cx="504000" cy="504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de-DE" sz="900" dirty="0"/>
              <a:t>EK-Kosten</a:t>
            </a:r>
          </a:p>
        </p:txBody>
      </p:sp>
      <p:sp>
        <p:nvSpPr>
          <p:cNvPr id="31" name="Rechteck 87">
            <a:extLst>
              <a:ext uri="{FF2B5EF4-FFF2-40B4-BE49-F238E27FC236}">
                <a16:creationId xmlns:a16="http://schemas.microsoft.com/office/drawing/2014/main" id="{616AB1B6-FAF0-AD1B-773D-E432768A9089}"/>
              </a:ext>
            </a:extLst>
          </p:cNvPr>
          <p:cNvSpPr/>
          <p:nvPr/>
        </p:nvSpPr>
        <p:spPr>
          <a:xfrm>
            <a:off x="6900110" y="4618069"/>
            <a:ext cx="504000" cy="504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900"/>
              <a:t>EK / GK</a:t>
            </a:r>
            <a:endParaRPr lang="en-US" sz="900" dirty="0"/>
          </a:p>
        </p:txBody>
      </p:sp>
      <p:sp>
        <p:nvSpPr>
          <p:cNvPr id="32" name="Rechteck 88">
            <a:extLst>
              <a:ext uri="{FF2B5EF4-FFF2-40B4-BE49-F238E27FC236}">
                <a16:creationId xmlns:a16="http://schemas.microsoft.com/office/drawing/2014/main" id="{1DF60D86-2D80-ABC7-E0BD-694B86DAA052}"/>
              </a:ext>
            </a:extLst>
          </p:cNvPr>
          <p:cNvSpPr/>
          <p:nvPr/>
        </p:nvSpPr>
        <p:spPr>
          <a:xfrm>
            <a:off x="8502352" y="4722526"/>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X</a:t>
            </a:r>
            <a:endParaRPr lang="en-US" sz="900" dirty="0">
              <a:solidFill>
                <a:schemeClr val="tx1"/>
              </a:solidFill>
            </a:endParaRPr>
          </a:p>
        </p:txBody>
      </p:sp>
      <p:sp>
        <p:nvSpPr>
          <p:cNvPr id="33" name="Rechteck 89">
            <a:extLst>
              <a:ext uri="{FF2B5EF4-FFF2-40B4-BE49-F238E27FC236}">
                <a16:creationId xmlns:a16="http://schemas.microsoft.com/office/drawing/2014/main" id="{FF12721A-3323-99F7-3FBF-AB768BCB6E07}"/>
              </a:ext>
            </a:extLst>
          </p:cNvPr>
          <p:cNvSpPr/>
          <p:nvPr/>
        </p:nvSpPr>
        <p:spPr>
          <a:xfrm>
            <a:off x="7399563" y="4722526"/>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t>
            </a:r>
          </a:p>
        </p:txBody>
      </p:sp>
      <p:cxnSp>
        <p:nvCxnSpPr>
          <p:cNvPr id="34" name="Verbinder: gewinkelt 90">
            <a:extLst>
              <a:ext uri="{FF2B5EF4-FFF2-40B4-BE49-F238E27FC236}">
                <a16:creationId xmlns:a16="http://schemas.microsoft.com/office/drawing/2014/main" id="{6845F87B-69CE-507B-76EF-0D7CBD87393C}"/>
              </a:ext>
            </a:extLst>
          </p:cNvPr>
          <p:cNvCxnSpPr>
            <a:cxnSpLocks/>
            <a:stCxn id="16" idx="2"/>
            <a:endCxn id="18" idx="0"/>
          </p:cNvCxnSpPr>
          <p:nvPr/>
        </p:nvCxnSpPr>
        <p:spPr>
          <a:xfrm rot="16200000" flipH="1">
            <a:off x="7863301" y="4251517"/>
            <a:ext cx="499857" cy="1873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winkelt 91">
            <a:extLst>
              <a:ext uri="{FF2B5EF4-FFF2-40B4-BE49-F238E27FC236}">
                <a16:creationId xmlns:a16="http://schemas.microsoft.com/office/drawing/2014/main" id="{FEB3E28C-F8E2-1DDB-A932-2A1C507FC2EC}"/>
              </a:ext>
            </a:extLst>
          </p:cNvPr>
          <p:cNvCxnSpPr>
            <a:cxnSpLocks/>
            <a:stCxn id="17" idx="2"/>
            <a:endCxn id="18" idx="0"/>
          </p:cNvCxnSpPr>
          <p:nvPr/>
        </p:nvCxnSpPr>
        <p:spPr>
          <a:xfrm rot="5400000">
            <a:off x="8477173" y="3819346"/>
            <a:ext cx="505549" cy="104604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hteck 92">
            <a:extLst>
              <a:ext uri="{FF2B5EF4-FFF2-40B4-BE49-F238E27FC236}">
                <a16:creationId xmlns:a16="http://schemas.microsoft.com/office/drawing/2014/main" id="{DA452CF1-A15D-1634-F3C1-B6AB84829B51}"/>
              </a:ext>
            </a:extLst>
          </p:cNvPr>
          <p:cNvSpPr/>
          <p:nvPr/>
        </p:nvSpPr>
        <p:spPr>
          <a:xfrm>
            <a:off x="5472654" y="1879830"/>
            <a:ext cx="2147631" cy="46831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sz="1100"/>
              <a:t>Eigenkapitalkosten</a:t>
            </a:r>
            <a:endParaRPr lang="en-US" sz="1100" dirty="0"/>
          </a:p>
        </p:txBody>
      </p:sp>
      <p:sp>
        <p:nvSpPr>
          <p:cNvPr id="37" name="Rechteck 93">
            <a:extLst>
              <a:ext uri="{FF2B5EF4-FFF2-40B4-BE49-F238E27FC236}">
                <a16:creationId xmlns:a16="http://schemas.microsoft.com/office/drawing/2014/main" id="{3299FEA2-CBD1-9513-A059-6F18E1815F30}"/>
              </a:ext>
            </a:extLst>
          </p:cNvPr>
          <p:cNvSpPr/>
          <p:nvPr/>
        </p:nvSpPr>
        <p:spPr>
          <a:xfrm>
            <a:off x="6591217" y="4722526"/>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X</a:t>
            </a:r>
          </a:p>
        </p:txBody>
      </p:sp>
      <p:cxnSp>
        <p:nvCxnSpPr>
          <p:cNvPr id="38" name="Verbinder: gewinkelt 94">
            <a:extLst>
              <a:ext uri="{FF2B5EF4-FFF2-40B4-BE49-F238E27FC236}">
                <a16:creationId xmlns:a16="http://schemas.microsoft.com/office/drawing/2014/main" id="{4D7C1D8F-D275-9EBB-2195-D1B399C66232}"/>
              </a:ext>
            </a:extLst>
          </p:cNvPr>
          <p:cNvCxnSpPr>
            <a:cxnSpLocks/>
            <a:stCxn id="31" idx="2"/>
            <a:endCxn id="10" idx="0"/>
          </p:cNvCxnSpPr>
          <p:nvPr/>
        </p:nvCxnSpPr>
        <p:spPr>
          <a:xfrm rot="16200000" flipH="1">
            <a:off x="7089392" y="5184786"/>
            <a:ext cx="492390" cy="366955"/>
          </a:xfrm>
          <a:prstGeom prst="bentConnector3">
            <a:avLst>
              <a:gd name="adj1" fmla="val 5048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winkelt 95">
            <a:extLst>
              <a:ext uri="{FF2B5EF4-FFF2-40B4-BE49-F238E27FC236}">
                <a16:creationId xmlns:a16="http://schemas.microsoft.com/office/drawing/2014/main" id="{5D37F729-9A79-E122-2225-85BC52DB714D}"/>
              </a:ext>
            </a:extLst>
          </p:cNvPr>
          <p:cNvCxnSpPr>
            <a:cxnSpLocks/>
            <a:stCxn id="18" idx="2"/>
            <a:endCxn id="10" idx="0"/>
          </p:cNvCxnSpPr>
          <p:nvPr/>
        </p:nvCxnSpPr>
        <p:spPr>
          <a:xfrm rot="5400000">
            <a:off x="7603317" y="5010850"/>
            <a:ext cx="519357" cy="687860"/>
          </a:xfrm>
          <a:prstGeom prst="bentConnector3">
            <a:avLst>
              <a:gd name="adj1" fmla="val 5321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Verbinder: gewinkelt 96">
            <a:extLst>
              <a:ext uri="{FF2B5EF4-FFF2-40B4-BE49-F238E27FC236}">
                <a16:creationId xmlns:a16="http://schemas.microsoft.com/office/drawing/2014/main" id="{7B762C26-842B-B2F9-F9DA-6C0E80F37DBA}"/>
              </a:ext>
            </a:extLst>
          </p:cNvPr>
          <p:cNvCxnSpPr>
            <a:cxnSpLocks/>
            <a:stCxn id="19" idx="2"/>
            <a:endCxn id="10" idx="0"/>
          </p:cNvCxnSpPr>
          <p:nvPr/>
        </p:nvCxnSpPr>
        <p:spPr>
          <a:xfrm rot="5400000">
            <a:off x="8098686" y="4515480"/>
            <a:ext cx="519358" cy="1678600"/>
          </a:xfrm>
          <a:prstGeom prst="bentConnector3">
            <a:avLst>
              <a:gd name="adj1" fmla="val 5275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winkelt 97">
            <a:extLst>
              <a:ext uri="{FF2B5EF4-FFF2-40B4-BE49-F238E27FC236}">
                <a16:creationId xmlns:a16="http://schemas.microsoft.com/office/drawing/2014/main" id="{E676711C-BAB1-C311-3EBA-E47338DA6880}"/>
              </a:ext>
            </a:extLst>
          </p:cNvPr>
          <p:cNvCxnSpPr>
            <a:cxnSpLocks/>
            <a:stCxn id="14" idx="2"/>
            <a:endCxn id="16" idx="0"/>
          </p:cNvCxnSpPr>
          <p:nvPr/>
        </p:nvCxnSpPr>
        <p:spPr>
          <a:xfrm rot="5400000">
            <a:off x="7915199" y="3260330"/>
            <a:ext cx="509377" cy="3007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Verbinder: gewinkelt 98">
            <a:extLst>
              <a:ext uri="{FF2B5EF4-FFF2-40B4-BE49-F238E27FC236}">
                <a16:creationId xmlns:a16="http://schemas.microsoft.com/office/drawing/2014/main" id="{0DC34BE2-BA7A-AEFE-CCE4-464F8347F218}"/>
              </a:ext>
            </a:extLst>
          </p:cNvPr>
          <p:cNvCxnSpPr>
            <a:cxnSpLocks/>
            <a:stCxn id="15" idx="2"/>
            <a:endCxn id="16" idx="0"/>
          </p:cNvCxnSpPr>
          <p:nvPr/>
        </p:nvCxnSpPr>
        <p:spPr>
          <a:xfrm rot="5400000">
            <a:off x="8331600" y="2843928"/>
            <a:ext cx="509378" cy="11335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Verbinder: gewinkelt 99">
            <a:extLst>
              <a:ext uri="{FF2B5EF4-FFF2-40B4-BE49-F238E27FC236}">
                <a16:creationId xmlns:a16="http://schemas.microsoft.com/office/drawing/2014/main" id="{7693848F-C283-AF14-A91E-26FB70C103A7}"/>
              </a:ext>
            </a:extLst>
          </p:cNvPr>
          <p:cNvCxnSpPr>
            <a:cxnSpLocks/>
            <a:stCxn id="30" idx="2"/>
            <a:endCxn id="10" idx="0"/>
          </p:cNvCxnSpPr>
          <p:nvPr/>
        </p:nvCxnSpPr>
        <p:spPr>
          <a:xfrm rot="16200000" flipH="1">
            <a:off x="6727405" y="4822799"/>
            <a:ext cx="516888" cy="1066432"/>
          </a:xfrm>
          <a:prstGeom prst="bentConnector3">
            <a:avLst>
              <a:gd name="adj1" fmla="val 5260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Verbinder: gewinkelt 100">
            <a:extLst>
              <a:ext uri="{FF2B5EF4-FFF2-40B4-BE49-F238E27FC236}">
                <a16:creationId xmlns:a16="http://schemas.microsoft.com/office/drawing/2014/main" id="{172FB4A1-2948-8FDC-5CCE-340D90776837}"/>
              </a:ext>
            </a:extLst>
          </p:cNvPr>
          <p:cNvCxnSpPr>
            <a:cxnSpLocks/>
            <a:stCxn id="27" idx="2"/>
            <a:endCxn id="10" idx="0"/>
          </p:cNvCxnSpPr>
          <p:nvPr/>
        </p:nvCxnSpPr>
        <p:spPr>
          <a:xfrm rot="16200000" flipH="1">
            <a:off x="6362181" y="4457574"/>
            <a:ext cx="519359" cy="1794410"/>
          </a:xfrm>
          <a:prstGeom prst="bentConnector3">
            <a:avLst>
              <a:gd name="adj1" fmla="val 5275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hteck 88">
            <a:extLst>
              <a:ext uri="{FF2B5EF4-FFF2-40B4-BE49-F238E27FC236}">
                <a16:creationId xmlns:a16="http://schemas.microsoft.com/office/drawing/2014/main" id="{357BC1FF-2C63-336B-1298-62FB222D5B2E}"/>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02060"/>
                </a:solidFill>
              </a:rPr>
              <a:t>Kapitalisierungszins (CAPM)</a:t>
            </a:r>
          </a:p>
        </p:txBody>
      </p:sp>
      <mc:AlternateContent xmlns:mc="http://schemas.openxmlformats.org/markup-compatibility/2006" xmlns:a14="http://schemas.microsoft.com/office/drawing/2010/main">
        <mc:Choice Requires="a14">
          <p:sp>
            <p:nvSpPr>
              <p:cNvPr id="46" name="Textplatzhalter 2">
                <a:extLst>
                  <a:ext uri="{FF2B5EF4-FFF2-40B4-BE49-F238E27FC236}">
                    <a16:creationId xmlns:a16="http://schemas.microsoft.com/office/drawing/2014/main" id="{FBE44047-A717-1625-0FB8-FA171CC5D658}"/>
                  </a:ext>
                </a:extLst>
              </p:cNvPr>
              <p:cNvSpPr txBox="1">
                <a:spLocks/>
              </p:cNvSpPr>
              <p:nvPr/>
            </p:nvSpPr>
            <p:spPr>
              <a:xfrm>
                <a:off x="976518" y="4820306"/>
                <a:ext cx="3062980" cy="751504"/>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00012" algn="just">
                  <a:spcBef>
                    <a:spcPts val="600"/>
                  </a:spcBef>
                  <a:buClr>
                    <a:schemeClr val="accent2"/>
                  </a:buClr>
                </a:pPr>
                <a14:m>
                  <m:oMathPara xmlns:m="http://schemas.openxmlformats.org/officeDocument/2006/math">
                    <m:oMathParaPr>
                      <m:jc m:val="centerGroup"/>
                    </m:oMathParaPr>
                    <m:oMath xmlns:m="http://schemas.openxmlformats.org/officeDocument/2006/math">
                      <m:nary>
                        <m:naryPr>
                          <m:chr m:val="∑"/>
                          <m:ctrlPr>
                            <a:rPr lang="en-US" sz="1600" i="1" smtClean="0">
                              <a:latin typeface="Cambria Math" panose="02040503050406030204" pitchFamily="18" charset="0"/>
                              <a:ea typeface="Cambria Math" panose="02040503050406030204" pitchFamily="18" charset="0"/>
                              <a:cs typeface="Open Sans" panose="020B0606030504020204" pitchFamily="34" charset="0"/>
                            </a:rPr>
                          </m:ctrlPr>
                        </m:naryPr>
                        <m:sub>
                          <m:r>
                            <m:rPr>
                              <m:brk m:alnAt="23"/>
                            </m:rPr>
                            <a:rPr lang="en-US" sz="1600" b="0" i="1" smtClean="0">
                              <a:latin typeface="Cambria Math" panose="02040503050406030204" pitchFamily="18" charset="0"/>
                              <a:ea typeface="Cambria Math" panose="02040503050406030204" pitchFamily="18" charset="0"/>
                              <a:cs typeface="Open Sans" panose="020B0606030504020204" pitchFamily="34" charset="0"/>
                            </a:rPr>
                            <m:t>𝑡</m:t>
                          </m:r>
                          <m:r>
                            <a:rPr lang="en-US" sz="1600" i="1" smtClean="0">
                              <a:latin typeface="Cambria Math" panose="02040503050406030204" pitchFamily="18" charset="0"/>
                              <a:ea typeface="Cambria Math" panose="02040503050406030204" pitchFamily="18" charset="0"/>
                              <a:cs typeface="Open Sans" panose="020B0606030504020204" pitchFamily="34" charset="0"/>
                            </a:rPr>
                            <m:t>=0</m:t>
                          </m:r>
                        </m:sub>
                        <m:sup>
                          <m:r>
                            <a:rPr lang="en-US" sz="1600" b="0" i="1" smtClean="0">
                              <a:latin typeface="Cambria Math" panose="02040503050406030204" pitchFamily="18" charset="0"/>
                              <a:ea typeface="Cambria Math" panose="02040503050406030204" pitchFamily="18" charset="0"/>
                              <a:cs typeface="Open Sans" panose="020B0606030504020204" pitchFamily="34" charset="0"/>
                            </a:rPr>
                            <m:t>𝑇</m:t>
                          </m:r>
                        </m:sup>
                        <m:e>
                          <m:r>
                            <a:rPr lang="en-US" sz="1600" b="0" i="1" smtClean="0">
                              <a:latin typeface="Cambria Math" panose="02040503050406030204" pitchFamily="18" charset="0"/>
                              <a:ea typeface="Cambria Math" panose="02040503050406030204" pitchFamily="18" charset="0"/>
                              <a:cs typeface="Open Sans" panose="020B0606030504020204" pitchFamily="34" charset="0"/>
                            </a:rPr>
                            <m:t> </m:t>
                          </m:r>
                          <m:f>
                            <m:fPr>
                              <m:ctrlPr>
                                <a:rPr lang="en-US" sz="1600" b="0" i="1" smtClean="0">
                                  <a:latin typeface="Cambria Math" panose="02040503050406030204" pitchFamily="18" charset="0"/>
                                  <a:ea typeface="Cambria Math" panose="02040503050406030204" pitchFamily="18" charset="0"/>
                                  <a:cs typeface="Open Sans" panose="020B0606030504020204" pitchFamily="34" charset="0"/>
                                </a:rPr>
                              </m:ctrlPr>
                            </m:fPr>
                            <m:num>
                              <m:r>
                                <a:rPr lang="en-US" sz="1600" b="0" i="1" smtClean="0">
                                  <a:latin typeface="Cambria Math" panose="02040503050406030204" pitchFamily="18" charset="0"/>
                                  <a:ea typeface="Cambria Math" panose="02040503050406030204" pitchFamily="18" charset="0"/>
                                  <a:cs typeface="Open Sans" panose="020B0606030504020204" pitchFamily="34" charset="0"/>
                                </a:rPr>
                                <m:t>𝐹𝐶𝐹𝐹</m:t>
                              </m:r>
                            </m:num>
                            <m:den>
                              <m:r>
                                <a:rPr lang="en-US" sz="1600" b="0" i="1" smtClean="0">
                                  <a:latin typeface="Cambria Math" panose="02040503050406030204" pitchFamily="18" charset="0"/>
                                  <a:ea typeface="Cambria Math" panose="02040503050406030204" pitchFamily="18" charset="0"/>
                                  <a:cs typeface="Open Sans" panose="020B0606030504020204" pitchFamily="34" charset="0"/>
                                </a:rPr>
                                <m:t>𝑊𝐴𝐶𝐶</m:t>
                              </m:r>
                            </m:den>
                          </m:f>
                          <m:r>
                            <a:rPr lang="en-US" sz="1600" b="0" i="1" smtClean="0">
                              <a:latin typeface="Cambria Math" panose="02040503050406030204" pitchFamily="18" charset="0"/>
                              <a:ea typeface="Cambria Math" panose="02040503050406030204" pitchFamily="18" charset="0"/>
                              <a:cs typeface="Open Sans" panose="020B0606030504020204" pitchFamily="34" charset="0"/>
                            </a:rPr>
                            <m:t>  −</m:t>
                          </m:r>
                          <m:r>
                            <a:rPr lang="en-US" sz="1600" b="0" i="1" smtClean="0">
                              <a:latin typeface="Cambria Math" panose="02040503050406030204" pitchFamily="18" charset="0"/>
                              <a:ea typeface="Cambria Math" panose="02040503050406030204" pitchFamily="18" charset="0"/>
                              <a:cs typeface="Open Sans" panose="020B0606030504020204" pitchFamily="34" charset="0"/>
                            </a:rPr>
                            <m:t>𝑣𝑒𝑟𝑧𝑖𝑛𝑧𝑙𝑖𝑐h𝑒𝑠</m:t>
                          </m:r>
                          <m:r>
                            <a:rPr lang="en-US" sz="1600" b="0" i="1" smtClean="0">
                              <a:latin typeface="Cambria Math" panose="02040503050406030204" pitchFamily="18" charset="0"/>
                              <a:ea typeface="Cambria Math" panose="02040503050406030204" pitchFamily="18" charset="0"/>
                              <a:cs typeface="Open Sans" panose="020B0606030504020204" pitchFamily="34" charset="0"/>
                            </a:rPr>
                            <m:t> </m:t>
                          </m:r>
                          <m:r>
                            <a:rPr lang="en-US" sz="1600" b="0" i="1" smtClean="0">
                              <a:latin typeface="Cambria Math" panose="02040503050406030204" pitchFamily="18" charset="0"/>
                              <a:ea typeface="Cambria Math" panose="02040503050406030204" pitchFamily="18" charset="0"/>
                              <a:cs typeface="Open Sans" panose="020B0606030504020204" pitchFamily="34" charset="0"/>
                            </a:rPr>
                            <m:t>𝐹𝐾</m:t>
                          </m:r>
                          <m:r>
                            <a:rPr lang="en-US" sz="1600" b="0" i="1" smtClean="0">
                              <a:latin typeface="Cambria Math" panose="02040503050406030204" pitchFamily="18" charset="0"/>
                              <a:ea typeface="Cambria Math" panose="02040503050406030204" pitchFamily="18" charset="0"/>
                              <a:cs typeface="Open Sans" panose="020B0606030504020204" pitchFamily="34" charset="0"/>
                            </a:rPr>
                            <m:t>+ </m:t>
                          </m:r>
                          <m:r>
                            <a:rPr lang="en-US" sz="1600" b="0" i="1" smtClean="0">
                              <a:latin typeface="Cambria Math" panose="02040503050406030204" pitchFamily="18" charset="0"/>
                              <a:ea typeface="Cambria Math" panose="02040503050406030204" pitchFamily="18" charset="0"/>
                              <a:cs typeface="Open Sans" panose="020B0606030504020204" pitchFamily="34" charset="0"/>
                            </a:rPr>
                            <m:t>𝑛𝑏𝑉</m:t>
                          </m:r>
                        </m:e>
                      </m:nary>
                    </m:oMath>
                  </m:oMathPara>
                </a14:m>
                <a:endParaRPr lang="en-US" sz="1600" dirty="0">
                  <a:latin typeface="Cambria Math" panose="02040503050406030204" pitchFamily="18" charset="0"/>
                  <a:ea typeface="Cambria Math" panose="02040503050406030204" pitchFamily="18" charset="0"/>
                  <a:cs typeface="Open Sans" panose="020B0606030504020204" pitchFamily="34" charset="0"/>
                </a:endParaRPr>
              </a:p>
            </p:txBody>
          </p:sp>
        </mc:Choice>
        <mc:Fallback xmlns="">
          <p:sp>
            <p:nvSpPr>
              <p:cNvPr id="46" name="Textplatzhalter 2">
                <a:extLst>
                  <a:ext uri="{FF2B5EF4-FFF2-40B4-BE49-F238E27FC236}">
                    <a16:creationId xmlns:a16="http://schemas.microsoft.com/office/drawing/2014/main" id="{FBE44047-A717-1625-0FB8-FA171CC5D658}"/>
                  </a:ext>
                </a:extLst>
              </p:cNvPr>
              <p:cNvSpPr txBox="1">
                <a:spLocks noRot="1" noChangeAspect="1" noMove="1" noResize="1" noEditPoints="1" noAdjustHandles="1" noChangeArrowheads="1" noChangeShapeType="1" noTextEdit="1"/>
              </p:cNvSpPr>
              <p:nvPr/>
            </p:nvSpPr>
            <p:spPr>
              <a:xfrm>
                <a:off x="976518" y="4820306"/>
                <a:ext cx="3062980" cy="751504"/>
              </a:xfrm>
              <a:prstGeom prst="rect">
                <a:avLst/>
              </a:prstGeom>
              <a:blipFill>
                <a:blip r:embed="rId3"/>
                <a:stretch>
                  <a:fillRect r="-1510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Textplatzhalter 2">
                <a:extLst>
                  <a:ext uri="{FF2B5EF4-FFF2-40B4-BE49-F238E27FC236}">
                    <a16:creationId xmlns:a16="http://schemas.microsoft.com/office/drawing/2014/main" id="{53D6243A-C6F5-3794-854E-4743C6D93246}"/>
                  </a:ext>
                </a:extLst>
              </p:cNvPr>
              <p:cNvSpPr txBox="1">
                <a:spLocks/>
              </p:cNvSpPr>
              <p:nvPr/>
            </p:nvSpPr>
            <p:spPr>
              <a:xfrm>
                <a:off x="272678" y="5022011"/>
                <a:ext cx="945561" cy="422750"/>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00012" algn="just">
                  <a:spcBef>
                    <a:spcPts val="600"/>
                  </a:spcBef>
                  <a:buClr>
                    <a:schemeClr val="accent2"/>
                  </a:buCl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ea typeface="Cambria Math" panose="02040503050406030204" pitchFamily="18" charset="0"/>
                          <a:cs typeface="Open Sans" panose="020B0606030504020204" pitchFamily="34" charset="0"/>
                        </a:rPr>
                        <m:t>𝑊</m:t>
                      </m:r>
                      <m:r>
                        <a:rPr lang="en-US" sz="1600" b="0" i="1" baseline="-25000" smtClean="0">
                          <a:latin typeface="Cambria Math" panose="02040503050406030204" pitchFamily="18" charset="0"/>
                          <a:ea typeface="Cambria Math" panose="02040503050406030204" pitchFamily="18" charset="0"/>
                          <a:cs typeface="Open Sans" panose="020B0606030504020204" pitchFamily="34" charset="0"/>
                        </a:rPr>
                        <m:t>𝐸𝐾</m:t>
                      </m:r>
                      <m:r>
                        <a:rPr lang="en-US" sz="1600" b="0" i="1" smtClean="0">
                          <a:latin typeface="Cambria Math" panose="02040503050406030204" pitchFamily="18" charset="0"/>
                          <a:ea typeface="Cambria Math" panose="02040503050406030204" pitchFamily="18" charset="0"/>
                          <a:cs typeface="Open Sans" panose="020B0606030504020204" pitchFamily="34" charset="0"/>
                        </a:rPr>
                        <m:t> =</m:t>
                      </m:r>
                    </m:oMath>
                  </m:oMathPara>
                </a14:m>
                <a:endParaRPr lang="en-US" sz="1600" dirty="0">
                  <a:latin typeface="Cambria Math" panose="02040503050406030204" pitchFamily="18" charset="0"/>
                  <a:ea typeface="Cambria Math" panose="02040503050406030204" pitchFamily="18" charset="0"/>
                  <a:cs typeface="Open Sans" panose="020B0606030504020204" pitchFamily="34" charset="0"/>
                </a:endParaRPr>
              </a:p>
            </p:txBody>
          </p:sp>
        </mc:Choice>
        <mc:Fallback xmlns="">
          <p:sp>
            <p:nvSpPr>
              <p:cNvPr id="47" name="Textplatzhalter 2">
                <a:extLst>
                  <a:ext uri="{FF2B5EF4-FFF2-40B4-BE49-F238E27FC236}">
                    <a16:creationId xmlns:a16="http://schemas.microsoft.com/office/drawing/2014/main" id="{53D6243A-C6F5-3794-854E-4743C6D93246}"/>
                  </a:ext>
                </a:extLst>
              </p:cNvPr>
              <p:cNvSpPr txBox="1">
                <a:spLocks noRot="1" noChangeAspect="1" noMove="1" noResize="1" noEditPoints="1" noAdjustHandles="1" noChangeArrowheads="1" noChangeShapeType="1" noTextEdit="1"/>
              </p:cNvSpPr>
              <p:nvPr/>
            </p:nvSpPr>
            <p:spPr>
              <a:xfrm>
                <a:off x="272678" y="5022011"/>
                <a:ext cx="945561" cy="422750"/>
              </a:xfrm>
              <a:prstGeom prst="rect">
                <a:avLst/>
              </a:prstGeom>
              <a:blipFill>
                <a:blip r:embed="rId4"/>
                <a:stretch>
                  <a:fillRect/>
                </a:stretch>
              </a:blipFill>
            </p:spPr>
            <p:txBody>
              <a:bodyPr/>
              <a:lstStyle/>
              <a:p>
                <a:r>
                  <a:rPr lang="de-DE">
                    <a:noFill/>
                  </a:rPr>
                  <a:t> </a:t>
                </a:r>
              </a:p>
            </p:txBody>
          </p:sp>
        </mc:Fallback>
      </mc:AlternateContent>
      <p:sp>
        <p:nvSpPr>
          <p:cNvPr id="48" name="Rechteck 88">
            <a:extLst>
              <a:ext uri="{FF2B5EF4-FFF2-40B4-BE49-F238E27FC236}">
                <a16:creationId xmlns:a16="http://schemas.microsoft.com/office/drawing/2014/main" id="{A953E301-193C-958D-71E0-4AC125BF2FC1}"/>
              </a:ext>
            </a:extLst>
          </p:cNvPr>
          <p:cNvSpPr/>
          <p:nvPr/>
        </p:nvSpPr>
        <p:spPr>
          <a:xfrm>
            <a:off x="269975" y="4462426"/>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02060"/>
                </a:solidFill>
              </a:rPr>
              <a:t>Bewertungs-Formel</a:t>
            </a:r>
          </a:p>
        </p:txBody>
      </p:sp>
      <p:sp>
        <p:nvSpPr>
          <p:cNvPr id="3" name="Rechteck 75">
            <a:extLst>
              <a:ext uri="{FF2B5EF4-FFF2-40B4-BE49-F238E27FC236}">
                <a16:creationId xmlns:a16="http://schemas.microsoft.com/office/drawing/2014/main" id="{63D58910-7734-213E-C18E-3A4249F16265}"/>
              </a:ext>
            </a:extLst>
          </p:cNvPr>
          <p:cNvSpPr/>
          <p:nvPr/>
        </p:nvSpPr>
        <p:spPr>
          <a:xfrm>
            <a:off x="5769931" y="2723888"/>
            <a:ext cx="644993"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X (1 - )</a:t>
            </a:r>
          </a:p>
        </p:txBody>
      </p:sp>
      <p:sp>
        <p:nvSpPr>
          <p:cNvPr id="49" name="Rechteck 75">
            <a:extLst>
              <a:ext uri="{FF2B5EF4-FFF2-40B4-BE49-F238E27FC236}">
                <a16:creationId xmlns:a16="http://schemas.microsoft.com/office/drawing/2014/main" id="{AC4FE680-B442-60E9-1931-A6FEA1C61436}"/>
              </a:ext>
            </a:extLst>
          </p:cNvPr>
          <p:cNvSpPr/>
          <p:nvPr/>
        </p:nvSpPr>
        <p:spPr>
          <a:xfrm>
            <a:off x="6666520" y="2732606"/>
            <a:ext cx="399886" cy="283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X</a:t>
            </a:r>
          </a:p>
        </p:txBody>
      </p:sp>
    </p:spTree>
    <p:extLst>
      <p:ext uri="{BB962C8B-B14F-4D97-AF65-F5344CB8AC3E}">
        <p14:creationId xmlns:p14="http://schemas.microsoft.com/office/powerpoint/2010/main" val="3307975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feld 33">
            <a:extLst>
              <a:ext uri="{FF2B5EF4-FFF2-40B4-BE49-F238E27FC236}">
                <a16:creationId xmlns:a16="http://schemas.microsoft.com/office/drawing/2014/main" id="{3399CACC-532E-D90F-21EB-85A197532588}"/>
              </a:ext>
            </a:extLst>
          </p:cNvPr>
          <p:cNvSpPr txBox="1"/>
          <p:nvPr/>
        </p:nvSpPr>
        <p:spPr>
          <a:xfrm rot="20988035">
            <a:off x="3675422" y="2462207"/>
            <a:ext cx="2412777" cy="230832"/>
          </a:xfrm>
          <a:prstGeom prst="rect">
            <a:avLst/>
          </a:prstGeom>
          <a:noFill/>
        </p:spPr>
        <p:txBody>
          <a:bodyPr wrap="square" rtlCol="0">
            <a:spAutoFit/>
          </a:bodyPr>
          <a:lstStyle/>
          <a:p>
            <a:r>
              <a:rPr lang="de-DE" sz="900" b="1" dirty="0"/>
              <a:t>Wachstum</a:t>
            </a:r>
          </a:p>
        </p:txBody>
      </p:sp>
      <p:sp>
        <p:nvSpPr>
          <p:cNvPr id="2" name="Foliennummernplatzhalter 1"/>
          <p:cNvSpPr>
            <a:spLocks noGrp="1"/>
          </p:cNvSpPr>
          <p:nvPr>
            <p:ph type="sldNum" sz="quarter" idx="12"/>
          </p:nvPr>
        </p:nvSpPr>
        <p:spPr/>
        <p:txBody>
          <a:bodyPr/>
          <a:lstStyle/>
          <a:p>
            <a:fld id="{06BE810C-D1BD-4E2B-9D7B-C86294C40709}" type="slidenum">
              <a:rPr lang="en-US" smtClean="0"/>
              <a:t>12</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Unternehmensbewertung für große gewerbliche, ggf. börsennotierte, Unternehmen nach IDW S1</a:t>
            </a:r>
          </a:p>
        </p:txBody>
      </p:sp>
      <p:sp>
        <p:nvSpPr>
          <p:cNvPr id="6" name="Rechteck 5">
            <a:extLst>
              <a:ext uri="{FF2B5EF4-FFF2-40B4-BE49-F238E27FC236}">
                <a16:creationId xmlns:a16="http://schemas.microsoft.com/office/drawing/2014/main" id="{CA38F64D-C573-80C1-7364-71C126D6AF41}"/>
              </a:ext>
            </a:extLst>
          </p:cNvPr>
          <p:cNvSpPr/>
          <p:nvPr/>
        </p:nvSpPr>
        <p:spPr>
          <a:xfrm>
            <a:off x="3265383" y="3192572"/>
            <a:ext cx="159026" cy="46572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7" name="Rechteck 6">
            <a:extLst>
              <a:ext uri="{FF2B5EF4-FFF2-40B4-BE49-F238E27FC236}">
                <a16:creationId xmlns:a16="http://schemas.microsoft.com/office/drawing/2014/main" id="{FF570E5F-CD91-44E9-8934-17B9C8F4CD28}"/>
              </a:ext>
            </a:extLst>
          </p:cNvPr>
          <p:cNvSpPr/>
          <p:nvPr/>
        </p:nvSpPr>
        <p:spPr>
          <a:xfrm>
            <a:off x="3490671" y="3090341"/>
            <a:ext cx="159026" cy="5679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8" name="Rechteck 7">
            <a:extLst>
              <a:ext uri="{FF2B5EF4-FFF2-40B4-BE49-F238E27FC236}">
                <a16:creationId xmlns:a16="http://schemas.microsoft.com/office/drawing/2014/main" id="{376E7D05-B202-7B35-A59C-D7DE2875648E}"/>
              </a:ext>
            </a:extLst>
          </p:cNvPr>
          <p:cNvSpPr/>
          <p:nvPr/>
        </p:nvSpPr>
        <p:spPr>
          <a:xfrm>
            <a:off x="3715959" y="3158495"/>
            <a:ext cx="159026" cy="49979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9" name="Rechteck 8">
            <a:extLst>
              <a:ext uri="{FF2B5EF4-FFF2-40B4-BE49-F238E27FC236}">
                <a16:creationId xmlns:a16="http://schemas.microsoft.com/office/drawing/2014/main" id="{6F2ECC36-ACFB-23D2-6C73-E9A121D56827}"/>
              </a:ext>
            </a:extLst>
          </p:cNvPr>
          <p:cNvSpPr/>
          <p:nvPr/>
        </p:nvSpPr>
        <p:spPr>
          <a:xfrm>
            <a:off x="3941247" y="3033546"/>
            <a:ext cx="159026" cy="62474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0" name="Rechteck 9">
            <a:extLst>
              <a:ext uri="{FF2B5EF4-FFF2-40B4-BE49-F238E27FC236}">
                <a16:creationId xmlns:a16="http://schemas.microsoft.com/office/drawing/2014/main" id="{DEFCE9AB-424C-98E3-7F2E-DD543AA4027D}"/>
              </a:ext>
            </a:extLst>
          </p:cNvPr>
          <p:cNvSpPr/>
          <p:nvPr/>
        </p:nvSpPr>
        <p:spPr>
          <a:xfrm>
            <a:off x="4166535" y="3049449"/>
            <a:ext cx="159026" cy="60884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1" name="Rechteck 10">
            <a:extLst>
              <a:ext uri="{FF2B5EF4-FFF2-40B4-BE49-F238E27FC236}">
                <a16:creationId xmlns:a16="http://schemas.microsoft.com/office/drawing/2014/main" id="{1AD75BA1-5D46-FE4D-9941-55CB75D71E6C}"/>
              </a:ext>
            </a:extLst>
          </p:cNvPr>
          <p:cNvSpPr/>
          <p:nvPr/>
        </p:nvSpPr>
        <p:spPr>
          <a:xfrm>
            <a:off x="4675805" y="2897238"/>
            <a:ext cx="159026" cy="76105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2" name="Rechteck 11">
            <a:extLst>
              <a:ext uri="{FF2B5EF4-FFF2-40B4-BE49-F238E27FC236}">
                <a16:creationId xmlns:a16="http://schemas.microsoft.com/office/drawing/2014/main" id="{9902C86D-01E6-8A33-3F28-F770E048D419}"/>
              </a:ext>
            </a:extLst>
          </p:cNvPr>
          <p:cNvSpPr/>
          <p:nvPr/>
        </p:nvSpPr>
        <p:spPr>
          <a:xfrm>
            <a:off x="4415459" y="3425378"/>
            <a:ext cx="664502"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600" b="1" dirty="0">
                <a:solidFill>
                  <a:schemeClr val="tx1"/>
                </a:solidFill>
              </a:rPr>
              <a:t>…</a:t>
            </a:r>
          </a:p>
        </p:txBody>
      </p:sp>
      <p:sp>
        <p:nvSpPr>
          <p:cNvPr id="13" name="Rechteck 12">
            <a:extLst>
              <a:ext uri="{FF2B5EF4-FFF2-40B4-BE49-F238E27FC236}">
                <a16:creationId xmlns:a16="http://schemas.microsoft.com/office/drawing/2014/main" id="{C0DAB6B0-B19D-50C8-3394-88FFC19BDB68}"/>
              </a:ext>
            </a:extLst>
          </p:cNvPr>
          <p:cNvSpPr/>
          <p:nvPr/>
        </p:nvSpPr>
        <p:spPr>
          <a:xfrm>
            <a:off x="4912445" y="2783814"/>
            <a:ext cx="159026" cy="87447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4" name="Rechteck 13">
            <a:extLst>
              <a:ext uri="{FF2B5EF4-FFF2-40B4-BE49-F238E27FC236}">
                <a16:creationId xmlns:a16="http://schemas.microsoft.com/office/drawing/2014/main" id="{C7106407-89F5-DE6B-6333-DFF5C119EFBA}"/>
              </a:ext>
            </a:extLst>
          </p:cNvPr>
          <p:cNvSpPr/>
          <p:nvPr/>
        </p:nvSpPr>
        <p:spPr>
          <a:xfrm>
            <a:off x="5147200" y="2897238"/>
            <a:ext cx="159026" cy="76105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5" name="Rechteck 14">
            <a:extLst>
              <a:ext uri="{FF2B5EF4-FFF2-40B4-BE49-F238E27FC236}">
                <a16:creationId xmlns:a16="http://schemas.microsoft.com/office/drawing/2014/main" id="{003D3434-CAA6-2C9A-3408-168290F7D0D8}"/>
              </a:ext>
            </a:extLst>
          </p:cNvPr>
          <p:cNvSpPr/>
          <p:nvPr/>
        </p:nvSpPr>
        <p:spPr>
          <a:xfrm>
            <a:off x="5381953" y="2709815"/>
            <a:ext cx="159026" cy="94847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cxnSp>
        <p:nvCxnSpPr>
          <p:cNvPr id="16" name="Verbinder: gewinkelt 15">
            <a:extLst>
              <a:ext uri="{FF2B5EF4-FFF2-40B4-BE49-F238E27FC236}">
                <a16:creationId xmlns:a16="http://schemas.microsoft.com/office/drawing/2014/main" id="{E65FE79C-DAE7-66B5-BEF7-42EEE9F2043F}"/>
              </a:ext>
            </a:extLst>
          </p:cNvPr>
          <p:cNvCxnSpPr>
            <a:cxnSpLocks/>
            <a:stCxn id="33" idx="2"/>
          </p:cNvCxnSpPr>
          <p:nvPr/>
        </p:nvCxnSpPr>
        <p:spPr>
          <a:xfrm rot="5400000">
            <a:off x="3897458" y="3781067"/>
            <a:ext cx="750517" cy="20146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Geschweifte Klammer links 16">
            <a:extLst>
              <a:ext uri="{FF2B5EF4-FFF2-40B4-BE49-F238E27FC236}">
                <a16:creationId xmlns:a16="http://schemas.microsoft.com/office/drawing/2014/main" id="{A8AA15CF-52C2-B9B7-DE77-D6F4F6BCAEF5}"/>
              </a:ext>
            </a:extLst>
          </p:cNvPr>
          <p:cNvSpPr/>
          <p:nvPr/>
        </p:nvSpPr>
        <p:spPr>
          <a:xfrm rot="16200000">
            <a:off x="4896792" y="3581305"/>
            <a:ext cx="274545" cy="969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8" name="Textfeld 17">
            <a:extLst>
              <a:ext uri="{FF2B5EF4-FFF2-40B4-BE49-F238E27FC236}">
                <a16:creationId xmlns:a16="http://schemas.microsoft.com/office/drawing/2014/main" id="{55128AE5-8F35-73DF-C2CF-F2D03C7EB5F0}"/>
              </a:ext>
            </a:extLst>
          </p:cNvPr>
          <p:cNvSpPr txBox="1"/>
          <p:nvPr/>
        </p:nvSpPr>
        <p:spPr>
          <a:xfrm>
            <a:off x="3669583" y="5217766"/>
            <a:ext cx="1712370" cy="369332"/>
          </a:xfrm>
          <a:prstGeom prst="rect">
            <a:avLst/>
          </a:prstGeom>
          <a:noFill/>
        </p:spPr>
        <p:txBody>
          <a:bodyPr wrap="square" rtlCol="0">
            <a:spAutoFit/>
          </a:bodyPr>
          <a:lstStyle/>
          <a:p>
            <a:r>
              <a:rPr lang="de-DE" sz="900" b="1" dirty="0"/>
              <a:t>Abgezinst auf den heutigen Barwert</a:t>
            </a:r>
          </a:p>
        </p:txBody>
      </p:sp>
      <p:grpSp>
        <p:nvGrpSpPr>
          <p:cNvPr id="19" name="Gruppieren 18">
            <a:extLst>
              <a:ext uri="{FF2B5EF4-FFF2-40B4-BE49-F238E27FC236}">
                <a16:creationId xmlns:a16="http://schemas.microsoft.com/office/drawing/2014/main" id="{A8BD0ED9-105C-D03B-C8EE-548112B333B5}"/>
              </a:ext>
            </a:extLst>
          </p:cNvPr>
          <p:cNvGrpSpPr/>
          <p:nvPr/>
        </p:nvGrpSpPr>
        <p:grpSpPr>
          <a:xfrm>
            <a:off x="3615472" y="3219137"/>
            <a:ext cx="360000" cy="360000"/>
            <a:chOff x="2618251" y="2784150"/>
            <a:chExt cx="360000" cy="360000"/>
          </a:xfrm>
        </p:grpSpPr>
        <p:sp>
          <p:nvSpPr>
            <p:cNvPr id="20" name="Ellipse 19">
              <a:extLst>
                <a:ext uri="{FF2B5EF4-FFF2-40B4-BE49-F238E27FC236}">
                  <a16:creationId xmlns:a16="http://schemas.microsoft.com/office/drawing/2014/main" id="{5BCA9F4E-9494-C857-BC26-D8D904FDCE96}"/>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21" name="Textfeld 20">
              <a:extLst>
                <a:ext uri="{FF2B5EF4-FFF2-40B4-BE49-F238E27FC236}">
                  <a16:creationId xmlns:a16="http://schemas.microsoft.com/office/drawing/2014/main" id="{82403AE2-4565-CA20-E535-B6B0C5851C01}"/>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1</a:t>
              </a:r>
            </a:p>
          </p:txBody>
        </p:sp>
      </p:grpSp>
      <p:sp>
        <p:nvSpPr>
          <p:cNvPr id="22" name="Textfeld 21">
            <a:extLst>
              <a:ext uri="{FF2B5EF4-FFF2-40B4-BE49-F238E27FC236}">
                <a16:creationId xmlns:a16="http://schemas.microsoft.com/office/drawing/2014/main" id="{EB5B376E-EE75-81FE-6938-E7A98D3373BC}"/>
              </a:ext>
            </a:extLst>
          </p:cNvPr>
          <p:cNvSpPr txBox="1"/>
          <p:nvPr/>
        </p:nvSpPr>
        <p:spPr>
          <a:xfrm>
            <a:off x="3159410" y="3710868"/>
            <a:ext cx="2412777" cy="230832"/>
          </a:xfrm>
          <a:prstGeom prst="rect">
            <a:avLst/>
          </a:prstGeom>
          <a:noFill/>
        </p:spPr>
        <p:txBody>
          <a:bodyPr wrap="square" rtlCol="0">
            <a:spAutoFit/>
          </a:bodyPr>
          <a:lstStyle/>
          <a:p>
            <a:r>
              <a:rPr lang="de-DE" sz="900" b="1" dirty="0"/>
              <a:t>Zahlungsmittelüberschüsse</a:t>
            </a:r>
          </a:p>
        </p:txBody>
      </p:sp>
      <p:sp>
        <p:nvSpPr>
          <p:cNvPr id="23" name="Geschweifte Klammer links 22">
            <a:extLst>
              <a:ext uri="{FF2B5EF4-FFF2-40B4-BE49-F238E27FC236}">
                <a16:creationId xmlns:a16="http://schemas.microsoft.com/office/drawing/2014/main" id="{4E09B5AF-7423-7172-0267-EB11BA242C5B}"/>
              </a:ext>
            </a:extLst>
          </p:cNvPr>
          <p:cNvSpPr/>
          <p:nvPr/>
        </p:nvSpPr>
        <p:spPr>
          <a:xfrm rot="5400000">
            <a:off x="5387223" y="2427759"/>
            <a:ext cx="143636" cy="28882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4" name="Textfeld 23">
            <a:extLst>
              <a:ext uri="{FF2B5EF4-FFF2-40B4-BE49-F238E27FC236}">
                <a16:creationId xmlns:a16="http://schemas.microsoft.com/office/drawing/2014/main" id="{AC94FABF-2353-4F1E-3AE8-1BE7DA8E84DA}"/>
              </a:ext>
            </a:extLst>
          </p:cNvPr>
          <p:cNvSpPr txBox="1"/>
          <p:nvPr/>
        </p:nvSpPr>
        <p:spPr>
          <a:xfrm>
            <a:off x="4960298" y="2286745"/>
            <a:ext cx="2782877" cy="230832"/>
          </a:xfrm>
          <a:prstGeom prst="rect">
            <a:avLst/>
          </a:prstGeom>
          <a:noFill/>
        </p:spPr>
        <p:txBody>
          <a:bodyPr wrap="square" rtlCol="0">
            <a:spAutoFit/>
          </a:bodyPr>
          <a:lstStyle/>
          <a:p>
            <a:r>
              <a:rPr lang="de-DE" sz="900" b="1" dirty="0"/>
              <a:t>ggf. Ewige Rente</a:t>
            </a:r>
          </a:p>
        </p:txBody>
      </p:sp>
      <p:sp>
        <p:nvSpPr>
          <p:cNvPr id="25" name="Textfeld 24">
            <a:extLst>
              <a:ext uri="{FF2B5EF4-FFF2-40B4-BE49-F238E27FC236}">
                <a16:creationId xmlns:a16="http://schemas.microsoft.com/office/drawing/2014/main" id="{E70CEE5E-C3A3-D088-BB5B-EB9C094D96A0}"/>
              </a:ext>
            </a:extLst>
          </p:cNvPr>
          <p:cNvSpPr txBox="1"/>
          <p:nvPr/>
        </p:nvSpPr>
        <p:spPr>
          <a:xfrm>
            <a:off x="3753335" y="4866999"/>
            <a:ext cx="1552892" cy="230832"/>
          </a:xfrm>
          <a:prstGeom prst="rect">
            <a:avLst/>
          </a:prstGeom>
          <a:noFill/>
        </p:spPr>
        <p:txBody>
          <a:bodyPr wrap="square" rtlCol="0">
            <a:spAutoFit/>
          </a:bodyPr>
          <a:lstStyle/>
          <a:p>
            <a:r>
              <a:rPr lang="de-DE" sz="900" b="1" dirty="0"/>
              <a:t>Risikoadäquater Zinssatz</a:t>
            </a:r>
          </a:p>
        </p:txBody>
      </p:sp>
      <p:grpSp>
        <p:nvGrpSpPr>
          <p:cNvPr id="26" name="Gruppieren 25">
            <a:extLst>
              <a:ext uri="{FF2B5EF4-FFF2-40B4-BE49-F238E27FC236}">
                <a16:creationId xmlns:a16="http://schemas.microsoft.com/office/drawing/2014/main" id="{20592150-4063-96B8-9277-A5D8BCCF3F84}"/>
              </a:ext>
            </a:extLst>
          </p:cNvPr>
          <p:cNvGrpSpPr/>
          <p:nvPr/>
        </p:nvGrpSpPr>
        <p:grpSpPr>
          <a:xfrm>
            <a:off x="4936551" y="3071536"/>
            <a:ext cx="360000" cy="360000"/>
            <a:chOff x="2618251" y="2784150"/>
            <a:chExt cx="360000" cy="360000"/>
          </a:xfrm>
        </p:grpSpPr>
        <p:sp>
          <p:nvSpPr>
            <p:cNvPr id="27" name="Ellipse 26">
              <a:extLst>
                <a:ext uri="{FF2B5EF4-FFF2-40B4-BE49-F238E27FC236}">
                  <a16:creationId xmlns:a16="http://schemas.microsoft.com/office/drawing/2014/main" id="{21A20866-DE38-4DDB-37EF-B970EFFB3D91}"/>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28" name="Textfeld 27">
              <a:extLst>
                <a:ext uri="{FF2B5EF4-FFF2-40B4-BE49-F238E27FC236}">
                  <a16:creationId xmlns:a16="http://schemas.microsoft.com/office/drawing/2014/main" id="{F3095BD0-7ADF-2088-B13C-FF763D988548}"/>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2</a:t>
              </a:r>
            </a:p>
          </p:txBody>
        </p:sp>
      </p:grpSp>
      <p:cxnSp>
        <p:nvCxnSpPr>
          <p:cNvPr id="32" name="Gerade Verbindung mit Pfeil 31">
            <a:extLst>
              <a:ext uri="{FF2B5EF4-FFF2-40B4-BE49-F238E27FC236}">
                <a16:creationId xmlns:a16="http://schemas.microsoft.com/office/drawing/2014/main" id="{FD7C83AA-16B8-DDF5-CCC8-18E3C22982D1}"/>
              </a:ext>
            </a:extLst>
          </p:cNvPr>
          <p:cNvCxnSpPr>
            <a:cxnSpLocks/>
          </p:cNvCxnSpPr>
          <p:nvPr/>
        </p:nvCxnSpPr>
        <p:spPr>
          <a:xfrm flipV="1">
            <a:off x="3275654" y="2632905"/>
            <a:ext cx="1948051" cy="333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8" name="Gruppieren 37">
            <a:extLst>
              <a:ext uri="{FF2B5EF4-FFF2-40B4-BE49-F238E27FC236}">
                <a16:creationId xmlns:a16="http://schemas.microsoft.com/office/drawing/2014/main" id="{1558A298-3EB8-1921-34AB-CE9DC3EA9106}"/>
              </a:ext>
            </a:extLst>
          </p:cNvPr>
          <p:cNvGrpSpPr/>
          <p:nvPr/>
        </p:nvGrpSpPr>
        <p:grpSpPr>
          <a:xfrm>
            <a:off x="5392187" y="1935632"/>
            <a:ext cx="360000" cy="360000"/>
            <a:chOff x="2618251" y="2784150"/>
            <a:chExt cx="360000" cy="360000"/>
          </a:xfrm>
        </p:grpSpPr>
        <p:sp>
          <p:nvSpPr>
            <p:cNvPr id="39" name="Ellipse 38">
              <a:extLst>
                <a:ext uri="{FF2B5EF4-FFF2-40B4-BE49-F238E27FC236}">
                  <a16:creationId xmlns:a16="http://schemas.microsoft.com/office/drawing/2014/main" id="{D73E29E0-754E-9463-60A5-D0D85A2B2994}"/>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40" name="Textfeld 39">
              <a:extLst>
                <a:ext uri="{FF2B5EF4-FFF2-40B4-BE49-F238E27FC236}">
                  <a16:creationId xmlns:a16="http://schemas.microsoft.com/office/drawing/2014/main" id="{587C6DDE-7917-894B-542D-EFA03C7F4192}"/>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3</a:t>
              </a:r>
            </a:p>
          </p:txBody>
        </p:sp>
      </p:grpSp>
      <p:grpSp>
        <p:nvGrpSpPr>
          <p:cNvPr id="41" name="Gruppieren 40">
            <a:extLst>
              <a:ext uri="{FF2B5EF4-FFF2-40B4-BE49-F238E27FC236}">
                <a16:creationId xmlns:a16="http://schemas.microsoft.com/office/drawing/2014/main" id="{F7537582-8C98-5074-1A91-8A6835A56BBE}"/>
              </a:ext>
            </a:extLst>
          </p:cNvPr>
          <p:cNvGrpSpPr/>
          <p:nvPr/>
        </p:nvGrpSpPr>
        <p:grpSpPr>
          <a:xfrm>
            <a:off x="4425309" y="4469480"/>
            <a:ext cx="360000" cy="360000"/>
            <a:chOff x="2618251" y="2784150"/>
            <a:chExt cx="360000" cy="360000"/>
          </a:xfrm>
        </p:grpSpPr>
        <p:sp>
          <p:nvSpPr>
            <p:cNvPr id="42" name="Ellipse 41">
              <a:extLst>
                <a:ext uri="{FF2B5EF4-FFF2-40B4-BE49-F238E27FC236}">
                  <a16:creationId xmlns:a16="http://schemas.microsoft.com/office/drawing/2014/main" id="{7E71FD98-8188-E618-30F8-7A4E61D47E16}"/>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43" name="Textfeld 42">
              <a:extLst>
                <a:ext uri="{FF2B5EF4-FFF2-40B4-BE49-F238E27FC236}">
                  <a16:creationId xmlns:a16="http://schemas.microsoft.com/office/drawing/2014/main" id="{2E3FE45F-4E11-D968-8FE3-F746DB77BD17}"/>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4</a:t>
              </a:r>
            </a:p>
          </p:txBody>
        </p:sp>
      </p:grpSp>
      <p:sp>
        <p:nvSpPr>
          <p:cNvPr id="46" name="Textfeld 45">
            <a:extLst>
              <a:ext uri="{FF2B5EF4-FFF2-40B4-BE49-F238E27FC236}">
                <a16:creationId xmlns:a16="http://schemas.microsoft.com/office/drawing/2014/main" id="{8414DAAB-3728-9BD4-12DB-A3A4AB7FAB78}"/>
              </a:ext>
            </a:extLst>
          </p:cNvPr>
          <p:cNvSpPr txBox="1"/>
          <p:nvPr/>
        </p:nvSpPr>
        <p:spPr>
          <a:xfrm>
            <a:off x="807129" y="5070455"/>
            <a:ext cx="804789" cy="230832"/>
          </a:xfrm>
          <a:prstGeom prst="rect">
            <a:avLst/>
          </a:prstGeom>
          <a:noFill/>
          <a:ln w="19050">
            <a:solidFill>
              <a:srgbClr val="FF0000"/>
            </a:solidFill>
            <a:prstDash val="dash"/>
          </a:ln>
        </p:spPr>
        <p:txBody>
          <a:bodyPr wrap="square" rtlCol="0">
            <a:spAutoFit/>
          </a:bodyPr>
          <a:lstStyle/>
          <a:p>
            <a:r>
              <a:rPr lang="de-DE" sz="900" b="1" dirty="0"/>
              <a:t>€ 100 Mio.</a:t>
            </a:r>
          </a:p>
        </p:txBody>
      </p:sp>
      <p:grpSp>
        <p:nvGrpSpPr>
          <p:cNvPr id="69" name="Gruppieren 68">
            <a:extLst>
              <a:ext uri="{FF2B5EF4-FFF2-40B4-BE49-F238E27FC236}">
                <a16:creationId xmlns:a16="http://schemas.microsoft.com/office/drawing/2014/main" id="{1DEEF01C-F6EB-A62A-785A-8EB9F0B7BC71}"/>
              </a:ext>
            </a:extLst>
          </p:cNvPr>
          <p:cNvGrpSpPr/>
          <p:nvPr/>
        </p:nvGrpSpPr>
        <p:grpSpPr>
          <a:xfrm>
            <a:off x="6428895" y="1993487"/>
            <a:ext cx="360000" cy="360000"/>
            <a:chOff x="3861555" y="2081417"/>
            <a:chExt cx="360000" cy="360000"/>
          </a:xfrm>
        </p:grpSpPr>
        <p:sp>
          <p:nvSpPr>
            <p:cNvPr id="48" name="Ellipse 47">
              <a:extLst>
                <a:ext uri="{FF2B5EF4-FFF2-40B4-BE49-F238E27FC236}">
                  <a16:creationId xmlns:a16="http://schemas.microsoft.com/office/drawing/2014/main" id="{9AE8B687-8C37-4E29-D3F4-27BE97E12761}"/>
                </a:ext>
              </a:extLst>
            </p:cNvPr>
            <p:cNvSpPr/>
            <p:nvPr/>
          </p:nvSpPr>
          <p:spPr>
            <a:xfrm>
              <a:off x="3861555" y="2081417"/>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49" name="Textfeld 48">
              <a:extLst>
                <a:ext uri="{FF2B5EF4-FFF2-40B4-BE49-F238E27FC236}">
                  <a16:creationId xmlns:a16="http://schemas.microsoft.com/office/drawing/2014/main" id="{8293BF8F-3340-1F8F-04C0-44AFF7E8E880}"/>
                </a:ext>
              </a:extLst>
            </p:cNvPr>
            <p:cNvSpPr txBox="1"/>
            <p:nvPr/>
          </p:nvSpPr>
          <p:spPr>
            <a:xfrm>
              <a:off x="3895629" y="2120573"/>
              <a:ext cx="286167" cy="276999"/>
            </a:xfrm>
            <a:prstGeom prst="rect">
              <a:avLst/>
            </a:prstGeom>
            <a:noFill/>
            <a:ln>
              <a:noFill/>
            </a:ln>
          </p:spPr>
          <p:txBody>
            <a:bodyPr wrap="square" rtlCol="0">
              <a:spAutoFit/>
            </a:bodyPr>
            <a:lstStyle/>
            <a:p>
              <a:r>
                <a:rPr lang="de-DE" sz="1200" b="1" dirty="0"/>
                <a:t>1</a:t>
              </a:r>
            </a:p>
          </p:txBody>
        </p:sp>
      </p:grpSp>
      <p:sp>
        <p:nvSpPr>
          <p:cNvPr id="50" name="Textfeld 49">
            <a:extLst>
              <a:ext uri="{FF2B5EF4-FFF2-40B4-BE49-F238E27FC236}">
                <a16:creationId xmlns:a16="http://schemas.microsoft.com/office/drawing/2014/main" id="{0105BA69-FD5B-C60F-C283-66DF548C892B}"/>
              </a:ext>
            </a:extLst>
          </p:cNvPr>
          <p:cNvSpPr txBox="1"/>
          <p:nvPr/>
        </p:nvSpPr>
        <p:spPr>
          <a:xfrm>
            <a:off x="6901338" y="1993599"/>
            <a:ext cx="2412777" cy="369332"/>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t>Bereinigung Vergangenheit (Einmal-, Sondereffekte, Marktgerechtigkeit …)</a:t>
            </a:r>
          </a:p>
        </p:txBody>
      </p:sp>
      <p:grpSp>
        <p:nvGrpSpPr>
          <p:cNvPr id="68" name="Gruppieren 67">
            <a:extLst>
              <a:ext uri="{FF2B5EF4-FFF2-40B4-BE49-F238E27FC236}">
                <a16:creationId xmlns:a16="http://schemas.microsoft.com/office/drawing/2014/main" id="{6EB80323-FB1A-3705-7A2E-6695B8357581}"/>
              </a:ext>
            </a:extLst>
          </p:cNvPr>
          <p:cNvGrpSpPr/>
          <p:nvPr/>
        </p:nvGrpSpPr>
        <p:grpSpPr>
          <a:xfrm>
            <a:off x="6428895" y="2555715"/>
            <a:ext cx="360000" cy="360000"/>
            <a:chOff x="3861555" y="2649503"/>
            <a:chExt cx="360000" cy="360000"/>
          </a:xfrm>
        </p:grpSpPr>
        <p:sp>
          <p:nvSpPr>
            <p:cNvPr id="52" name="Ellipse 51">
              <a:extLst>
                <a:ext uri="{FF2B5EF4-FFF2-40B4-BE49-F238E27FC236}">
                  <a16:creationId xmlns:a16="http://schemas.microsoft.com/office/drawing/2014/main" id="{31C871C5-9151-C2AC-8DA2-3E374B02B613}"/>
                </a:ext>
              </a:extLst>
            </p:cNvPr>
            <p:cNvSpPr/>
            <p:nvPr/>
          </p:nvSpPr>
          <p:spPr>
            <a:xfrm>
              <a:off x="3861555" y="2649503"/>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53" name="Textfeld 52">
              <a:extLst>
                <a:ext uri="{FF2B5EF4-FFF2-40B4-BE49-F238E27FC236}">
                  <a16:creationId xmlns:a16="http://schemas.microsoft.com/office/drawing/2014/main" id="{5E7A68A8-DB3D-0A58-5742-6CBFCC7EB761}"/>
                </a:ext>
              </a:extLst>
            </p:cNvPr>
            <p:cNvSpPr txBox="1"/>
            <p:nvPr/>
          </p:nvSpPr>
          <p:spPr>
            <a:xfrm>
              <a:off x="3895629" y="2688659"/>
              <a:ext cx="286167" cy="276999"/>
            </a:xfrm>
            <a:prstGeom prst="rect">
              <a:avLst/>
            </a:prstGeom>
            <a:noFill/>
            <a:ln>
              <a:noFill/>
            </a:ln>
          </p:spPr>
          <p:txBody>
            <a:bodyPr wrap="square" rtlCol="0">
              <a:spAutoFit/>
            </a:bodyPr>
            <a:lstStyle/>
            <a:p>
              <a:r>
                <a:rPr lang="de-DE" sz="1200" b="1" dirty="0"/>
                <a:t>2</a:t>
              </a:r>
            </a:p>
          </p:txBody>
        </p:sp>
      </p:grpSp>
      <p:sp>
        <p:nvSpPr>
          <p:cNvPr id="54" name="Textfeld 53">
            <a:extLst>
              <a:ext uri="{FF2B5EF4-FFF2-40B4-BE49-F238E27FC236}">
                <a16:creationId xmlns:a16="http://schemas.microsoft.com/office/drawing/2014/main" id="{AEB80A3D-4E04-55A1-2575-86E41B09F85D}"/>
              </a:ext>
            </a:extLst>
          </p:cNvPr>
          <p:cNvSpPr txBox="1"/>
          <p:nvPr/>
        </p:nvSpPr>
        <p:spPr>
          <a:xfrm>
            <a:off x="6901338" y="2641153"/>
            <a:ext cx="2412777" cy="230832"/>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t>Detailplanung nahe Zukunft</a:t>
            </a:r>
          </a:p>
        </p:txBody>
      </p:sp>
      <p:grpSp>
        <p:nvGrpSpPr>
          <p:cNvPr id="67" name="Gruppieren 66">
            <a:extLst>
              <a:ext uri="{FF2B5EF4-FFF2-40B4-BE49-F238E27FC236}">
                <a16:creationId xmlns:a16="http://schemas.microsoft.com/office/drawing/2014/main" id="{D25325EC-81B4-EB6F-8C04-2FE94D86E96A}"/>
              </a:ext>
            </a:extLst>
          </p:cNvPr>
          <p:cNvGrpSpPr/>
          <p:nvPr/>
        </p:nvGrpSpPr>
        <p:grpSpPr>
          <a:xfrm>
            <a:off x="6428895" y="3126908"/>
            <a:ext cx="360000" cy="360000"/>
            <a:chOff x="3861555" y="3186898"/>
            <a:chExt cx="360000" cy="360000"/>
          </a:xfrm>
        </p:grpSpPr>
        <p:sp>
          <p:nvSpPr>
            <p:cNvPr id="56" name="Ellipse 55">
              <a:extLst>
                <a:ext uri="{FF2B5EF4-FFF2-40B4-BE49-F238E27FC236}">
                  <a16:creationId xmlns:a16="http://schemas.microsoft.com/office/drawing/2014/main" id="{FCEC765D-B564-8AE0-1054-FD232E76F7C3}"/>
                </a:ext>
              </a:extLst>
            </p:cNvPr>
            <p:cNvSpPr/>
            <p:nvPr/>
          </p:nvSpPr>
          <p:spPr>
            <a:xfrm>
              <a:off x="3861555" y="3186898"/>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57" name="Textfeld 56">
              <a:extLst>
                <a:ext uri="{FF2B5EF4-FFF2-40B4-BE49-F238E27FC236}">
                  <a16:creationId xmlns:a16="http://schemas.microsoft.com/office/drawing/2014/main" id="{B7C5DAC4-69E0-553F-3954-E77FA5A785A4}"/>
                </a:ext>
              </a:extLst>
            </p:cNvPr>
            <p:cNvSpPr txBox="1"/>
            <p:nvPr/>
          </p:nvSpPr>
          <p:spPr>
            <a:xfrm>
              <a:off x="3895629" y="3226054"/>
              <a:ext cx="286167" cy="276999"/>
            </a:xfrm>
            <a:prstGeom prst="rect">
              <a:avLst/>
            </a:prstGeom>
            <a:noFill/>
            <a:ln>
              <a:noFill/>
            </a:ln>
          </p:spPr>
          <p:txBody>
            <a:bodyPr wrap="square" rtlCol="0">
              <a:spAutoFit/>
            </a:bodyPr>
            <a:lstStyle/>
            <a:p>
              <a:r>
                <a:rPr lang="de-DE" sz="1200" b="1" dirty="0"/>
                <a:t>3</a:t>
              </a:r>
            </a:p>
          </p:txBody>
        </p:sp>
      </p:grpSp>
      <p:sp>
        <p:nvSpPr>
          <p:cNvPr id="58" name="Textfeld 57">
            <a:extLst>
              <a:ext uri="{FF2B5EF4-FFF2-40B4-BE49-F238E27FC236}">
                <a16:creationId xmlns:a16="http://schemas.microsoft.com/office/drawing/2014/main" id="{0E4A7061-DCB6-3034-D305-689B6E19E307}"/>
              </a:ext>
            </a:extLst>
          </p:cNvPr>
          <p:cNvSpPr txBox="1"/>
          <p:nvPr/>
        </p:nvSpPr>
        <p:spPr>
          <a:xfrm>
            <a:off x="6901338" y="3105080"/>
            <a:ext cx="2600216" cy="723275"/>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t>Wachstumsrate fernere Zukunft</a:t>
            </a:r>
          </a:p>
          <a:p>
            <a:pPr marL="87313" indent="-87313">
              <a:spcBef>
                <a:spcPts val="300"/>
              </a:spcBef>
              <a:buFont typeface="Wingdings" panose="05000000000000000000" pitchFamily="2" charset="2"/>
              <a:buChar char="§"/>
            </a:pPr>
            <a:r>
              <a:rPr lang="de-DE" sz="900" b="1" dirty="0"/>
              <a:t>Gründe natürlicher endlicher Zeithorizont?</a:t>
            </a:r>
          </a:p>
          <a:p>
            <a:pPr marL="87313" indent="-87313">
              <a:spcBef>
                <a:spcPts val="300"/>
              </a:spcBef>
              <a:buFont typeface="Wingdings" panose="05000000000000000000" pitchFamily="2" charset="2"/>
              <a:buChar char="§"/>
            </a:pPr>
            <a:r>
              <a:rPr lang="de-DE" sz="900" b="1" dirty="0"/>
              <a:t>Insolvenzwahrscheinlichkeit mit relevanter Größenordnung?</a:t>
            </a:r>
          </a:p>
        </p:txBody>
      </p:sp>
      <p:grpSp>
        <p:nvGrpSpPr>
          <p:cNvPr id="66" name="Gruppieren 65">
            <a:extLst>
              <a:ext uri="{FF2B5EF4-FFF2-40B4-BE49-F238E27FC236}">
                <a16:creationId xmlns:a16="http://schemas.microsoft.com/office/drawing/2014/main" id="{2AB162EF-8A42-0282-A349-04F0984A222E}"/>
              </a:ext>
            </a:extLst>
          </p:cNvPr>
          <p:cNvGrpSpPr/>
          <p:nvPr/>
        </p:nvGrpSpPr>
        <p:grpSpPr>
          <a:xfrm>
            <a:off x="6428895" y="3928448"/>
            <a:ext cx="360000" cy="360000"/>
            <a:chOff x="3861555" y="3768102"/>
            <a:chExt cx="360000" cy="360000"/>
          </a:xfrm>
        </p:grpSpPr>
        <p:sp>
          <p:nvSpPr>
            <p:cNvPr id="60" name="Ellipse 59">
              <a:extLst>
                <a:ext uri="{FF2B5EF4-FFF2-40B4-BE49-F238E27FC236}">
                  <a16:creationId xmlns:a16="http://schemas.microsoft.com/office/drawing/2014/main" id="{9BBCBD63-A177-FB8D-FD92-E260AA4BD48A}"/>
                </a:ext>
              </a:extLst>
            </p:cNvPr>
            <p:cNvSpPr/>
            <p:nvPr/>
          </p:nvSpPr>
          <p:spPr>
            <a:xfrm>
              <a:off x="3861555" y="3768102"/>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61" name="Textfeld 60">
              <a:extLst>
                <a:ext uri="{FF2B5EF4-FFF2-40B4-BE49-F238E27FC236}">
                  <a16:creationId xmlns:a16="http://schemas.microsoft.com/office/drawing/2014/main" id="{6A10E7E2-AB27-277D-FA38-1D05A536B81D}"/>
                </a:ext>
              </a:extLst>
            </p:cNvPr>
            <p:cNvSpPr txBox="1"/>
            <p:nvPr/>
          </p:nvSpPr>
          <p:spPr>
            <a:xfrm>
              <a:off x="3895629" y="3807258"/>
              <a:ext cx="286167" cy="276999"/>
            </a:xfrm>
            <a:prstGeom prst="rect">
              <a:avLst/>
            </a:prstGeom>
            <a:noFill/>
            <a:ln>
              <a:noFill/>
            </a:ln>
          </p:spPr>
          <p:txBody>
            <a:bodyPr wrap="square" rtlCol="0">
              <a:spAutoFit/>
            </a:bodyPr>
            <a:lstStyle/>
            <a:p>
              <a:r>
                <a:rPr lang="de-DE" sz="1200" b="1" dirty="0"/>
                <a:t>4</a:t>
              </a:r>
            </a:p>
          </p:txBody>
        </p:sp>
      </p:grpSp>
      <p:sp>
        <p:nvSpPr>
          <p:cNvPr id="62" name="Textfeld 61">
            <a:extLst>
              <a:ext uri="{FF2B5EF4-FFF2-40B4-BE49-F238E27FC236}">
                <a16:creationId xmlns:a16="http://schemas.microsoft.com/office/drawing/2014/main" id="{B5CCC0AF-AAE3-EAAB-AF65-C07C2793F3B5}"/>
              </a:ext>
            </a:extLst>
          </p:cNvPr>
          <p:cNvSpPr txBox="1"/>
          <p:nvPr/>
        </p:nvSpPr>
        <p:spPr>
          <a:xfrm>
            <a:off x="6901338" y="3987975"/>
            <a:ext cx="2412777" cy="230832"/>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t>Risikoadäquater Zinssatz (gem. CAPM)</a:t>
            </a:r>
          </a:p>
        </p:txBody>
      </p:sp>
      <p:sp>
        <p:nvSpPr>
          <p:cNvPr id="71" name="Pfeil: nach rechts 70">
            <a:extLst>
              <a:ext uri="{FF2B5EF4-FFF2-40B4-BE49-F238E27FC236}">
                <a16:creationId xmlns:a16="http://schemas.microsoft.com/office/drawing/2014/main" id="{A526795C-01EF-B033-8307-4F6E6B4C42E6}"/>
              </a:ext>
            </a:extLst>
          </p:cNvPr>
          <p:cNvSpPr/>
          <p:nvPr/>
        </p:nvSpPr>
        <p:spPr>
          <a:xfrm>
            <a:off x="2711676" y="3329346"/>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72" name="Pfeil: nach rechts 71">
            <a:extLst>
              <a:ext uri="{FF2B5EF4-FFF2-40B4-BE49-F238E27FC236}">
                <a16:creationId xmlns:a16="http://schemas.microsoft.com/office/drawing/2014/main" id="{8973A37A-EBF4-849E-9435-DE15B7F6B2FF}"/>
              </a:ext>
            </a:extLst>
          </p:cNvPr>
          <p:cNvSpPr/>
          <p:nvPr/>
        </p:nvSpPr>
        <p:spPr>
          <a:xfrm rot="10800000">
            <a:off x="2711676" y="5072382"/>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73" name="Textfeld 72">
            <a:extLst>
              <a:ext uri="{FF2B5EF4-FFF2-40B4-BE49-F238E27FC236}">
                <a16:creationId xmlns:a16="http://schemas.microsoft.com/office/drawing/2014/main" id="{55317658-0473-5B0E-4F12-D195B5DBBFB2}"/>
              </a:ext>
            </a:extLst>
          </p:cNvPr>
          <p:cNvSpPr txBox="1"/>
          <p:nvPr/>
        </p:nvSpPr>
        <p:spPr>
          <a:xfrm>
            <a:off x="641123" y="4824380"/>
            <a:ext cx="2412777" cy="230832"/>
          </a:xfrm>
          <a:prstGeom prst="rect">
            <a:avLst/>
          </a:prstGeom>
          <a:noFill/>
        </p:spPr>
        <p:txBody>
          <a:bodyPr wrap="square" rtlCol="0">
            <a:spAutoFit/>
          </a:bodyPr>
          <a:lstStyle/>
          <a:p>
            <a:r>
              <a:rPr lang="de-DE" sz="900" b="1" dirty="0"/>
              <a:t>Unternehmenswert</a:t>
            </a:r>
          </a:p>
        </p:txBody>
      </p:sp>
      <p:pic>
        <p:nvPicPr>
          <p:cNvPr id="77" name="Grafik 76">
            <a:extLst>
              <a:ext uri="{FF2B5EF4-FFF2-40B4-BE49-F238E27FC236}">
                <a16:creationId xmlns:a16="http://schemas.microsoft.com/office/drawing/2014/main" id="{8158A0F6-D83C-21B4-1D96-36A717DE640C}"/>
              </a:ext>
            </a:extLst>
          </p:cNvPr>
          <p:cNvPicPr>
            <a:picLocks noChangeAspect="1"/>
          </p:cNvPicPr>
          <p:nvPr/>
        </p:nvPicPr>
        <p:blipFill rotWithShape="1">
          <a:blip r:embed="rId2"/>
          <a:srcRect r="39627"/>
          <a:stretch/>
        </p:blipFill>
        <p:spPr>
          <a:xfrm>
            <a:off x="347529" y="2615831"/>
            <a:ext cx="2069045" cy="1458148"/>
          </a:xfrm>
          <a:prstGeom prst="rect">
            <a:avLst/>
          </a:prstGeom>
        </p:spPr>
      </p:pic>
      <p:sp>
        <p:nvSpPr>
          <p:cNvPr id="78" name="Textfeld 77">
            <a:extLst>
              <a:ext uri="{FF2B5EF4-FFF2-40B4-BE49-F238E27FC236}">
                <a16:creationId xmlns:a16="http://schemas.microsoft.com/office/drawing/2014/main" id="{52B31567-96D5-97C5-5D33-8E617B4F77D0}"/>
              </a:ext>
            </a:extLst>
          </p:cNvPr>
          <p:cNvSpPr txBox="1"/>
          <p:nvPr/>
        </p:nvSpPr>
        <p:spPr>
          <a:xfrm>
            <a:off x="509914" y="1704800"/>
            <a:ext cx="2412777" cy="230832"/>
          </a:xfrm>
          <a:prstGeom prst="rect">
            <a:avLst/>
          </a:prstGeom>
          <a:noFill/>
        </p:spPr>
        <p:txBody>
          <a:bodyPr wrap="square" rtlCol="0">
            <a:spAutoFit/>
          </a:bodyPr>
          <a:lstStyle/>
          <a:p>
            <a:r>
              <a:rPr lang="de-DE" sz="900" b="1" dirty="0"/>
              <a:t>Finanzzahlen Unternehmen</a:t>
            </a:r>
          </a:p>
        </p:txBody>
      </p:sp>
      <p:sp>
        <p:nvSpPr>
          <p:cNvPr id="79" name="Pfeil: nach rechts 78">
            <a:extLst>
              <a:ext uri="{FF2B5EF4-FFF2-40B4-BE49-F238E27FC236}">
                <a16:creationId xmlns:a16="http://schemas.microsoft.com/office/drawing/2014/main" id="{6EF4FCF4-E882-A4F9-D527-AAA02B494C14}"/>
              </a:ext>
            </a:extLst>
          </p:cNvPr>
          <p:cNvSpPr/>
          <p:nvPr/>
        </p:nvSpPr>
        <p:spPr>
          <a:xfrm rot="5400000">
            <a:off x="1062982" y="2138232"/>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80" name="Pfeil: nach rechts 79">
            <a:extLst>
              <a:ext uri="{FF2B5EF4-FFF2-40B4-BE49-F238E27FC236}">
                <a16:creationId xmlns:a16="http://schemas.microsoft.com/office/drawing/2014/main" id="{9FDB8C7D-8FEE-BFE3-240A-66AE705BBF31}"/>
              </a:ext>
            </a:extLst>
          </p:cNvPr>
          <p:cNvSpPr/>
          <p:nvPr/>
        </p:nvSpPr>
        <p:spPr>
          <a:xfrm rot="5400000">
            <a:off x="4911698" y="4473663"/>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29" name="Textfeld 28">
            <a:extLst>
              <a:ext uri="{FF2B5EF4-FFF2-40B4-BE49-F238E27FC236}">
                <a16:creationId xmlns:a16="http://schemas.microsoft.com/office/drawing/2014/main" id="{E5A410E4-A519-C23C-B081-29220C9E0F77}"/>
              </a:ext>
            </a:extLst>
          </p:cNvPr>
          <p:cNvSpPr txBox="1"/>
          <p:nvPr/>
        </p:nvSpPr>
        <p:spPr>
          <a:xfrm>
            <a:off x="328576" y="5673356"/>
            <a:ext cx="9225897" cy="558829"/>
          </a:xfrm>
          <a:prstGeom prst="rect">
            <a:avLst/>
          </a:prstGeom>
          <a:noFill/>
          <a:ln w="12700">
            <a:solidFill>
              <a:schemeClr val="accent2"/>
            </a:solidFill>
            <a:prstDash val="dash"/>
          </a:ln>
        </p:spPr>
        <p:txBody>
          <a:bodyPr wrap="square" lIns="72000" tIns="72000" rIns="72000" bIns="72000" rtlCol="0">
            <a:noAutofit/>
          </a:bodyPr>
          <a:lstStyle/>
          <a:p>
            <a:pPr algn="ctr"/>
            <a:r>
              <a:rPr lang="de-DE" sz="1200" dirty="0"/>
              <a:t>Der Unternehmenswert wird determiniert durch die </a:t>
            </a:r>
            <a:r>
              <a:rPr lang="de-DE" sz="1200" b="1" dirty="0"/>
              <a:t>erwirtschafteten Überschüsse </a:t>
            </a:r>
            <a:r>
              <a:rPr lang="de-DE" sz="1200" dirty="0"/>
              <a:t>über den </a:t>
            </a:r>
            <a:r>
              <a:rPr lang="de-DE" sz="1200" b="1" dirty="0"/>
              <a:t>bewertungsrelevanten Zeitraum</a:t>
            </a:r>
            <a:r>
              <a:rPr lang="de-DE" sz="1200" dirty="0"/>
              <a:t>, nachdem alle beteiligten Parteien </a:t>
            </a:r>
            <a:r>
              <a:rPr lang="de-DE" sz="1200" b="1" dirty="0"/>
              <a:t>marktgerecht entlohnt</a:t>
            </a:r>
            <a:r>
              <a:rPr lang="de-DE" sz="1200" dirty="0"/>
              <a:t> sind, und die Verzinsung des eingesetzten Kapitals (</a:t>
            </a:r>
            <a:r>
              <a:rPr lang="de-DE" sz="1200" b="1" dirty="0"/>
              <a:t>Kapitalkosten</a:t>
            </a:r>
            <a:r>
              <a:rPr lang="de-DE" sz="1200" dirty="0"/>
              <a:t>).</a:t>
            </a:r>
          </a:p>
        </p:txBody>
      </p:sp>
      <p:sp>
        <p:nvSpPr>
          <p:cNvPr id="30" name="Geschweifte Klammer links 29">
            <a:extLst>
              <a:ext uri="{FF2B5EF4-FFF2-40B4-BE49-F238E27FC236}">
                <a16:creationId xmlns:a16="http://schemas.microsoft.com/office/drawing/2014/main" id="{5074336E-729F-0D97-D805-329382F9C755}"/>
              </a:ext>
            </a:extLst>
          </p:cNvPr>
          <p:cNvSpPr/>
          <p:nvPr/>
        </p:nvSpPr>
        <p:spPr>
          <a:xfrm rot="16200000">
            <a:off x="3623993" y="3592611"/>
            <a:ext cx="274545" cy="969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1" name="Textfeld 30">
            <a:extLst>
              <a:ext uri="{FF2B5EF4-FFF2-40B4-BE49-F238E27FC236}">
                <a16:creationId xmlns:a16="http://schemas.microsoft.com/office/drawing/2014/main" id="{8B911EEA-51FA-3DDA-DF87-90E6AFB77B5B}"/>
              </a:ext>
            </a:extLst>
          </p:cNvPr>
          <p:cNvSpPr txBox="1"/>
          <p:nvPr/>
        </p:nvSpPr>
        <p:spPr>
          <a:xfrm>
            <a:off x="3271331" y="4182306"/>
            <a:ext cx="1088036" cy="230832"/>
          </a:xfrm>
          <a:prstGeom prst="rect">
            <a:avLst/>
          </a:prstGeom>
          <a:noFill/>
        </p:spPr>
        <p:txBody>
          <a:bodyPr wrap="square" rtlCol="0">
            <a:spAutoFit/>
          </a:bodyPr>
          <a:lstStyle/>
          <a:p>
            <a:r>
              <a:rPr lang="de-DE" sz="900" b="1" dirty="0"/>
              <a:t>Vergangenheit</a:t>
            </a:r>
          </a:p>
        </p:txBody>
      </p:sp>
      <p:sp>
        <p:nvSpPr>
          <p:cNvPr id="33" name="Textfeld 32">
            <a:extLst>
              <a:ext uri="{FF2B5EF4-FFF2-40B4-BE49-F238E27FC236}">
                <a16:creationId xmlns:a16="http://schemas.microsoft.com/office/drawing/2014/main" id="{33291FF6-E7C1-F8BE-1BB9-126B12486531}"/>
              </a:ext>
            </a:extLst>
          </p:cNvPr>
          <p:cNvSpPr txBox="1"/>
          <p:nvPr/>
        </p:nvSpPr>
        <p:spPr>
          <a:xfrm>
            <a:off x="4736027" y="4182306"/>
            <a:ext cx="1088036" cy="230832"/>
          </a:xfrm>
          <a:prstGeom prst="rect">
            <a:avLst/>
          </a:prstGeom>
          <a:noFill/>
        </p:spPr>
        <p:txBody>
          <a:bodyPr wrap="square" rtlCol="0">
            <a:spAutoFit/>
          </a:bodyPr>
          <a:lstStyle/>
          <a:p>
            <a:r>
              <a:rPr lang="de-DE" sz="900" b="1" dirty="0"/>
              <a:t>Zukunft</a:t>
            </a:r>
          </a:p>
        </p:txBody>
      </p:sp>
      <p:sp>
        <p:nvSpPr>
          <p:cNvPr id="35" name="Textfeld 77">
            <a:extLst>
              <a:ext uri="{FF2B5EF4-FFF2-40B4-BE49-F238E27FC236}">
                <a16:creationId xmlns:a16="http://schemas.microsoft.com/office/drawing/2014/main" id="{B79B7903-D92F-3CA5-307B-C976D3CC66DF}"/>
              </a:ext>
            </a:extLst>
          </p:cNvPr>
          <p:cNvSpPr txBox="1"/>
          <p:nvPr/>
        </p:nvSpPr>
        <p:spPr>
          <a:xfrm>
            <a:off x="3178736" y="1704800"/>
            <a:ext cx="2412777" cy="230832"/>
          </a:xfrm>
          <a:prstGeom prst="rect">
            <a:avLst/>
          </a:prstGeom>
          <a:noFill/>
        </p:spPr>
        <p:txBody>
          <a:bodyPr wrap="square" rtlCol="0">
            <a:spAutoFit/>
          </a:bodyPr>
          <a:lstStyle/>
          <a:p>
            <a:r>
              <a:rPr lang="de-DE" sz="900" b="1" dirty="0"/>
              <a:t>Analyse und Planung</a:t>
            </a:r>
          </a:p>
        </p:txBody>
      </p:sp>
      <p:cxnSp>
        <p:nvCxnSpPr>
          <p:cNvPr id="5" name="Gerader Verbinder 95">
            <a:extLst>
              <a:ext uri="{FF2B5EF4-FFF2-40B4-BE49-F238E27FC236}">
                <a16:creationId xmlns:a16="http://schemas.microsoft.com/office/drawing/2014/main" id="{9071EA95-9AA6-F2A3-F609-F4DA9F6E233C}"/>
              </a:ext>
            </a:extLst>
          </p:cNvPr>
          <p:cNvCxnSpPr>
            <a:cxnSpLocks/>
          </p:cNvCxnSpPr>
          <p:nvPr/>
        </p:nvCxnSpPr>
        <p:spPr>
          <a:xfrm>
            <a:off x="5946312" y="1746732"/>
            <a:ext cx="0" cy="37338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433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196EC79-0556-4927-B4AD-9E6231F33870}"/>
              </a:ext>
            </a:extLst>
          </p:cNvPr>
          <p:cNvSpPr>
            <a:spLocks noGrp="1"/>
          </p:cNvSpPr>
          <p:nvPr>
            <p:ph type="title"/>
          </p:nvPr>
        </p:nvSpPr>
        <p:spPr>
          <a:xfrm>
            <a:off x="273051" y="2402239"/>
            <a:ext cx="4281408" cy="2187227"/>
          </a:xfrm>
        </p:spPr>
        <p:txBody>
          <a:bodyPr/>
          <a:lstStyle/>
          <a:p>
            <a:r>
              <a:rPr lang="de-DE" dirty="0"/>
              <a:t>Bewertung KMU</a:t>
            </a:r>
          </a:p>
        </p:txBody>
      </p:sp>
      <p:sp>
        <p:nvSpPr>
          <p:cNvPr id="6" name="Textplatzhalter 5">
            <a:extLst>
              <a:ext uri="{FF2B5EF4-FFF2-40B4-BE49-F238E27FC236}">
                <a16:creationId xmlns:a16="http://schemas.microsoft.com/office/drawing/2014/main" id="{294C685A-117E-4BA4-BE59-C79694B8C9A2}"/>
              </a:ext>
            </a:extLst>
          </p:cNvPr>
          <p:cNvSpPr>
            <a:spLocks noGrp="1"/>
          </p:cNvSpPr>
          <p:nvPr>
            <p:ph type="body" idx="1"/>
          </p:nvPr>
        </p:nvSpPr>
        <p:spPr/>
        <p:txBody>
          <a:bodyPr/>
          <a:lstStyle/>
          <a:p>
            <a:r>
              <a:rPr lang="en-US" dirty="0"/>
              <a:t>BESONDERHEITEN KMU</a:t>
            </a:r>
          </a:p>
        </p:txBody>
      </p:sp>
      <p:sp>
        <p:nvSpPr>
          <p:cNvPr id="2" name="Foliennummernplatzhalter 1">
            <a:extLst>
              <a:ext uri="{FF2B5EF4-FFF2-40B4-BE49-F238E27FC236}">
                <a16:creationId xmlns:a16="http://schemas.microsoft.com/office/drawing/2014/main" id="{EA4072A6-17C6-4975-923E-30BE6D1FBF5D}"/>
              </a:ext>
            </a:extLst>
          </p:cNvPr>
          <p:cNvSpPr>
            <a:spLocks noGrp="1"/>
          </p:cNvSpPr>
          <p:nvPr>
            <p:ph type="sldNum" sz="quarter" idx="12"/>
          </p:nvPr>
        </p:nvSpPr>
        <p:spPr/>
        <p:txBody>
          <a:bodyPr/>
          <a:lstStyle/>
          <a:p>
            <a:fld id="{06BE810C-D1BD-4E2B-9D7B-C86294C40709}" type="slidenum">
              <a:rPr lang="en-US" smtClean="0"/>
              <a:t>13</a:t>
            </a:fld>
            <a:endParaRPr lang="en-US" dirty="0"/>
          </a:p>
        </p:txBody>
      </p:sp>
    </p:spTree>
    <p:extLst>
      <p:ext uri="{BB962C8B-B14F-4D97-AF65-F5344CB8AC3E}">
        <p14:creationId xmlns:p14="http://schemas.microsoft.com/office/powerpoint/2010/main" val="2275937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14</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Für kleine und mittlere Unternehmen werden beobachtbar zumeist deutlich geringere Kaufpreise gezahlt als für signifikant größere Unternehmen</a:t>
            </a:r>
          </a:p>
        </p:txBody>
      </p:sp>
      <p:pic>
        <p:nvPicPr>
          <p:cNvPr id="5" name="Grafik 4">
            <a:extLst>
              <a:ext uri="{FF2B5EF4-FFF2-40B4-BE49-F238E27FC236}">
                <a16:creationId xmlns:a16="http://schemas.microsoft.com/office/drawing/2014/main" id="{B6026E4B-CD8D-05B8-1AF7-B77013DC973C}"/>
              </a:ext>
            </a:extLst>
          </p:cNvPr>
          <p:cNvPicPr>
            <a:picLocks noChangeAspect="1"/>
          </p:cNvPicPr>
          <p:nvPr/>
        </p:nvPicPr>
        <p:blipFill>
          <a:blip r:embed="rId2"/>
          <a:stretch>
            <a:fillRect/>
          </a:stretch>
        </p:blipFill>
        <p:spPr>
          <a:xfrm>
            <a:off x="359366" y="1639622"/>
            <a:ext cx="4268571" cy="2395714"/>
          </a:xfrm>
          <a:prstGeom prst="rect">
            <a:avLst/>
          </a:prstGeom>
        </p:spPr>
      </p:pic>
      <p:pic>
        <p:nvPicPr>
          <p:cNvPr id="7" name="Grafik 6">
            <a:extLst>
              <a:ext uri="{FF2B5EF4-FFF2-40B4-BE49-F238E27FC236}">
                <a16:creationId xmlns:a16="http://schemas.microsoft.com/office/drawing/2014/main" id="{674AAE1F-1C47-6CB1-3183-D634ED8BFCC6}"/>
              </a:ext>
            </a:extLst>
          </p:cNvPr>
          <p:cNvPicPr>
            <a:picLocks noChangeAspect="1"/>
          </p:cNvPicPr>
          <p:nvPr/>
        </p:nvPicPr>
        <p:blipFill>
          <a:blip r:embed="rId3"/>
          <a:stretch>
            <a:fillRect/>
          </a:stretch>
        </p:blipFill>
        <p:spPr>
          <a:xfrm>
            <a:off x="4953000" y="1639622"/>
            <a:ext cx="4285714" cy="2395714"/>
          </a:xfrm>
          <a:prstGeom prst="rect">
            <a:avLst/>
          </a:prstGeom>
        </p:spPr>
      </p:pic>
      <p:sp>
        <p:nvSpPr>
          <p:cNvPr id="8" name="Textfeld 7">
            <a:extLst>
              <a:ext uri="{FF2B5EF4-FFF2-40B4-BE49-F238E27FC236}">
                <a16:creationId xmlns:a16="http://schemas.microsoft.com/office/drawing/2014/main" id="{38CD4591-2C19-5D57-C9E4-C96BC5B2109D}"/>
              </a:ext>
            </a:extLst>
          </p:cNvPr>
          <p:cNvSpPr txBox="1"/>
          <p:nvPr/>
        </p:nvSpPr>
        <p:spPr>
          <a:xfrm>
            <a:off x="359366" y="4892572"/>
            <a:ext cx="8896386" cy="866443"/>
          </a:xfrm>
          <a:prstGeom prst="rect">
            <a:avLst/>
          </a:prstGeom>
          <a:noFill/>
          <a:ln w="12700">
            <a:solidFill>
              <a:schemeClr val="accent2"/>
            </a:solidFill>
            <a:prstDash val="dash"/>
          </a:ln>
        </p:spPr>
        <p:txBody>
          <a:bodyPr wrap="square" lIns="72000" tIns="72000" rIns="72000" bIns="72000" rtlCol="0">
            <a:noAutofit/>
          </a:bodyPr>
          <a:lstStyle/>
          <a:p>
            <a:pPr marL="171450" indent="-171450">
              <a:buClr>
                <a:srgbClr val="002060"/>
              </a:buClr>
              <a:buFont typeface="Arial" panose="020B0604020202020204" pitchFamily="34" charset="0"/>
              <a:buChar char="•"/>
            </a:pPr>
            <a:r>
              <a:rPr lang="de-DE" sz="1200" dirty="0">
                <a:solidFill>
                  <a:srgbClr val="FF0000"/>
                </a:solidFill>
              </a:rPr>
              <a:t>Abschlag im Beispiel ca. 40 bis 50%</a:t>
            </a:r>
          </a:p>
          <a:p>
            <a:pPr marL="171450" indent="-171450">
              <a:buClr>
                <a:srgbClr val="002060"/>
              </a:buClr>
              <a:buFont typeface="Arial" panose="020B0604020202020204" pitchFamily="34" charset="0"/>
              <a:buChar char="•"/>
            </a:pPr>
            <a:r>
              <a:rPr lang="de-DE" sz="1200" dirty="0"/>
              <a:t>Im allgemeinen geht man von einer Größenordnung von ca. </a:t>
            </a:r>
            <a:r>
              <a:rPr lang="de-DE" sz="1200" b="1" dirty="0"/>
              <a:t>30% bis 50% für KMU-Abschläge </a:t>
            </a:r>
            <a:r>
              <a:rPr lang="de-DE" sz="1200" dirty="0"/>
              <a:t>aus</a:t>
            </a:r>
          </a:p>
          <a:p>
            <a:pPr marL="171450" indent="-171450">
              <a:buClr>
                <a:srgbClr val="002060"/>
              </a:buClr>
              <a:buFont typeface="Arial" panose="020B0604020202020204" pitchFamily="34" charset="0"/>
              <a:buChar char="•"/>
            </a:pPr>
            <a:r>
              <a:rPr lang="de-DE" sz="1200" dirty="0"/>
              <a:t>Zuzüglich weiteren Abschlägen für geringere Größe (als Umsatz € 20 Mio. oben) sowie Unternehmenscharakteristika wie Inhaberprägung, Abhängigkeiten etc.</a:t>
            </a:r>
          </a:p>
        </p:txBody>
      </p:sp>
      <p:sp>
        <p:nvSpPr>
          <p:cNvPr id="9" name="Rechteck 8">
            <a:extLst>
              <a:ext uri="{FF2B5EF4-FFF2-40B4-BE49-F238E27FC236}">
                <a16:creationId xmlns:a16="http://schemas.microsoft.com/office/drawing/2014/main" id="{7D4E630D-E8D0-BB59-4A4D-9F3817FA612B}"/>
              </a:ext>
            </a:extLst>
          </p:cNvPr>
          <p:cNvSpPr/>
          <p:nvPr/>
        </p:nvSpPr>
        <p:spPr>
          <a:xfrm>
            <a:off x="1130221" y="1936379"/>
            <a:ext cx="3152124" cy="15334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0" name="Rechteck 9">
            <a:extLst>
              <a:ext uri="{FF2B5EF4-FFF2-40B4-BE49-F238E27FC236}">
                <a16:creationId xmlns:a16="http://schemas.microsoft.com/office/drawing/2014/main" id="{BC4D7228-6C03-E232-FB00-3B0EE814340F}"/>
              </a:ext>
            </a:extLst>
          </p:cNvPr>
          <p:cNvSpPr/>
          <p:nvPr/>
        </p:nvSpPr>
        <p:spPr>
          <a:xfrm>
            <a:off x="5724939" y="1936379"/>
            <a:ext cx="3186201" cy="15334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11" name="Textfeld 10">
            <a:extLst>
              <a:ext uri="{FF2B5EF4-FFF2-40B4-BE49-F238E27FC236}">
                <a16:creationId xmlns:a16="http://schemas.microsoft.com/office/drawing/2014/main" id="{8FD05E66-807D-03D3-C1AC-9B2FAC739E5F}"/>
              </a:ext>
            </a:extLst>
          </p:cNvPr>
          <p:cNvSpPr txBox="1"/>
          <p:nvPr/>
        </p:nvSpPr>
        <p:spPr>
          <a:xfrm>
            <a:off x="318052" y="4114101"/>
            <a:ext cx="8920662" cy="233945"/>
          </a:xfrm>
          <a:prstGeom prst="rect">
            <a:avLst/>
          </a:prstGeom>
          <a:noFill/>
          <a:ln w="12700">
            <a:noFill/>
            <a:prstDash val="dash"/>
          </a:ln>
        </p:spPr>
        <p:txBody>
          <a:bodyPr wrap="square" rtlCol="0">
            <a:noAutofit/>
          </a:bodyPr>
          <a:lstStyle/>
          <a:p>
            <a:r>
              <a:rPr lang="de-DE" sz="1000" dirty="0"/>
              <a:t>*Micro-Cap: Umsatz &lt; € 20 Mio., Large Cap: Umsatz &gt; € 250 Mio.</a:t>
            </a:r>
          </a:p>
        </p:txBody>
      </p:sp>
      <p:sp>
        <p:nvSpPr>
          <p:cNvPr id="12" name="Gleichschenkliges Dreieck 11">
            <a:extLst>
              <a:ext uri="{FF2B5EF4-FFF2-40B4-BE49-F238E27FC236}">
                <a16:creationId xmlns:a16="http://schemas.microsoft.com/office/drawing/2014/main" id="{E2D13231-C573-B6FF-2B16-F3C057F1A50E}"/>
              </a:ext>
            </a:extLst>
          </p:cNvPr>
          <p:cNvSpPr/>
          <p:nvPr/>
        </p:nvSpPr>
        <p:spPr>
          <a:xfrm rot="10800000">
            <a:off x="349614" y="4448533"/>
            <a:ext cx="8906138" cy="272921"/>
          </a:xfrm>
          <a:prstGeom prst="triangle">
            <a:avLst>
              <a:gd name="adj" fmla="val 51572"/>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cxnSp>
        <p:nvCxnSpPr>
          <p:cNvPr id="14" name="Gerade Verbindung mit Pfeil 13">
            <a:extLst>
              <a:ext uri="{FF2B5EF4-FFF2-40B4-BE49-F238E27FC236}">
                <a16:creationId xmlns:a16="http://schemas.microsoft.com/office/drawing/2014/main" id="{308CD793-EA56-7064-0203-71175C7A9AE4}"/>
              </a:ext>
            </a:extLst>
          </p:cNvPr>
          <p:cNvCxnSpPr>
            <a:cxnSpLocks/>
          </p:cNvCxnSpPr>
          <p:nvPr/>
        </p:nvCxnSpPr>
        <p:spPr>
          <a:xfrm flipH="1">
            <a:off x="2663977" y="2089726"/>
            <a:ext cx="5287028" cy="278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FCD235B4-0A3E-1093-FB84-69343F83C208}"/>
              </a:ext>
            </a:extLst>
          </p:cNvPr>
          <p:cNvCxnSpPr>
            <a:cxnSpLocks/>
          </p:cNvCxnSpPr>
          <p:nvPr/>
        </p:nvCxnSpPr>
        <p:spPr>
          <a:xfrm flipH="1">
            <a:off x="2561456" y="2071802"/>
            <a:ext cx="800810" cy="280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6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15</a:t>
            </a:fld>
            <a:endParaRPr lang="en-US" dirty="0"/>
          </a:p>
        </p:txBody>
      </p:sp>
      <p:sp>
        <p:nvSpPr>
          <p:cNvPr id="4" name="Textplatzhalter 3"/>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Kleine und mittlerer Unternehmen (KMU) unterscheiden sich von großen (ggf. börsennotierten) Unternehmen</a:t>
            </a:r>
          </a:p>
        </p:txBody>
      </p:sp>
      <p:sp>
        <p:nvSpPr>
          <p:cNvPr id="7" name="Rechteck 6">
            <a:extLst>
              <a:ext uri="{FF2B5EF4-FFF2-40B4-BE49-F238E27FC236}">
                <a16:creationId xmlns:a16="http://schemas.microsoft.com/office/drawing/2014/main" id="{02128B67-C142-3DAE-4B2A-8AB86F93D437}"/>
              </a:ext>
            </a:extLst>
          </p:cNvPr>
          <p:cNvSpPr/>
          <p:nvPr/>
        </p:nvSpPr>
        <p:spPr>
          <a:xfrm>
            <a:off x="6635656" y="2872608"/>
            <a:ext cx="2892792" cy="1794598"/>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88900" indent="-88900">
              <a:spcBef>
                <a:spcPts val="300"/>
              </a:spcBef>
              <a:buFont typeface="Wingdings" panose="05000000000000000000" pitchFamily="2" charset="2"/>
              <a:buChar char="§"/>
            </a:pPr>
            <a:r>
              <a:rPr lang="de-DE" sz="1100" dirty="0">
                <a:solidFill>
                  <a:schemeClr val="tx1"/>
                </a:solidFill>
              </a:rPr>
              <a:t>Eigentümer mit </a:t>
            </a:r>
            <a:r>
              <a:rPr lang="de-DE" sz="1100" b="1" dirty="0">
                <a:solidFill>
                  <a:schemeClr val="tx1"/>
                </a:solidFill>
              </a:rPr>
              <a:t>geschäftsführender Funktion</a:t>
            </a:r>
          </a:p>
          <a:p>
            <a:pPr marL="88900" indent="-88900">
              <a:spcBef>
                <a:spcPts val="300"/>
              </a:spcBef>
              <a:buFont typeface="Wingdings" panose="05000000000000000000" pitchFamily="2" charset="2"/>
              <a:buChar char="§"/>
            </a:pPr>
            <a:r>
              <a:rPr lang="de-DE" sz="1100" b="1" dirty="0">
                <a:solidFill>
                  <a:schemeClr val="tx1"/>
                </a:solidFill>
              </a:rPr>
              <a:t>Abhängigkeiten Eigentümer </a:t>
            </a:r>
            <a:r>
              <a:rPr lang="de-DE" sz="1100" dirty="0">
                <a:solidFill>
                  <a:schemeClr val="tx1"/>
                </a:solidFill>
              </a:rPr>
              <a:t>(Leistungserbringer, Vertrieb, </a:t>
            </a:r>
            <a:r>
              <a:rPr lang="de-DE" sz="1100" dirty="0" err="1">
                <a:solidFill>
                  <a:schemeClr val="tx1"/>
                </a:solidFill>
              </a:rPr>
              <a:t>Know-How</a:t>
            </a:r>
            <a:r>
              <a:rPr lang="de-DE" sz="1100" dirty="0">
                <a:solidFill>
                  <a:schemeClr val="tx1"/>
                </a:solidFill>
              </a:rPr>
              <a:t>-Träger u. MA-Vertrauter …)</a:t>
            </a:r>
          </a:p>
          <a:p>
            <a:pPr marL="88900" indent="-88900">
              <a:spcBef>
                <a:spcPts val="300"/>
              </a:spcBef>
              <a:buFont typeface="Wingdings" panose="05000000000000000000" pitchFamily="2" charset="2"/>
              <a:buChar char="§"/>
            </a:pPr>
            <a:r>
              <a:rPr lang="de-DE" sz="1100" b="1" dirty="0">
                <a:solidFill>
                  <a:schemeClr val="tx1"/>
                </a:solidFill>
              </a:rPr>
              <a:t>Leistungsbeziehungen</a:t>
            </a:r>
            <a:r>
              <a:rPr lang="de-DE" sz="1100" dirty="0">
                <a:solidFill>
                  <a:schemeClr val="tx1"/>
                </a:solidFill>
              </a:rPr>
              <a:t> Eigner-Unternehmen</a:t>
            </a:r>
          </a:p>
          <a:p>
            <a:pPr marL="88900" indent="-88900">
              <a:spcBef>
                <a:spcPts val="300"/>
              </a:spcBef>
              <a:buFont typeface="Wingdings" panose="05000000000000000000" pitchFamily="2" charset="2"/>
              <a:buChar char="§"/>
            </a:pPr>
            <a:r>
              <a:rPr lang="de-DE" sz="1100" dirty="0">
                <a:solidFill>
                  <a:schemeClr val="tx1"/>
                </a:solidFill>
              </a:rPr>
              <a:t>Überschneidung private-betriebliche Sphären</a:t>
            </a:r>
          </a:p>
          <a:p>
            <a:pPr marL="88900" indent="-88900">
              <a:buFont typeface="Wingdings" panose="05000000000000000000" pitchFamily="2" charset="2"/>
              <a:buChar char="§"/>
            </a:pPr>
            <a:endParaRPr lang="de-DE" sz="1100" dirty="0">
              <a:solidFill>
                <a:schemeClr val="tx1"/>
              </a:solidFill>
            </a:endParaRPr>
          </a:p>
          <a:p>
            <a:pPr marL="88900" indent="-88900">
              <a:buFont typeface="Wingdings" panose="05000000000000000000" pitchFamily="2" charset="2"/>
              <a:buChar char="§"/>
            </a:pPr>
            <a:endParaRPr lang="de-DE" sz="1100" dirty="0">
              <a:solidFill>
                <a:schemeClr val="tx1"/>
              </a:solidFill>
            </a:endParaRPr>
          </a:p>
        </p:txBody>
      </p:sp>
      <p:sp>
        <p:nvSpPr>
          <p:cNvPr id="13" name="Textfeld 12">
            <a:extLst>
              <a:ext uri="{FF2B5EF4-FFF2-40B4-BE49-F238E27FC236}">
                <a16:creationId xmlns:a16="http://schemas.microsoft.com/office/drawing/2014/main" id="{0E9344A4-B658-D49F-A151-6B9AE7CBB458}"/>
              </a:ext>
            </a:extLst>
          </p:cNvPr>
          <p:cNvSpPr txBox="1"/>
          <p:nvPr/>
        </p:nvSpPr>
        <p:spPr>
          <a:xfrm>
            <a:off x="8210570" y="4386122"/>
            <a:ext cx="1242832" cy="276999"/>
          </a:xfrm>
          <a:prstGeom prst="rect">
            <a:avLst/>
          </a:prstGeom>
          <a:noFill/>
          <a:ln w="19050">
            <a:noFill/>
          </a:ln>
        </p:spPr>
        <p:txBody>
          <a:bodyPr wrap="square" rtlCol="0">
            <a:spAutoFit/>
          </a:bodyPr>
          <a:lstStyle/>
          <a:p>
            <a:pPr algn="r"/>
            <a:r>
              <a:rPr lang="de-DE" sz="1200" b="1" dirty="0">
                <a:solidFill>
                  <a:srgbClr val="32434D"/>
                </a:solidFill>
              </a:rPr>
              <a:t>Eigentümer</a:t>
            </a:r>
          </a:p>
        </p:txBody>
      </p:sp>
      <p:sp>
        <p:nvSpPr>
          <p:cNvPr id="18" name="Rechteck: abgerundete Ecken 17">
            <a:extLst>
              <a:ext uri="{FF2B5EF4-FFF2-40B4-BE49-F238E27FC236}">
                <a16:creationId xmlns:a16="http://schemas.microsoft.com/office/drawing/2014/main" id="{FD6BFB04-AD53-9E64-83A1-EC56940A2471}"/>
              </a:ext>
            </a:extLst>
          </p:cNvPr>
          <p:cNvSpPr/>
          <p:nvPr/>
        </p:nvSpPr>
        <p:spPr>
          <a:xfrm>
            <a:off x="4333267" y="3300718"/>
            <a:ext cx="1067340" cy="911941"/>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de-DE" sz="1400" b="1" dirty="0">
                <a:solidFill>
                  <a:schemeClr val="bg1"/>
                </a:solidFill>
              </a:rPr>
              <a:t>Wert des KMU</a:t>
            </a:r>
          </a:p>
        </p:txBody>
      </p:sp>
      <p:sp>
        <p:nvSpPr>
          <p:cNvPr id="23" name="Rechteck 22">
            <a:extLst>
              <a:ext uri="{FF2B5EF4-FFF2-40B4-BE49-F238E27FC236}">
                <a16:creationId xmlns:a16="http://schemas.microsoft.com/office/drawing/2014/main" id="{E6C0295A-5C7B-0329-8B4E-4412DA3D4D07}"/>
              </a:ext>
            </a:extLst>
          </p:cNvPr>
          <p:cNvSpPr/>
          <p:nvPr/>
        </p:nvSpPr>
        <p:spPr>
          <a:xfrm>
            <a:off x="304800" y="2844989"/>
            <a:ext cx="2849228" cy="1794598"/>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88900" indent="-88900">
              <a:spcBef>
                <a:spcPts val="300"/>
              </a:spcBef>
              <a:buFont typeface="Wingdings" panose="05000000000000000000" pitchFamily="2" charset="2"/>
              <a:buChar char="§"/>
            </a:pPr>
            <a:r>
              <a:rPr lang="de-DE" sz="1100" b="1" dirty="0">
                <a:solidFill>
                  <a:schemeClr val="tx1"/>
                </a:solidFill>
              </a:rPr>
              <a:t>Illiquidität</a:t>
            </a:r>
            <a:r>
              <a:rPr lang="de-DE" sz="1100" dirty="0">
                <a:solidFill>
                  <a:schemeClr val="tx1"/>
                </a:solidFill>
              </a:rPr>
              <a:t> des Investments</a:t>
            </a:r>
          </a:p>
          <a:p>
            <a:pPr marL="88900" indent="-88900">
              <a:spcBef>
                <a:spcPts val="300"/>
              </a:spcBef>
              <a:buFont typeface="Wingdings" panose="05000000000000000000" pitchFamily="2" charset="2"/>
              <a:buChar char="§"/>
            </a:pPr>
            <a:r>
              <a:rPr lang="de-DE" sz="1100" dirty="0">
                <a:solidFill>
                  <a:schemeClr val="tx1"/>
                </a:solidFill>
              </a:rPr>
              <a:t>Geringe </a:t>
            </a:r>
            <a:r>
              <a:rPr lang="de-DE" sz="1100" b="1" dirty="0">
                <a:solidFill>
                  <a:schemeClr val="tx1"/>
                </a:solidFill>
              </a:rPr>
              <a:t>Diversifizierung</a:t>
            </a:r>
            <a:r>
              <a:rPr lang="de-DE" sz="1100" dirty="0">
                <a:solidFill>
                  <a:schemeClr val="tx1"/>
                </a:solidFill>
              </a:rPr>
              <a:t> der Anteilseigner</a:t>
            </a:r>
          </a:p>
          <a:p>
            <a:pPr marL="88900" indent="-88900">
              <a:spcBef>
                <a:spcPts val="300"/>
              </a:spcBef>
              <a:buFont typeface="Wingdings" panose="05000000000000000000" pitchFamily="2" charset="2"/>
              <a:buChar char="§"/>
            </a:pPr>
            <a:r>
              <a:rPr lang="de-DE" sz="1100" dirty="0">
                <a:solidFill>
                  <a:schemeClr val="tx1"/>
                </a:solidFill>
              </a:rPr>
              <a:t>Fehlende oder nicht dokumentierte </a:t>
            </a:r>
            <a:r>
              <a:rPr lang="de-DE" sz="1100" b="1" dirty="0">
                <a:solidFill>
                  <a:schemeClr val="tx1"/>
                </a:solidFill>
              </a:rPr>
              <a:t>Unternehmensplanung</a:t>
            </a:r>
          </a:p>
          <a:p>
            <a:pPr marL="88900" indent="-88900">
              <a:spcBef>
                <a:spcPts val="300"/>
              </a:spcBef>
              <a:buFont typeface="Wingdings" panose="05000000000000000000" pitchFamily="2" charset="2"/>
              <a:buChar char="§"/>
            </a:pPr>
            <a:r>
              <a:rPr lang="de-DE" sz="1100" dirty="0">
                <a:solidFill>
                  <a:schemeClr val="tx1"/>
                </a:solidFill>
              </a:rPr>
              <a:t>Eingeschränkte </a:t>
            </a:r>
            <a:r>
              <a:rPr lang="de-DE" sz="1100" b="1" dirty="0">
                <a:solidFill>
                  <a:schemeClr val="tx1"/>
                </a:solidFill>
              </a:rPr>
              <a:t>Informationsquellen</a:t>
            </a:r>
          </a:p>
          <a:p>
            <a:pPr marL="88900" indent="-88900">
              <a:spcBef>
                <a:spcPts val="300"/>
              </a:spcBef>
              <a:buFont typeface="Wingdings" panose="05000000000000000000" pitchFamily="2" charset="2"/>
              <a:buChar char="§"/>
            </a:pPr>
            <a:r>
              <a:rPr lang="de-DE" sz="1100" dirty="0">
                <a:solidFill>
                  <a:schemeClr val="tx1"/>
                </a:solidFill>
              </a:rPr>
              <a:t>Einfaches </a:t>
            </a:r>
            <a:r>
              <a:rPr lang="de-DE" sz="1100" b="1" dirty="0">
                <a:solidFill>
                  <a:schemeClr val="tx1"/>
                </a:solidFill>
              </a:rPr>
              <a:t>Rechnungswesen</a:t>
            </a:r>
            <a:r>
              <a:rPr lang="de-DE" sz="1100" dirty="0">
                <a:solidFill>
                  <a:schemeClr val="tx1"/>
                </a:solidFill>
              </a:rPr>
              <a:t> und interne </a:t>
            </a:r>
            <a:r>
              <a:rPr lang="de-DE" sz="1100" b="1" dirty="0">
                <a:solidFill>
                  <a:schemeClr val="tx1"/>
                </a:solidFill>
              </a:rPr>
              <a:t>Kontrollen</a:t>
            </a:r>
          </a:p>
          <a:p>
            <a:pPr marL="88900" indent="-88900">
              <a:spcBef>
                <a:spcPts val="300"/>
              </a:spcBef>
              <a:buFont typeface="Wingdings" panose="05000000000000000000" pitchFamily="2" charset="2"/>
              <a:buChar char="§"/>
            </a:pPr>
            <a:endParaRPr lang="de-DE" sz="1100" dirty="0">
              <a:solidFill>
                <a:schemeClr val="tx1"/>
              </a:solidFill>
            </a:endParaRPr>
          </a:p>
        </p:txBody>
      </p:sp>
      <p:sp>
        <p:nvSpPr>
          <p:cNvPr id="24" name="Textfeld 23">
            <a:extLst>
              <a:ext uri="{FF2B5EF4-FFF2-40B4-BE49-F238E27FC236}">
                <a16:creationId xmlns:a16="http://schemas.microsoft.com/office/drawing/2014/main" id="{03E4978A-3D63-B87D-0F5B-730743FAE919}"/>
              </a:ext>
            </a:extLst>
          </p:cNvPr>
          <p:cNvSpPr txBox="1"/>
          <p:nvPr/>
        </p:nvSpPr>
        <p:spPr>
          <a:xfrm>
            <a:off x="2186928" y="4349538"/>
            <a:ext cx="1005854" cy="276999"/>
          </a:xfrm>
          <a:prstGeom prst="rect">
            <a:avLst/>
          </a:prstGeom>
          <a:noFill/>
          <a:ln w="19050">
            <a:noFill/>
          </a:ln>
        </p:spPr>
        <p:txBody>
          <a:bodyPr wrap="square" rtlCol="0">
            <a:spAutoFit/>
          </a:bodyPr>
          <a:lstStyle/>
          <a:p>
            <a:pPr algn="r"/>
            <a:r>
              <a:rPr lang="de-DE" sz="1200" b="1" dirty="0">
                <a:solidFill>
                  <a:srgbClr val="32434D"/>
                </a:solidFill>
              </a:rPr>
              <a:t>Allgemein</a:t>
            </a:r>
          </a:p>
        </p:txBody>
      </p:sp>
      <p:grpSp>
        <p:nvGrpSpPr>
          <p:cNvPr id="28" name="Gruppieren 27">
            <a:extLst>
              <a:ext uri="{FF2B5EF4-FFF2-40B4-BE49-F238E27FC236}">
                <a16:creationId xmlns:a16="http://schemas.microsoft.com/office/drawing/2014/main" id="{C82254E7-6E65-772F-0A66-247041106C4E}"/>
              </a:ext>
            </a:extLst>
          </p:cNvPr>
          <p:cNvGrpSpPr/>
          <p:nvPr/>
        </p:nvGrpSpPr>
        <p:grpSpPr>
          <a:xfrm>
            <a:off x="3190549" y="1529169"/>
            <a:ext cx="3418214" cy="1249418"/>
            <a:chOff x="5811332" y="3414879"/>
            <a:chExt cx="2703885" cy="1469617"/>
          </a:xfrm>
        </p:grpSpPr>
        <p:sp>
          <p:nvSpPr>
            <p:cNvPr id="29" name="Rechteck 28">
              <a:extLst>
                <a:ext uri="{FF2B5EF4-FFF2-40B4-BE49-F238E27FC236}">
                  <a16:creationId xmlns:a16="http://schemas.microsoft.com/office/drawing/2014/main" id="{031BA52F-D96D-99BB-F769-5D8049983B11}"/>
                </a:ext>
              </a:extLst>
            </p:cNvPr>
            <p:cNvSpPr/>
            <p:nvPr/>
          </p:nvSpPr>
          <p:spPr>
            <a:xfrm>
              <a:off x="5811332" y="3414879"/>
              <a:ext cx="2703885" cy="1469617"/>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88900" indent="-88900">
                <a:spcBef>
                  <a:spcPts val="300"/>
                </a:spcBef>
                <a:buClr>
                  <a:srgbClr val="002060"/>
                </a:buClr>
                <a:buFont typeface="Wingdings" panose="05000000000000000000" pitchFamily="2" charset="2"/>
                <a:buChar char="§"/>
              </a:pPr>
              <a:r>
                <a:rPr lang="de-DE" sz="1100" dirty="0">
                  <a:solidFill>
                    <a:schemeClr val="tx1"/>
                  </a:solidFill>
                </a:rPr>
                <a:t>Starke </a:t>
              </a:r>
              <a:r>
                <a:rPr lang="de-DE" sz="1100" b="1" dirty="0">
                  <a:solidFill>
                    <a:schemeClr val="tx1"/>
                  </a:solidFill>
                </a:rPr>
                <a:t>Abhängigkeit</a:t>
              </a:r>
              <a:r>
                <a:rPr lang="de-DE" sz="1100" dirty="0">
                  <a:solidFill>
                    <a:schemeClr val="tx1"/>
                  </a:solidFill>
                </a:rPr>
                <a:t> von wenigen Kunden, Produkten u. Dienstleistungen oder Lieferanten</a:t>
              </a:r>
            </a:p>
            <a:p>
              <a:pPr marL="88900" indent="-88900">
                <a:spcBef>
                  <a:spcPts val="300"/>
                </a:spcBef>
                <a:buClr>
                  <a:srgbClr val="002060"/>
                </a:buClr>
                <a:buFont typeface="Wingdings" panose="05000000000000000000" pitchFamily="2" charset="2"/>
                <a:buChar char="§"/>
              </a:pPr>
              <a:r>
                <a:rPr lang="de-DE" sz="1100" dirty="0">
                  <a:solidFill>
                    <a:schemeClr val="tx1"/>
                  </a:solidFill>
                </a:rPr>
                <a:t>Wenig diversifiziertes </a:t>
              </a:r>
              <a:r>
                <a:rPr lang="de-DE" sz="1100" b="1" dirty="0">
                  <a:solidFill>
                    <a:schemeClr val="tx1"/>
                  </a:solidFill>
                </a:rPr>
                <a:t>Geschäftsmodell</a:t>
              </a:r>
            </a:p>
            <a:p>
              <a:pPr marL="88900" indent="-88900">
                <a:spcBef>
                  <a:spcPts val="300"/>
                </a:spcBef>
                <a:buFont typeface="Wingdings" panose="05000000000000000000" pitchFamily="2" charset="2"/>
                <a:buChar char="§"/>
              </a:pPr>
              <a:endParaRPr lang="de-DE" sz="1100" dirty="0">
                <a:solidFill>
                  <a:schemeClr val="tx1"/>
                </a:solidFill>
              </a:endParaRPr>
            </a:p>
            <a:p>
              <a:pPr marL="88900" indent="-88900">
                <a:buFont typeface="Wingdings" panose="05000000000000000000" pitchFamily="2" charset="2"/>
                <a:buChar char="§"/>
              </a:pPr>
              <a:endParaRPr lang="de-DE" sz="1100" dirty="0">
                <a:solidFill>
                  <a:schemeClr val="tx1"/>
                </a:solidFill>
              </a:endParaRPr>
            </a:p>
            <a:p>
              <a:pPr marL="88900" indent="-88900">
                <a:buFont typeface="Wingdings" panose="05000000000000000000" pitchFamily="2" charset="2"/>
                <a:buChar char="§"/>
              </a:pPr>
              <a:endParaRPr lang="de-DE" sz="1100" dirty="0">
                <a:solidFill>
                  <a:schemeClr val="tx1"/>
                </a:solidFill>
              </a:endParaRPr>
            </a:p>
          </p:txBody>
        </p:sp>
        <p:sp>
          <p:nvSpPr>
            <p:cNvPr id="32" name="Textfeld 31">
              <a:extLst>
                <a:ext uri="{FF2B5EF4-FFF2-40B4-BE49-F238E27FC236}">
                  <a16:creationId xmlns:a16="http://schemas.microsoft.com/office/drawing/2014/main" id="{FD213AF9-476F-582F-D26E-78A09BCA06F1}"/>
                </a:ext>
              </a:extLst>
            </p:cNvPr>
            <p:cNvSpPr txBox="1"/>
            <p:nvPr/>
          </p:nvSpPr>
          <p:spPr>
            <a:xfrm>
              <a:off x="7439242" y="4500262"/>
              <a:ext cx="1066795" cy="325818"/>
            </a:xfrm>
            <a:prstGeom prst="rect">
              <a:avLst/>
            </a:prstGeom>
            <a:noFill/>
            <a:ln w="19050">
              <a:noFill/>
            </a:ln>
          </p:spPr>
          <p:txBody>
            <a:bodyPr wrap="square" rtlCol="0">
              <a:spAutoFit/>
            </a:bodyPr>
            <a:lstStyle/>
            <a:p>
              <a:pPr algn="r"/>
              <a:r>
                <a:rPr lang="de-DE" sz="1200" b="1" dirty="0">
                  <a:solidFill>
                    <a:srgbClr val="32434D"/>
                  </a:solidFill>
                </a:rPr>
                <a:t>Geschäftsmodell</a:t>
              </a:r>
            </a:p>
          </p:txBody>
        </p:sp>
      </p:grpSp>
      <p:sp>
        <p:nvSpPr>
          <p:cNvPr id="33" name="Gleichschenkliges Dreieck 32">
            <a:extLst>
              <a:ext uri="{FF2B5EF4-FFF2-40B4-BE49-F238E27FC236}">
                <a16:creationId xmlns:a16="http://schemas.microsoft.com/office/drawing/2014/main" id="{D8454B7E-A3D1-A69B-358D-D6FBF16D68A7}"/>
              </a:ext>
            </a:extLst>
          </p:cNvPr>
          <p:cNvSpPr/>
          <p:nvPr/>
        </p:nvSpPr>
        <p:spPr>
          <a:xfrm rot="5400000">
            <a:off x="2736676" y="3562955"/>
            <a:ext cx="1623937" cy="336848"/>
          </a:xfrm>
          <a:prstGeom prst="triangle">
            <a:avLst>
              <a:gd name="adj" fmla="val 51572"/>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35" name="Rechteck 34">
            <a:extLst>
              <a:ext uri="{FF2B5EF4-FFF2-40B4-BE49-F238E27FC236}">
                <a16:creationId xmlns:a16="http://schemas.microsoft.com/office/drawing/2014/main" id="{44781E4D-019D-4094-0B30-5A25A0347530}"/>
              </a:ext>
            </a:extLst>
          </p:cNvPr>
          <p:cNvSpPr/>
          <p:nvPr/>
        </p:nvSpPr>
        <p:spPr>
          <a:xfrm>
            <a:off x="3198852" y="4713828"/>
            <a:ext cx="3418214" cy="1259999"/>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88900" indent="-88900">
              <a:spcBef>
                <a:spcPts val="300"/>
              </a:spcBef>
              <a:buFont typeface="Wingdings" panose="05000000000000000000" pitchFamily="2" charset="2"/>
              <a:buChar char="§"/>
            </a:pPr>
            <a:r>
              <a:rPr lang="de-DE" sz="1100" dirty="0">
                <a:solidFill>
                  <a:schemeClr val="tx1"/>
                </a:solidFill>
              </a:rPr>
              <a:t>Kein </a:t>
            </a:r>
            <a:r>
              <a:rPr lang="de-DE" sz="1100" b="1" dirty="0">
                <a:solidFill>
                  <a:schemeClr val="tx1"/>
                </a:solidFill>
              </a:rPr>
              <a:t>Kapitalmarktzugang</a:t>
            </a:r>
          </a:p>
          <a:p>
            <a:pPr marL="88900" indent="-88900">
              <a:spcBef>
                <a:spcPts val="300"/>
              </a:spcBef>
              <a:buFont typeface="Wingdings" panose="05000000000000000000" pitchFamily="2" charset="2"/>
              <a:buChar char="§"/>
            </a:pPr>
            <a:r>
              <a:rPr lang="de-DE" sz="1100" dirty="0">
                <a:solidFill>
                  <a:schemeClr val="tx1"/>
                </a:solidFill>
              </a:rPr>
              <a:t>Eingeschränkte </a:t>
            </a:r>
            <a:r>
              <a:rPr lang="de-DE" sz="1100" b="1" dirty="0">
                <a:solidFill>
                  <a:schemeClr val="tx1"/>
                </a:solidFill>
              </a:rPr>
              <a:t>Finanzierungsmöglichkeiten</a:t>
            </a:r>
          </a:p>
          <a:p>
            <a:pPr marL="88900" indent="-88900">
              <a:spcBef>
                <a:spcPts val="300"/>
              </a:spcBef>
              <a:buFont typeface="Wingdings" panose="05000000000000000000" pitchFamily="2" charset="2"/>
              <a:buChar char="§"/>
            </a:pPr>
            <a:r>
              <a:rPr lang="de-DE" sz="1100" dirty="0">
                <a:solidFill>
                  <a:schemeClr val="tx1"/>
                </a:solidFill>
              </a:rPr>
              <a:t>Oftmals ungenügende </a:t>
            </a:r>
            <a:r>
              <a:rPr lang="de-DE" sz="1100" b="1" dirty="0">
                <a:solidFill>
                  <a:schemeClr val="tx1"/>
                </a:solidFill>
              </a:rPr>
              <a:t>Eigenkapitalausstattung</a:t>
            </a:r>
          </a:p>
          <a:p>
            <a:pPr marL="88900" indent="-88900">
              <a:spcBef>
                <a:spcPts val="300"/>
              </a:spcBef>
              <a:buFont typeface="Wingdings" panose="05000000000000000000" pitchFamily="2" charset="2"/>
              <a:buChar char="§"/>
            </a:pPr>
            <a:r>
              <a:rPr lang="de-DE" sz="1100" dirty="0">
                <a:solidFill>
                  <a:schemeClr val="tx1"/>
                </a:solidFill>
              </a:rPr>
              <a:t>Fehlende </a:t>
            </a:r>
            <a:r>
              <a:rPr lang="de-DE" sz="1100" b="1" dirty="0">
                <a:solidFill>
                  <a:schemeClr val="tx1"/>
                </a:solidFill>
              </a:rPr>
              <a:t>Diversifikation</a:t>
            </a:r>
            <a:r>
              <a:rPr lang="de-DE" sz="1100" dirty="0">
                <a:solidFill>
                  <a:schemeClr val="tx1"/>
                </a:solidFill>
              </a:rPr>
              <a:t> der Finanzierung</a:t>
            </a:r>
          </a:p>
          <a:p>
            <a:pPr marL="88900" indent="-88900">
              <a:buFont typeface="Wingdings" panose="05000000000000000000" pitchFamily="2" charset="2"/>
              <a:buChar char="§"/>
            </a:pPr>
            <a:endParaRPr lang="de-DE" sz="1100" dirty="0">
              <a:solidFill>
                <a:schemeClr val="tx1"/>
              </a:solidFill>
            </a:endParaRPr>
          </a:p>
          <a:p>
            <a:pPr marL="88900" indent="-88900">
              <a:buFont typeface="Wingdings" panose="05000000000000000000" pitchFamily="2" charset="2"/>
              <a:buChar char="§"/>
            </a:pPr>
            <a:endParaRPr lang="de-DE" sz="1100" dirty="0">
              <a:solidFill>
                <a:schemeClr val="tx1"/>
              </a:solidFill>
            </a:endParaRPr>
          </a:p>
          <a:p>
            <a:pPr marL="88900" indent="-88900">
              <a:buFont typeface="Wingdings" panose="05000000000000000000" pitchFamily="2" charset="2"/>
              <a:buChar char="§"/>
            </a:pPr>
            <a:endParaRPr lang="de-DE" sz="1100" dirty="0">
              <a:solidFill>
                <a:schemeClr val="tx1"/>
              </a:solidFill>
            </a:endParaRPr>
          </a:p>
        </p:txBody>
      </p:sp>
      <p:sp>
        <p:nvSpPr>
          <p:cNvPr id="36" name="Textfeld 35">
            <a:extLst>
              <a:ext uri="{FF2B5EF4-FFF2-40B4-BE49-F238E27FC236}">
                <a16:creationId xmlns:a16="http://schemas.microsoft.com/office/drawing/2014/main" id="{FD0ED535-8017-6E5A-B643-EA1B201D518E}"/>
              </a:ext>
            </a:extLst>
          </p:cNvPr>
          <p:cNvSpPr txBox="1"/>
          <p:nvPr/>
        </p:nvSpPr>
        <p:spPr>
          <a:xfrm>
            <a:off x="5256833" y="5716132"/>
            <a:ext cx="1348627" cy="276999"/>
          </a:xfrm>
          <a:prstGeom prst="rect">
            <a:avLst/>
          </a:prstGeom>
          <a:noFill/>
          <a:ln w="19050">
            <a:noFill/>
          </a:ln>
        </p:spPr>
        <p:txBody>
          <a:bodyPr wrap="square" rtlCol="0">
            <a:spAutoFit/>
          </a:bodyPr>
          <a:lstStyle/>
          <a:p>
            <a:pPr algn="r"/>
            <a:r>
              <a:rPr lang="de-DE" sz="1200" b="1" dirty="0">
                <a:solidFill>
                  <a:srgbClr val="32434D"/>
                </a:solidFill>
              </a:rPr>
              <a:t>Finanzierung</a:t>
            </a:r>
          </a:p>
        </p:txBody>
      </p:sp>
      <p:sp>
        <p:nvSpPr>
          <p:cNvPr id="37" name="Gleichschenkliges Dreieck 36">
            <a:extLst>
              <a:ext uri="{FF2B5EF4-FFF2-40B4-BE49-F238E27FC236}">
                <a16:creationId xmlns:a16="http://schemas.microsoft.com/office/drawing/2014/main" id="{90737EB3-30D0-F83A-27DE-36088E3BE84D}"/>
              </a:ext>
            </a:extLst>
          </p:cNvPr>
          <p:cNvSpPr/>
          <p:nvPr/>
        </p:nvSpPr>
        <p:spPr>
          <a:xfrm rot="10800000">
            <a:off x="3657600" y="2849401"/>
            <a:ext cx="2406244" cy="272921"/>
          </a:xfrm>
          <a:prstGeom prst="triangle">
            <a:avLst>
              <a:gd name="adj" fmla="val 51572"/>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38" name="Gleichschenkliges Dreieck 37">
            <a:extLst>
              <a:ext uri="{FF2B5EF4-FFF2-40B4-BE49-F238E27FC236}">
                <a16:creationId xmlns:a16="http://schemas.microsoft.com/office/drawing/2014/main" id="{22312D77-7C3E-1881-D498-56FC5150F8D5}"/>
              </a:ext>
            </a:extLst>
          </p:cNvPr>
          <p:cNvSpPr/>
          <p:nvPr/>
        </p:nvSpPr>
        <p:spPr>
          <a:xfrm rot="16200000">
            <a:off x="5398721" y="3562951"/>
            <a:ext cx="1623938" cy="336848"/>
          </a:xfrm>
          <a:prstGeom prst="triangle">
            <a:avLst>
              <a:gd name="adj" fmla="val 51572"/>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39" name="Gleichschenkliges Dreieck 38">
            <a:extLst>
              <a:ext uri="{FF2B5EF4-FFF2-40B4-BE49-F238E27FC236}">
                <a16:creationId xmlns:a16="http://schemas.microsoft.com/office/drawing/2014/main" id="{CFDC6EBE-323D-E54F-28B5-B3CA125E1A97}"/>
              </a:ext>
            </a:extLst>
          </p:cNvPr>
          <p:cNvSpPr/>
          <p:nvPr/>
        </p:nvSpPr>
        <p:spPr>
          <a:xfrm>
            <a:off x="3663028" y="4366666"/>
            <a:ext cx="2400816" cy="272921"/>
          </a:xfrm>
          <a:prstGeom prst="triangle">
            <a:avLst>
              <a:gd name="adj" fmla="val 51572"/>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Tree>
    <p:extLst>
      <p:ext uri="{BB962C8B-B14F-4D97-AF65-F5344CB8AC3E}">
        <p14:creationId xmlns:p14="http://schemas.microsoft.com/office/powerpoint/2010/main" val="1745860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16</a:t>
            </a:fld>
            <a:endParaRPr lang="en-US" dirty="0"/>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solidFill>
                  <a:srgbClr val="32434D"/>
                </a:solidFill>
              </a:rPr>
              <a:t>Besondere Bedeutung - Übertragbare Ertragskraft</a:t>
            </a:r>
          </a:p>
        </p:txBody>
      </p:sp>
      <p:sp>
        <p:nvSpPr>
          <p:cNvPr id="3" name="Textplatzhalter 2">
            <a:extLst>
              <a:ext uri="{FF2B5EF4-FFF2-40B4-BE49-F238E27FC236}">
                <a16:creationId xmlns:a16="http://schemas.microsoft.com/office/drawing/2014/main" id="{603C8DC9-8F9A-0CE6-37B6-68183E9D45B0}"/>
              </a:ext>
            </a:extLst>
          </p:cNvPr>
          <p:cNvSpPr txBox="1">
            <a:spLocks/>
          </p:cNvSpPr>
          <p:nvPr/>
        </p:nvSpPr>
        <p:spPr>
          <a:xfrm>
            <a:off x="249386" y="1773238"/>
            <a:ext cx="9204177" cy="4583114"/>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Bei großen börsennotierten Unternehmen kann man in der Regel durch die Trennung von Eigentum und Management der Gesellschaften davon ausgehen, dass die Ertragskraft auf neue Eigentümer voll übertragbar ist</a:t>
            </a:r>
          </a:p>
          <a:p>
            <a:pPr marL="171450" indent="-171450" algn="just">
              <a:spcBef>
                <a:spcPts val="600"/>
              </a:spcBef>
              <a:buClr>
                <a:srgbClr val="002060"/>
              </a:buClr>
              <a:buFont typeface="Arial" panose="020B0604020202020204" pitchFamily="34" charset="0"/>
              <a:buChar char="•"/>
            </a:pPr>
            <a:r>
              <a:rPr lang="de-DE" sz="1100" dirty="0"/>
              <a:t>Bei personenbezogenen Unternehmen ist der Einfluss der Eigentümer / Schlüsselpersonen auf die Ertragskraft der Gesellschaft zu analysieren und diese Einflüsse sind ggf. anlassbezogen (z.B. bei einem Verkauf oder sonstigem Ausscheiden des Eigentümers) zu eliminieren</a:t>
            </a:r>
          </a:p>
          <a:p>
            <a:pPr marL="171450" indent="-171450" algn="just">
              <a:spcBef>
                <a:spcPts val="600"/>
              </a:spcBef>
              <a:buClr>
                <a:srgbClr val="002060"/>
              </a:buClr>
              <a:buFont typeface="Arial" panose="020B0604020202020204" pitchFamily="34" charset="0"/>
              <a:buChar char="•"/>
            </a:pPr>
            <a:r>
              <a:rPr lang="de-DE" sz="1100" dirty="0"/>
              <a:t>Es ist zu analysieren, wie inhaberabhängig das Unternehmen ist und anlassbezogen sind Annahmen zum </a:t>
            </a:r>
            <a:r>
              <a:rPr lang="de-DE" sz="1100" b="1" dirty="0"/>
              <a:t>Verbleib der Eigentümer</a:t>
            </a:r>
            <a:r>
              <a:rPr lang="de-DE" sz="1100" dirty="0"/>
              <a:t> zu treffen </a:t>
            </a:r>
          </a:p>
          <a:p>
            <a:pPr marL="171450" indent="-171450" algn="just">
              <a:spcBef>
                <a:spcPts val="600"/>
              </a:spcBef>
              <a:buClr>
                <a:srgbClr val="002060"/>
              </a:buClr>
              <a:buFont typeface="Arial" panose="020B0604020202020204" pitchFamily="34" charset="0"/>
              <a:buChar char="•"/>
            </a:pPr>
            <a:r>
              <a:rPr lang="de-DE" sz="1100" dirty="0"/>
              <a:t>Nicht jedes inhaber</a:t>
            </a:r>
            <a:r>
              <a:rPr lang="de-DE" sz="1100" b="1" dirty="0"/>
              <a:t>geführte</a:t>
            </a:r>
            <a:r>
              <a:rPr lang="de-DE" sz="1100" dirty="0"/>
              <a:t> Unternehmen ist auch inhaber</a:t>
            </a:r>
            <a:r>
              <a:rPr lang="de-DE" sz="1100" b="1" dirty="0"/>
              <a:t>abhängig</a:t>
            </a:r>
            <a:r>
              <a:rPr lang="de-DE" sz="1100" dirty="0"/>
              <a:t>. Beispielsweise führt ein Arzt oder Physiotherapeut sehr persönliche Dienstleistungen durch, aufgrund derer sich Kunden für dessen inhabergeführte Praxis entscheiden. Bei einem inhabergeführten Self-Storage-Unternehmen hängt die Kundenbeziehung eher von den Gegebenheiten des Unternehmens ab (Lage / Erreichbarkeit, Sicherheit der Räumlichkeiten etc.)</a:t>
            </a:r>
          </a:p>
          <a:p>
            <a:pPr marL="171450" indent="-171450" algn="just">
              <a:spcBef>
                <a:spcPts val="600"/>
              </a:spcBef>
              <a:buClr>
                <a:srgbClr val="002060"/>
              </a:buClr>
              <a:buFont typeface="Arial" panose="020B0604020202020204" pitchFamily="34" charset="0"/>
              <a:buChar char="•"/>
            </a:pPr>
            <a:r>
              <a:rPr lang="de-DE" sz="1100" dirty="0"/>
              <a:t>Man spricht in diesem Zusammenhang auch von </a:t>
            </a:r>
            <a:r>
              <a:rPr lang="de-DE" sz="1100" b="1" dirty="0"/>
              <a:t>persönlichem</a:t>
            </a:r>
            <a:r>
              <a:rPr lang="de-DE" sz="1100" dirty="0"/>
              <a:t> und </a:t>
            </a:r>
            <a:r>
              <a:rPr lang="de-DE" sz="1100" b="1" dirty="0"/>
              <a:t>betrieblichem Goodwill </a:t>
            </a:r>
            <a:r>
              <a:rPr lang="de-DE" sz="1100" dirty="0"/>
              <a:t>und meint damit, dass relevante Erfolgsfaktoren des Unternehmens eher von der Person (persönlicher Goodwill) oder an den Unternehmensmerkmalen (betrieblicher Goodwill) anknüpfen</a:t>
            </a:r>
          </a:p>
          <a:p>
            <a:pPr marL="171450" indent="-171450" algn="just">
              <a:spcBef>
                <a:spcPts val="600"/>
              </a:spcBef>
              <a:buClr>
                <a:srgbClr val="002060"/>
              </a:buClr>
              <a:buFont typeface="Arial" panose="020B0604020202020204" pitchFamily="34" charset="0"/>
              <a:buChar char="•"/>
            </a:pPr>
            <a:r>
              <a:rPr lang="de-DE" sz="1100" dirty="0"/>
              <a:t>Oft hängt die Ertragskraft von personenbezogenen Unternehmen von einzelnen abnutzbaren immateriellen Vermögenswerten ab, die maßgeblich durch die Eigentümer beeinfluss sind (personenbezogener Goodwill). Es ist im Rahmen der Analyse auch zu prüfen, inwieweit ein marktüblich entlohnter Geschäftsführer einen Beitrag zur Erhaltung der Ertragskraft leisten kann</a:t>
            </a:r>
          </a:p>
          <a:p>
            <a:pPr marL="171450" indent="-171450" algn="just">
              <a:spcBef>
                <a:spcPts val="600"/>
              </a:spcBef>
              <a:buClr>
                <a:srgbClr val="002060"/>
              </a:buClr>
              <a:buFont typeface="Arial" panose="020B0604020202020204" pitchFamily="34" charset="0"/>
              <a:buChar char="•"/>
            </a:pPr>
            <a:r>
              <a:rPr lang="de-DE" sz="1100" dirty="0"/>
              <a:t>Die Ertragskraft kann in diesem Zusammenhang oft in </a:t>
            </a:r>
            <a:r>
              <a:rPr lang="de-DE" sz="1100" b="1" dirty="0"/>
              <a:t>übertragbare</a:t>
            </a:r>
            <a:r>
              <a:rPr lang="de-DE" sz="1100" dirty="0"/>
              <a:t> (betrieblicher Goodwill) und </a:t>
            </a:r>
            <a:r>
              <a:rPr lang="de-DE" sz="1100" b="1" dirty="0"/>
              <a:t>nicht übertragbare </a:t>
            </a:r>
            <a:r>
              <a:rPr lang="de-DE" sz="1100" dirty="0"/>
              <a:t>Anteile (persönlicher Goodwill) aufgeteilt werden. Wesentlich für die Aufteilung und die Bereinigung personenbezogener Erfolgsfaktoren ist die Einteilung in Kapitaleinsatz und persönliche Leistung </a:t>
            </a:r>
          </a:p>
          <a:p>
            <a:pPr marL="171450" indent="-171450" algn="just">
              <a:spcBef>
                <a:spcPts val="600"/>
              </a:spcBef>
              <a:buClr>
                <a:srgbClr val="002060"/>
              </a:buClr>
              <a:buFont typeface="Arial" panose="020B0604020202020204" pitchFamily="34" charset="0"/>
              <a:buChar char="•"/>
            </a:pPr>
            <a:r>
              <a:rPr lang="de-DE" sz="1100" dirty="0"/>
              <a:t>Beispiele für personenbezogenen Goodwill sind:</a:t>
            </a:r>
          </a:p>
          <a:p>
            <a:pPr marL="358775" lvl="2" indent="-179388" algn="just">
              <a:spcBef>
                <a:spcPts val="600"/>
              </a:spcBef>
              <a:buClr>
                <a:srgbClr val="002060"/>
              </a:buClr>
              <a:buFont typeface="Wingdings" panose="05000000000000000000" pitchFamily="2" charset="2"/>
              <a:buChar char="ü"/>
            </a:pPr>
            <a:r>
              <a:rPr lang="de-DE" sz="1100" dirty="0"/>
              <a:t>Besondere Beziehungen zu Kunden, Lieferanten, Mitarbeitern</a:t>
            </a:r>
          </a:p>
          <a:p>
            <a:pPr marL="358775" lvl="2" indent="-179388" algn="just">
              <a:spcBef>
                <a:spcPts val="600"/>
              </a:spcBef>
              <a:buClr>
                <a:srgbClr val="002060"/>
              </a:buClr>
              <a:buFont typeface="Wingdings" panose="05000000000000000000" pitchFamily="2" charset="2"/>
              <a:buChar char="ü"/>
            </a:pPr>
            <a:r>
              <a:rPr lang="de-DE" sz="1100" dirty="0"/>
              <a:t>Sonstige Beziehungen persönlicher oder familiärer Art</a:t>
            </a:r>
          </a:p>
          <a:p>
            <a:pPr marL="358775" lvl="2" indent="-179388" algn="just">
              <a:spcBef>
                <a:spcPts val="600"/>
              </a:spcBef>
              <a:buClr>
                <a:srgbClr val="002060"/>
              </a:buClr>
              <a:buFont typeface="Wingdings" panose="05000000000000000000" pitchFamily="2" charset="2"/>
              <a:buChar char="ü"/>
            </a:pPr>
            <a:r>
              <a:rPr lang="de-DE" sz="1100" dirty="0"/>
              <a:t>Herausragende Eigenschaften / Fähigkeiten des Eigentümers wie Spezialistenwissen, technisches </a:t>
            </a:r>
            <a:r>
              <a:rPr lang="de-DE" sz="1100" dirty="0" err="1"/>
              <a:t>Know-How</a:t>
            </a:r>
            <a:r>
              <a:rPr lang="de-DE" sz="1100" dirty="0"/>
              <a:t>, Kreativität, Vermarktung</a:t>
            </a:r>
          </a:p>
          <a:p>
            <a:pPr marL="358775" lvl="2" indent="-179388" algn="just">
              <a:spcBef>
                <a:spcPts val="600"/>
              </a:spcBef>
              <a:buClr>
                <a:srgbClr val="002060"/>
              </a:buClr>
              <a:buFont typeface="Wingdings" panose="05000000000000000000" pitchFamily="2" charset="2"/>
              <a:buChar char="ü"/>
            </a:pPr>
            <a:r>
              <a:rPr lang="de-DE" sz="1100" dirty="0"/>
              <a:t>Hohe Loyalität der Arbeitnehmer </a:t>
            </a:r>
            <a:r>
              <a:rPr lang="de-DE" sz="1100" dirty="0" err="1"/>
              <a:t>ggü</a:t>
            </a:r>
            <a:r>
              <a:rPr lang="de-DE" sz="1100" dirty="0"/>
              <a:t>. Eigentümer / Schlüsselperson</a:t>
            </a:r>
          </a:p>
          <a:p>
            <a:pPr marL="358775" lvl="2" indent="-179388" algn="just">
              <a:spcBef>
                <a:spcPts val="600"/>
              </a:spcBef>
              <a:buClr>
                <a:srgbClr val="002060"/>
              </a:buClr>
              <a:buFont typeface="Wingdings" panose="05000000000000000000" pitchFamily="2" charset="2"/>
              <a:buChar char="ü"/>
            </a:pPr>
            <a:r>
              <a:rPr lang="de-DE" sz="1100" dirty="0"/>
              <a:t>Finanzielle Leistungsfähigkeit</a:t>
            </a:r>
          </a:p>
          <a:p>
            <a:pPr marL="358775" lvl="2" indent="-179388" algn="just">
              <a:spcBef>
                <a:spcPts val="600"/>
              </a:spcBef>
              <a:buClr>
                <a:srgbClr val="002060"/>
              </a:buClr>
              <a:buFont typeface="Wingdings" panose="05000000000000000000" pitchFamily="2" charset="2"/>
              <a:buChar char="ü"/>
            </a:pPr>
            <a:endParaRPr lang="de-DE" sz="1100" dirty="0"/>
          </a:p>
        </p:txBody>
      </p:sp>
      <p:sp>
        <p:nvSpPr>
          <p:cNvPr id="6" name="Rechteck 6">
            <a:extLst>
              <a:ext uri="{FF2B5EF4-FFF2-40B4-BE49-F238E27FC236}">
                <a16:creationId xmlns:a16="http://schemas.microsoft.com/office/drawing/2014/main" id="{C8AED9BF-C514-39B1-45E6-81ACB0DBD39F}"/>
              </a:ext>
            </a:extLst>
          </p:cNvPr>
          <p:cNvSpPr/>
          <p:nvPr/>
        </p:nvSpPr>
        <p:spPr>
          <a:xfrm>
            <a:off x="287548" y="1398709"/>
            <a:ext cx="4628940"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spTree>
    <p:extLst>
      <p:ext uri="{BB962C8B-B14F-4D97-AF65-F5344CB8AC3E}">
        <p14:creationId xmlns:p14="http://schemas.microsoft.com/office/powerpoint/2010/main" val="2783299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196EC79-0556-4927-B4AD-9E6231F33870}"/>
              </a:ext>
            </a:extLst>
          </p:cNvPr>
          <p:cNvSpPr>
            <a:spLocks noGrp="1"/>
          </p:cNvSpPr>
          <p:nvPr>
            <p:ph type="title"/>
          </p:nvPr>
        </p:nvSpPr>
        <p:spPr>
          <a:xfrm>
            <a:off x="273051" y="2402239"/>
            <a:ext cx="4281408" cy="2187227"/>
          </a:xfrm>
        </p:spPr>
        <p:txBody>
          <a:bodyPr/>
          <a:lstStyle/>
          <a:p>
            <a:r>
              <a:rPr lang="de-DE" dirty="0"/>
              <a:t>Bewertung KMU</a:t>
            </a:r>
          </a:p>
        </p:txBody>
      </p:sp>
      <p:sp>
        <p:nvSpPr>
          <p:cNvPr id="6" name="Textplatzhalter 5">
            <a:extLst>
              <a:ext uri="{FF2B5EF4-FFF2-40B4-BE49-F238E27FC236}">
                <a16:creationId xmlns:a16="http://schemas.microsoft.com/office/drawing/2014/main" id="{294C685A-117E-4BA4-BE59-C79694B8C9A2}"/>
              </a:ext>
            </a:extLst>
          </p:cNvPr>
          <p:cNvSpPr>
            <a:spLocks noGrp="1"/>
          </p:cNvSpPr>
          <p:nvPr>
            <p:ph type="body" idx="1"/>
          </p:nvPr>
        </p:nvSpPr>
        <p:spPr/>
        <p:txBody>
          <a:bodyPr/>
          <a:lstStyle/>
          <a:p>
            <a:r>
              <a:rPr lang="de-DE" dirty="0"/>
              <a:t>Anpassungen der Bewertung</a:t>
            </a:r>
          </a:p>
        </p:txBody>
      </p:sp>
      <p:sp>
        <p:nvSpPr>
          <p:cNvPr id="2" name="Foliennummernplatzhalter 1">
            <a:extLst>
              <a:ext uri="{FF2B5EF4-FFF2-40B4-BE49-F238E27FC236}">
                <a16:creationId xmlns:a16="http://schemas.microsoft.com/office/drawing/2014/main" id="{EA4072A6-17C6-4975-923E-30BE6D1FBF5D}"/>
              </a:ext>
            </a:extLst>
          </p:cNvPr>
          <p:cNvSpPr>
            <a:spLocks noGrp="1"/>
          </p:cNvSpPr>
          <p:nvPr>
            <p:ph type="sldNum" sz="quarter" idx="12"/>
          </p:nvPr>
        </p:nvSpPr>
        <p:spPr/>
        <p:txBody>
          <a:bodyPr/>
          <a:lstStyle/>
          <a:p>
            <a:fld id="{06BE810C-D1BD-4E2B-9D7B-C86294C40709}" type="slidenum">
              <a:rPr lang="en-US" smtClean="0"/>
              <a:t>17</a:t>
            </a:fld>
            <a:endParaRPr lang="en-US" dirty="0"/>
          </a:p>
        </p:txBody>
      </p:sp>
    </p:spTree>
    <p:extLst>
      <p:ext uri="{BB962C8B-B14F-4D97-AF65-F5344CB8AC3E}">
        <p14:creationId xmlns:p14="http://schemas.microsoft.com/office/powerpoint/2010/main" val="3376164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77805-A29E-A074-964E-59BA2AAC90BD}"/>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C795F58-9C50-815C-FC5F-437327056639}"/>
              </a:ext>
            </a:extLst>
          </p:cNvPr>
          <p:cNvSpPr>
            <a:spLocks noGrp="1"/>
          </p:cNvSpPr>
          <p:nvPr>
            <p:ph type="sldNum" sz="quarter" idx="12"/>
          </p:nvPr>
        </p:nvSpPr>
        <p:spPr/>
        <p:txBody>
          <a:bodyPr/>
          <a:lstStyle/>
          <a:p>
            <a:fld id="{06BE810C-D1BD-4E2B-9D7B-C86294C40709}" type="slidenum">
              <a:rPr lang="en-US" smtClean="0"/>
              <a:t>18</a:t>
            </a:fld>
            <a:endParaRPr lang="en-US" dirty="0"/>
          </a:p>
        </p:txBody>
      </p:sp>
      <p:sp>
        <p:nvSpPr>
          <p:cNvPr id="4" name="Textplatzhalter 3">
            <a:extLst>
              <a:ext uri="{FF2B5EF4-FFF2-40B4-BE49-F238E27FC236}">
                <a16:creationId xmlns:a16="http://schemas.microsoft.com/office/drawing/2014/main" id="{1B85FC7A-E19B-1E60-D9C3-2FDEBB221354}"/>
              </a:ext>
            </a:extLst>
          </p:cNvPr>
          <p:cNvSpPr>
            <a:spLocks noGrp="1"/>
          </p:cNvSpPr>
          <p:nvPr>
            <p:ph type="body" sz="quarter" idx="4294967295"/>
          </p:nvPr>
        </p:nvSpPr>
        <p:spPr>
          <a:xfrm>
            <a:off x="288525" y="184376"/>
            <a:ext cx="9165037" cy="896937"/>
          </a:xfrm>
        </p:spPr>
        <p:txBody>
          <a:bodyPr vert="horz" lIns="0" tIns="45720" rIns="91440" bIns="45720" rtlCol="0" anchor="ctr">
            <a:normAutofit/>
          </a:bodyPr>
          <a:lstStyle/>
          <a:p>
            <a:pPr marL="0" indent="0">
              <a:buNone/>
            </a:pPr>
            <a:r>
              <a:rPr lang="de-DE" sz="2100" dirty="0">
                <a:solidFill>
                  <a:srgbClr val="32434D"/>
                </a:solidFill>
              </a:rPr>
              <a:t>Beispiel vereinfachtes Ertragswertverfahren - Betrachtung Vergangenheit </a:t>
            </a:r>
          </a:p>
        </p:txBody>
      </p:sp>
      <p:sp>
        <p:nvSpPr>
          <p:cNvPr id="3" name="Textplatzhalter 2">
            <a:extLst>
              <a:ext uri="{FF2B5EF4-FFF2-40B4-BE49-F238E27FC236}">
                <a16:creationId xmlns:a16="http://schemas.microsoft.com/office/drawing/2014/main" id="{C063FD05-2226-C5A9-2B33-02FCED1A8AC4}"/>
              </a:ext>
            </a:extLst>
          </p:cNvPr>
          <p:cNvSpPr txBox="1">
            <a:spLocks/>
          </p:cNvSpPr>
          <p:nvPr/>
        </p:nvSpPr>
        <p:spPr>
          <a:xfrm>
            <a:off x="3234089" y="1773238"/>
            <a:ext cx="6219476" cy="4583114"/>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Vorteil Einfachheit: Durchschnitt Jahreserträge der vergangenen 3 Jahre (+/ Abzüge / Hinzurechnungen), festgelegter Multiplikator 13,75 (Kehrwert Verzinsung 7,3%) und fertig ist die Laube (Bewertung)</a:t>
            </a:r>
          </a:p>
          <a:p>
            <a:pPr algn="just">
              <a:spcBef>
                <a:spcPts val="600"/>
              </a:spcBef>
              <a:buClr>
                <a:srgbClr val="002060"/>
              </a:buClr>
            </a:pPr>
            <a:r>
              <a:rPr lang="de-DE" sz="1100" b="1" dirty="0"/>
              <a:t>Wieso ist diese Vorgehensweise meist nicht zielführend?</a:t>
            </a:r>
          </a:p>
          <a:p>
            <a:pPr marL="171450" indent="-171450" algn="just">
              <a:spcBef>
                <a:spcPts val="600"/>
              </a:spcBef>
              <a:buClr>
                <a:srgbClr val="002060"/>
              </a:buClr>
              <a:buFont typeface="Arial" panose="020B0604020202020204" pitchFamily="34" charset="0"/>
              <a:buChar char="•"/>
            </a:pPr>
            <a:r>
              <a:rPr lang="de-DE" sz="1100" dirty="0"/>
              <a:t>Nur steuerrechtlich relevantes Verfahren, für alle anderen Fälle nicht anzuwenden, auch wenn dies oft geschieht. Dies ist jedoch lediglich ein verfahrensrechtlicher Grund, viel wichtiger sind die inhaltlichen Gründe</a:t>
            </a:r>
          </a:p>
          <a:p>
            <a:pPr marL="171450" indent="-171450" algn="just">
              <a:spcBef>
                <a:spcPts val="600"/>
              </a:spcBef>
              <a:buClr>
                <a:srgbClr val="002060"/>
              </a:buClr>
              <a:buFont typeface="Arial" panose="020B0604020202020204" pitchFamily="34" charset="0"/>
              <a:buChar char="•"/>
            </a:pPr>
            <a:r>
              <a:rPr lang="de-DE" sz="1100" dirty="0"/>
              <a:t>Bewertung bezieht sich immer auf die Zukunft, auch wenn „als Krücke“ oder aus Bequemlichkeit ausschließlich Vergangenheitsdaten verwendet werden</a:t>
            </a:r>
          </a:p>
          <a:p>
            <a:pPr marL="171450" indent="-171450" algn="just">
              <a:spcBef>
                <a:spcPts val="600"/>
              </a:spcBef>
              <a:buClr>
                <a:srgbClr val="002060"/>
              </a:buClr>
              <a:buFont typeface="Arial" panose="020B0604020202020204" pitchFamily="34" charset="0"/>
              <a:buChar char="•"/>
            </a:pPr>
            <a:r>
              <a:rPr lang="de-DE" sz="1100" dirty="0"/>
              <a:t>Implizite Unterstellung bei dieser Vorgehensweise ist, dass die Zukunft (im Mittel) genauso verläuft wie der festgelegte Vergangenheitszeitraum. Ist dies nicht die realistischste Erwartung, liegt immer eine (mehr oder weniger direkt ersichtliche) Fehlbewertung vor!</a:t>
            </a:r>
          </a:p>
          <a:p>
            <a:pPr marL="171450" indent="-171450" algn="just">
              <a:spcBef>
                <a:spcPts val="600"/>
              </a:spcBef>
              <a:buClr>
                <a:srgbClr val="002060"/>
              </a:buClr>
              <a:buFont typeface="Arial" panose="020B0604020202020204" pitchFamily="34" charset="0"/>
              <a:buChar char="•"/>
            </a:pPr>
            <a:r>
              <a:rPr lang="de-DE" sz="1100" dirty="0"/>
              <a:t>Es wird darüber hinaus eine 100%ige Übertragbarkeit der Erträge unterstellt. Dies ist eine Annahme, die bei KMU oft nicht zutreffend ist</a:t>
            </a:r>
          </a:p>
          <a:p>
            <a:pPr marL="171450" indent="-171450" algn="just">
              <a:spcBef>
                <a:spcPts val="600"/>
              </a:spcBef>
              <a:buClr>
                <a:srgbClr val="002060"/>
              </a:buClr>
              <a:buFont typeface="Arial" panose="020B0604020202020204" pitchFamily="34" charset="0"/>
              <a:buChar char="•"/>
            </a:pPr>
            <a:r>
              <a:rPr lang="de-DE" sz="1100" dirty="0"/>
              <a:t>Das vereinfachte Ertragswertverfahren hat diesbezüglich selbst eine Öffnungsklausel, dass es anwendbar ist, solange es nicht zu offensichtlich falschen Ergebnissen führt. Eine unbesehene Fortschreibung der Vergangenheit führt zu offensichtlich falschen Ergebnissen, wenn die Erfolgsfaktoren der Vergangenheit sich nicht direkt in die Zukunft fortschreiben lassen oder sich die Marktgegebenheiten ändern. Eine solche Fortschreibung der Vergangenheit führt daher bei der Mehrzahl der Bewertungsobjekte eher nicht bzw. nur zufällig zu validen Bewertungsergebnissen  und ist für die Mehrzahl der Bewertungsfälle abzulehnen</a:t>
            </a:r>
          </a:p>
          <a:p>
            <a:pPr marL="171450" indent="-171450" algn="just">
              <a:spcBef>
                <a:spcPts val="600"/>
              </a:spcBef>
              <a:buClr>
                <a:srgbClr val="002060"/>
              </a:buClr>
              <a:buFont typeface="Arial" panose="020B0604020202020204" pitchFamily="34" charset="0"/>
              <a:buChar char="•"/>
            </a:pPr>
            <a:r>
              <a:rPr lang="de-DE" sz="1100" dirty="0"/>
              <a:t> Aufgrund des hohen Multiplikators (niedrigen Verzinsungsfaktors) in Verbindung mit der Annahme der vollständigen Übertragbarkeit der Erträge ist das Bewertungsergebnis  in der Mehrzahl der Fälle überhöht und für die betroffenen KMU nachteilig. Die ersparten Bewertungskosten durch die einfache Bewertung werden daher oft in Form einer überhöhten Steuerlast deutlich überkompensiert</a:t>
            </a:r>
          </a:p>
        </p:txBody>
      </p:sp>
      <p:pic>
        <p:nvPicPr>
          <p:cNvPr id="12" name="Picture 11">
            <a:extLst>
              <a:ext uri="{FF2B5EF4-FFF2-40B4-BE49-F238E27FC236}">
                <a16:creationId xmlns:a16="http://schemas.microsoft.com/office/drawing/2014/main" id="{C30529CA-7682-8042-C58E-6BF05AB0ADD6}"/>
              </a:ext>
            </a:extLst>
          </p:cNvPr>
          <p:cNvPicPr>
            <a:picLocks noChangeAspect="1"/>
          </p:cNvPicPr>
          <p:nvPr/>
        </p:nvPicPr>
        <p:blipFill>
          <a:blip r:embed="rId2"/>
          <a:stretch>
            <a:fillRect/>
          </a:stretch>
        </p:blipFill>
        <p:spPr>
          <a:xfrm>
            <a:off x="548409" y="1443823"/>
            <a:ext cx="2276602" cy="3068812"/>
          </a:xfrm>
          <a:prstGeom prst="rect">
            <a:avLst/>
          </a:prstGeom>
        </p:spPr>
      </p:pic>
      <p:pic>
        <p:nvPicPr>
          <p:cNvPr id="14" name="Picture 13">
            <a:extLst>
              <a:ext uri="{FF2B5EF4-FFF2-40B4-BE49-F238E27FC236}">
                <a16:creationId xmlns:a16="http://schemas.microsoft.com/office/drawing/2014/main" id="{2D2E2403-71D4-5BD8-42BF-D1FB90A468B8}"/>
              </a:ext>
            </a:extLst>
          </p:cNvPr>
          <p:cNvPicPr>
            <a:picLocks noChangeAspect="1"/>
          </p:cNvPicPr>
          <p:nvPr/>
        </p:nvPicPr>
        <p:blipFill>
          <a:blip r:embed="rId3"/>
          <a:stretch>
            <a:fillRect/>
          </a:stretch>
        </p:blipFill>
        <p:spPr>
          <a:xfrm>
            <a:off x="548409" y="4570166"/>
            <a:ext cx="2276602" cy="1500397"/>
          </a:xfrm>
          <a:prstGeom prst="rect">
            <a:avLst/>
          </a:prstGeom>
        </p:spPr>
      </p:pic>
      <p:sp>
        <p:nvSpPr>
          <p:cNvPr id="15" name="Rechteck 6">
            <a:extLst>
              <a:ext uri="{FF2B5EF4-FFF2-40B4-BE49-F238E27FC236}">
                <a16:creationId xmlns:a16="http://schemas.microsoft.com/office/drawing/2014/main" id="{B6D388BA-9243-19E9-FA06-D4FDE8E3576E}"/>
              </a:ext>
            </a:extLst>
          </p:cNvPr>
          <p:cNvSpPr/>
          <p:nvPr/>
        </p:nvSpPr>
        <p:spPr>
          <a:xfrm>
            <a:off x="3234087" y="1398709"/>
            <a:ext cx="621947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spTree>
    <p:extLst>
      <p:ext uri="{BB962C8B-B14F-4D97-AF65-F5344CB8AC3E}">
        <p14:creationId xmlns:p14="http://schemas.microsoft.com/office/powerpoint/2010/main" val="2643375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19</a:t>
            </a:fld>
            <a:endParaRPr lang="en-US" dirty="0"/>
          </a:p>
        </p:txBody>
      </p:sp>
      <p:sp>
        <p:nvSpPr>
          <p:cNvPr id="46" name="Textfeld 45">
            <a:extLst>
              <a:ext uri="{FF2B5EF4-FFF2-40B4-BE49-F238E27FC236}">
                <a16:creationId xmlns:a16="http://schemas.microsoft.com/office/drawing/2014/main" id="{8414DAAB-3728-9BD4-12DB-A3A4AB7FAB78}"/>
              </a:ext>
            </a:extLst>
          </p:cNvPr>
          <p:cNvSpPr txBox="1"/>
          <p:nvPr/>
        </p:nvSpPr>
        <p:spPr>
          <a:xfrm>
            <a:off x="807129" y="5041148"/>
            <a:ext cx="804789" cy="230832"/>
          </a:xfrm>
          <a:prstGeom prst="rect">
            <a:avLst/>
          </a:prstGeom>
          <a:noFill/>
          <a:ln w="19050">
            <a:solidFill>
              <a:srgbClr val="FF0000"/>
            </a:solidFill>
            <a:prstDash val="dash"/>
          </a:ln>
        </p:spPr>
        <p:txBody>
          <a:bodyPr wrap="square" rtlCol="0">
            <a:spAutoFit/>
          </a:bodyPr>
          <a:lstStyle/>
          <a:p>
            <a:r>
              <a:rPr lang="de-DE" sz="900" b="1" dirty="0"/>
              <a:t>€ 10 Mio.</a:t>
            </a:r>
          </a:p>
        </p:txBody>
      </p:sp>
      <p:sp>
        <p:nvSpPr>
          <p:cNvPr id="73" name="Textfeld 72">
            <a:extLst>
              <a:ext uri="{FF2B5EF4-FFF2-40B4-BE49-F238E27FC236}">
                <a16:creationId xmlns:a16="http://schemas.microsoft.com/office/drawing/2014/main" id="{55317658-0473-5B0E-4F12-D195B5DBBFB2}"/>
              </a:ext>
            </a:extLst>
          </p:cNvPr>
          <p:cNvSpPr txBox="1"/>
          <p:nvPr/>
        </p:nvSpPr>
        <p:spPr>
          <a:xfrm>
            <a:off x="641123" y="4795073"/>
            <a:ext cx="2412777" cy="230832"/>
          </a:xfrm>
          <a:prstGeom prst="rect">
            <a:avLst/>
          </a:prstGeom>
          <a:noFill/>
        </p:spPr>
        <p:txBody>
          <a:bodyPr wrap="square" rtlCol="0">
            <a:spAutoFit/>
          </a:bodyPr>
          <a:lstStyle/>
          <a:p>
            <a:r>
              <a:rPr lang="de-DE" sz="900" b="1" dirty="0"/>
              <a:t>Unternehmenswert</a:t>
            </a:r>
          </a:p>
        </p:txBody>
      </p:sp>
      <p:grpSp>
        <p:nvGrpSpPr>
          <p:cNvPr id="3" name="Gruppieren 2">
            <a:extLst>
              <a:ext uri="{FF2B5EF4-FFF2-40B4-BE49-F238E27FC236}">
                <a16:creationId xmlns:a16="http://schemas.microsoft.com/office/drawing/2014/main" id="{6AB40A1B-E833-A9C7-71D8-D89A7EC151E2}"/>
              </a:ext>
            </a:extLst>
          </p:cNvPr>
          <p:cNvGrpSpPr/>
          <p:nvPr/>
        </p:nvGrpSpPr>
        <p:grpSpPr>
          <a:xfrm>
            <a:off x="6131627" y="1893837"/>
            <a:ext cx="360000" cy="360000"/>
            <a:chOff x="3861555" y="2081417"/>
            <a:chExt cx="360000" cy="360000"/>
          </a:xfrm>
        </p:grpSpPr>
        <p:sp>
          <p:nvSpPr>
            <p:cNvPr id="5" name="Ellipse 4">
              <a:extLst>
                <a:ext uri="{FF2B5EF4-FFF2-40B4-BE49-F238E27FC236}">
                  <a16:creationId xmlns:a16="http://schemas.microsoft.com/office/drawing/2014/main" id="{EC3C5C8C-523A-6AC8-F344-58111F032AD8}"/>
                </a:ext>
              </a:extLst>
            </p:cNvPr>
            <p:cNvSpPr/>
            <p:nvPr/>
          </p:nvSpPr>
          <p:spPr>
            <a:xfrm>
              <a:off x="3861555" y="2081417"/>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29" name="Textfeld 28">
              <a:extLst>
                <a:ext uri="{FF2B5EF4-FFF2-40B4-BE49-F238E27FC236}">
                  <a16:creationId xmlns:a16="http://schemas.microsoft.com/office/drawing/2014/main" id="{A74089C3-8B25-7EDB-3424-73514390CF74}"/>
                </a:ext>
              </a:extLst>
            </p:cNvPr>
            <p:cNvSpPr txBox="1"/>
            <p:nvPr/>
          </p:nvSpPr>
          <p:spPr>
            <a:xfrm>
              <a:off x="3895629" y="2120573"/>
              <a:ext cx="286167" cy="276999"/>
            </a:xfrm>
            <a:prstGeom prst="rect">
              <a:avLst/>
            </a:prstGeom>
            <a:noFill/>
            <a:ln>
              <a:noFill/>
            </a:ln>
          </p:spPr>
          <p:txBody>
            <a:bodyPr wrap="square" rtlCol="0">
              <a:spAutoFit/>
            </a:bodyPr>
            <a:lstStyle/>
            <a:p>
              <a:r>
                <a:rPr lang="de-DE" sz="1200" b="1" dirty="0"/>
                <a:t>1</a:t>
              </a:r>
            </a:p>
          </p:txBody>
        </p:sp>
      </p:grpSp>
      <p:sp>
        <p:nvSpPr>
          <p:cNvPr id="30" name="Textfeld 29">
            <a:extLst>
              <a:ext uri="{FF2B5EF4-FFF2-40B4-BE49-F238E27FC236}">
                <a16:creationId xmlns:a16="http://schemas.microsoft.com/office/drawing/2014/main" id="{2B846D93-2295-02C9-B99C-F7B83C91B888}"/>
              </a:ext>
            </a:extLst>
          </p:cNvPr>
          <p:cNvSpPr txBox="1"/>
          <p:nvPr/>
        </p:nvSpPr>
        <p:spPr>
          <a:xfrm>
            <a:off x="6594489" y="1865440"/>
            <a:ext cx="2859074" cy="684803"/>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solidFill>
                  <a:srgbClr val="32434D"/>
                </a:solidFill>
              </a:rPr>
              <a:t>Bereinigungen Vergangenheit </a:t>
            </a:r>
            <a:br>
              <a:rPr lang="de-DE" sz="900" b="1" dirty="0">
                <a:solidFill>
                  <a:srgbClr val="32434D"/>
                </a:solidFill>
              </a:rPr>
            </a:br>
            <a:r>
              <a:rPr lang="de-DE" sz="900" b="1" dirty="0">
                <a:solidFill>
                  <a:srgbClr val="32434D"/>
                </a:solidFill>
              </a:rPr>
              <a:t>(Einmal-, Sondereffekte, Marktgerechtigkeit etc.)</a:t>
            </a:r>
          </a:p>
          <a:p>
            <a:pPr marL="87313" indent="-87313">
              <a:spcBef>
                <a:spcPts val="300"/>
              </a:spcBef>
              <a:buFont typeface="Wingdings" panose="05000000000000000000" pitchFamily="2" charset="2"/>
              <a:buChar char="§"/>
            </a:pPr>
            <a:r>
              <a:rPr lang="de-DE" sz="900" b="1" dirty="0">
                <a:solidFill>
                  <a:srgbClr val="FF0000"/>
                </a:solidFill>
                <a:highlight>
                  <a:srgbClr val="FFFF00"/>
                </a:highlight>
              </a:rPr>
              <a:t>Erreichbarkeit Höhe auch für Dritte (Umsätze, Renditen) / Übertragbarkeit der Zukunftserfolge</a:t>
            </a:r>
          </a:p>
        </p:txBody>
      </p:sp>
      <p:grpSp>
        <p:nvGrpSpPr>
          <p:cNvPr id="33" name="Gruppieren 32">
            <a:extLst>
              <a:ext uri="{FF2B5EF4-FFF2-40B4-BE49-F238E27FC236}">
                <a16:creationId xmlns:a16="http://schemas.microsoft.com/office/drawing/2014/main" id="{E6DE58E2-0835-15C1-CAFE-AA6952364AEB}"/>
              </a:ext>
            </a:extLst>
          </p:cNvPr>
          <p:cNvGrpSpPr/>
          <p:nvPr/>
        </p:nvGrpSpPr>
        <p:grpSpPr>
          <a:xfrm>
            <a:off x="6131627" y="2772302"/>
            <a:ext cx="360000" cy="360000"/>
            <a:chOff x="3861555" y="2649503"/>
            <a:chExt cx="360000" cy="360000"/>
          </a:xfrm>
        </p:grpSpPr>
        <p:sp>
          <p:nvSpPr>
            <p:cNvPr id="35" name="Ellipse 34">
              <a:extLst>
                <a:ext uri="{FF2B5EF4-FFF2-40B4-BE49-F238E27FC236}">
                  <a16:creationId xmlns:a16="http://schemas.microsoft.com/office/drawing/2014/main" id="{0C92EDE8-C78B-196A-2992-B44EB5E084A7}"/>
                </a:ext>
              </a:extLst>
            </p:cNvPr>
            <p:cNvSpPr/>
            <p:nvPr/>
          </p:nvSpPr>
          <p:spPr>
            <a:xfrm>
              <a:off x="3861555" y="2649503"/>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36" name="Textfeld 35">
              <a:extLst>
                <a:ext uri="{FF2B5EF4-FFF2-40B4-BE49-F238E27FC236}">
                  <a16:creationId xmlns:a16="http://schemas.microsoft.com/office/drawing/2014/main" id="{38E20E00-BB87-FE23-F5AC-DEE406090F65}"/>
                </a:ext>
              </a:extLst>
            </p:cNvPr>
            <p:cNvSpPr txBox="1"/>
            <p:nvPr/>
          </p:nvSpPr>
          <p:spPr>
            <a:xfrm>
              <a:off x="3895629" y="2688659"/>
              <a:ext cx="286167" cy="276999"/>
            </a:xfrm>
            <a:prstGeom prst="rect">
              <a:avLst/>
            </a:prstGeom>
            <a:noFill/>
            <a:ln>
              <a:noFill/>
            </a:ln>
          </p:spPr>
          <p:txBody>
            <a:bodyPr wrap="square" rtlCol="0">
              <a:spAutoFit/>
            </a:bodyPr>
            <a:lstStyle/>
            <a:p>
              <a:r>
                <a:rPr lang="de-DE" sz="1200" b="1" dirty="0"/>
                <a:t>2</a:t>
              </a:r>
            </a:p>
          </p:txBody>
        </p:sp>
      </p:grpSp>
      <p:sp>
        <p:nvSpPr>
          <p:cNvPr id="37" name="Textfeld 36">
            <a:extLst>
              <a:ext uri="{FF2B5EF4-FFF2-40B4-BE49-F238E27FC236}">
                <a16:creationId xmlns:a16="http://schemas.microsoft.com/office/drawing/2014/main" id="{70E8767E-BB38-9D6A-4C58-C46ACBB3DEA5}"/>
              </a:ext>
            </a:extLst>
          </p:cNvPr>
          <p:cNvSpPr txBox="1"/>
          <p:nvPr/>
        </p:nvSpPr>
        <p:spPr>
          <a:xfrm>
            <a:off x="6594489" y="2761486"/>
            <a:ext cx="2859074" cy="407804"/>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solidFill>
                  <a:srgbClr val="32434D"/>
                </a:solidFill>
              </a:rPr>
              <a:t>Detailplanung nahe Zukunft</a:t>
            </a:r>
          </a:p>
          <a:p>
            <a:pPr marL="87313" indent="-87313">
              <a:spcBef>
                <a:spcPts val="300"/>
              </a:spcBef>
              <a:buFont typeface="Wingdings" panose="05000000000000000000" pitchFamily="2" charset="2"/>
              <a:buChar char="§"/>
            </a:pPr>
            <a:r>
              <a:rPr lang="de-DE" sz="900" b="1" dirty="0">
                <a:solidFill>
                  <a:srgbClr val="FF0000"/>
                </a:solidFill>
              </a:rPr>
              <a:t>Übertragbarkeit der Erfolgsfaktoren / Ergebnisse</a:t>
            </a:r>
          </a:p>
        </p:txBody>
      </p:sp>
      <p:grpSp>
        <p:nvGrpSpPr>
          <p:cNvPr id="9" name="Group 8">
            <a:extLst>
              <a:ext uri="{FF2B5EF4-FFF2-40B4-BE49-F238E27FC236}">
                <a16:creationId xmlns:a16="http://schemas.microsoft.com/office/drawing/2014/main" id="{E891B142-E38A-15F2-D6FE-203CA7C78CD6}"/>
              </a:ext>
            </a:extLst>
          </p:cNvPr>
          <p:cNvGrpSpPr/>
          <p:nvPr/>
        </p:nvGrpSpPr>
        <p:grpSpPr>
          <a:xfrm>
            <a:off x="6131627" y="3437912"/>
            <a:ext cx="360000" cy="360000"/>
            <a:chOff x="6122045" y="3418662"/>
            <a:chExt cx="360000" cy="360000"/>
          </a:xfrm>
        </p:grpSpPr>
        <p:sp>
          <p:nvSpPr>
            <p:cNvPr id="45" name="Ellipse 44">
              <a:extLst>
                <a:ext uri="{FF2B5EF4-FFF2-40B4-BE49-F238E27FC236}">
                  <a16:creationId xmlns:a16="http://schemas.microsoft.com/office/drawing/2014/main" id="{BB4BB0F2-AC84-019B-DAA8-473DD8403637}"/>
                </a:ext>
              </a:extLst>
            </p:cNvPr>
            <p:cNvSpPr/>
            <p:nvPr/>
          </p:nvSpPr>
          <p:spPr>
            <a:xfrm>
              <a:off x="6122045" y="3418662"/>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47" name="Textfeld 46">
              <a:extLst>
                <a:ext uri="{FF2B5EF4-FFF2-40B4-BE49-F238E27FC236}">
                  <a16:creationId xmlns:a16="http://schemas.microsoft.com/office/drawing/2014/main" id="{4652DB48-1B2A-083C-C34E-7D4B9A51680F}"/>
                </a:ext>
              </a:extLst>
            </p:cNvPr>
            <p:cNvSpPr txBox="1"/>
            <p:nvPr/>
          </p:nvSpPr>
          <p:spPr>
            <a:xfrm>
              <a:off x="6156119" y="3457818"/>
              <a:ext cx="286167" cy="276999"/>
            </a:xfrm>
            <a:prstGeom prst="rect">
              <a:avLst/>
            </a:prstGeom>
            <a:noFill/>
            <a:ln>
              <a:noFill/>
            </a:ln>
          </p:spPr>
          <p:txBody>
            <a:bodyPr wrap="square" rtlCol="0">
              <a:spAutoFit/>
            </a:bodyPr>
            <a:lstStyle/>
            <a:p>
              <a:r>
                <a:rPr lang="de-DE" sz="1200" b="1" dirty="0"/>
                <a:t>3</a:t>
              </a:r>
            </a:p>
          </p:txBody>
        </p:sp>
      </p:grpSp>
      <p:sp>
        <p:nvSpPr>
          <p:cNvPr id="51" name="Textfeld 50">
            <a:extLst>
              <a:ext uri="{FF2B5EF4-FFF2-40B4-BE49-F238E27FC236}">
                <a16:creationId xmlns:a16="http://schemas.microsoft.com/office/drawing/2014/main" id="{131F060B-A273-A698-DD7E-41A4740A7BC8}"/>
              </a:ext>
            </a:extLst>
          </p:cNvPr>
          <p:cNvSpPr txBox="1"/>
          <p:nvPr/>
        </p:nvSpPr>
        <p:spPr>
          <a:xfrm>
            <a:off x="6594489" y="3435336"/>
            <a:ext cx="2859074" cy="1038746"/>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solidFill>
                  <a:srgbClr val="FF0000"/>
                </a:solidFill>
              </a:rPr>
              <a:t>Wachstumsrate fernere Zukunft?</a:t>
            </a:r>
            <a:endParaRPr lang="de-DE" sz="900" b="1" dirty="0"/>
          </a:p>
          <a:p>
            <a:pPr marL="87313" indent="-87313">
              <a:spcBef>
                <a:spcPts val="300"/>
              </a:spcBef>
              <a:buFont typeface="Wingdings" panose="05000000000000000000" pitchFamily="2" charset="2"/>
              <a:buChar char="§"/>
            </a:pPr>
            <a:r>
              <a:rPr lang="de-DE" sz="900" b="1" dirty="0">
                <a:solidFill>
                  <a:srgbClr val="32434D"/>
                </a:solidFill>
              </a:rPr>
              <a:t>Gründe natürlicher endlicher Zeithorizont?</a:t>
            </a:r>
          </a:p>
          <a:p>
            <a:pPr marL="87313" indent="-87313">
              <a:spcBef>
                <a:spcPts val="300"/>
              </a:spcBef>
              <a:buFont typeface="Wingdings" panose="05000000000000000000" pitchFamily="2" charset="2"/>
              <a:buChar char="§"/>
            </a:pPr>
            <a:r>
              <a:rPr lang="de-DE" sz="900" b="1" dirty="0">
                <a:solidFill>
                  <a:srgbClr val="FF0000"/>
                </a:solidFill>
              </a:rPr>
              <a:t>Begrenzung Ergebniszeitraum / Abschmelzen aufgrund sich verbrauchender immaterieller Faktoren (z.B. Kundenbeziehung)</a:t>
            </a:r>
          </a:p>
          <a:p>
            <a:pPr marL="87313" indent="-87313">
              <a:spcBef>
                <a:spcPts val="300"/>
              </a:spcBef>
              <a:buFont typeface="Wingdings" panose="05000000000000000000" pitchFamily="2" charset="2"/>
              <a:buChar char="§"/>
            </a:pPr>
            <a:r>
              <a:rPr lang="de-DE" sz="900" b="1" dirty="0"/>
              <a:t>Insolvenzwahrscheinlichkeit</a:t>
            </a:r>
          </a:p>
        </p:txBody>
      </p:sp>
      <p:grpSp>
        <p:nvGrpSpPr>
          <p:cNvPr id="8" name="Group 7">
            <a:extLst>
              <a:ext uri="{FF2B5EF4-FFF2-40B4-BE49-F238E27FC236}">
                <a16:creationId xmlns:a16="http://schemas.microsoft.com/office/drawing/2014/main" id="{CDC32FAF-2D51-EB76-A6C3-FF3D35FF3696}"/>
              </a:ext>
            </a:extLst>
          </p:cNvPr>
          <p:cNvGrpSpPr/>
          <p:nvPr/>
        </p:nvGrpSpPr>
        <p:grpSpPr>
          <a:xfrm>
            <a:off x="6131627" y="4568537"/>
            <a:ext cx="360000" cy="360000"/>
            <a:chOff x="6112377" y="4501162"/>
            <a:chExt cx="360000" cy="360000"/>
          </a:xfrm>
        </p:grpSpPr>
        <p:sp>
          <p:nvSpPr>
            <p:cNvPr id="59" name="Ellipse 58">
              <a:extLst>
                <a:ext uri="{FF2B5EF4-FFF2-40B4-BE49-F238E27FC236}">
                  <a16:creationId xmlns:a16="http://schemas.microsoft.com/office/drawing/2014/main" id="{F5919662-42C5-8B85-9FEE-56D8208068B5}"/>
                </a:ext>
              </a:extLst>
            </p:cNvPr>
            <p:cNvSpPr/>
            <p:nvPr/>
          </p:nvSpPr>
          <p:spPr>
            <a:xfrm>
              <a:off x="6112377" y="4501162"/>
              <a:ext cx="360000" cy="3600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tx1"/>
                </a:solidFill>
              </a:endParaRPr>
            </a:p>
          </p:txBody>
        </p:sp>
        <p:sp>
          <p:nvSpPr>
            <p:cNvPr id="63" name="Textfeld 62">
              <a:extLst>
                <a:ext uri="{FF2B5EF4-FFF2-40B4-BE49-F238E27FC236}">
                  <a16:creationId xmlns:a16="http://schemas.microsoft.com/office/drawing/2014/main" id="{1C3D3EE7-2CE2-94A4-3D13-42414583DCA8}"/>
                </a:ext>
              </a:extLst>
            </p:cNvPr>
            <p:cNvSpPr txBox="1"/>
            <p:nvPr/>
          </p:nvSpPr>
          <p:spPr>
            <a:xfrm>
              <a:off x="6146451" y="4569194"/>
              <a:ext cx="286167" cy="276999"/>
            </a:xfrm>
            <a:prstGeom prst="rect">
              <a:avLst/>
            </a:prstGeom>
            <a:noFill/>
            <a:ln>
              <a:noFill/>
            </a:ln>
          </p:spPr>
          <p:txBody>
            <a:bodyPr wrap="square" rtlCol="0">
              <a:spAutoFit/>
            </a:bodyPr>
            <a:lstStyle/>
            <a:p>
              <a:r>
                <a:rPr lang="de-DE" sz="1200" b="1" dirty="0"/>
                <a:t>4</a:t>
              </a:r>
            </a:p>
          </p:txBody>
        </p:sp>
      </p:grpSp>
      <p:sp>
        <p:nvSpPr>
          <p:cNvPr id="64" name="Textfeld 63">
            <a:extLst>
              <a:ext uri="{FF2B5EF4-FFF2-40B4-BE49-F238E27FC236}">
                <a16:creationId xmlns:a16="http://schemas.microsoft.com/office/drawing/2014/main" id="{CAABDCCE-8352-839A-2FDF-3D508ECBA76B}"/>
              </a:ext>
            </a:extLst>
          </p:cNvPr>
          <p:cNvSpPr txBox="1"/>
          <p:nvPr/>
        </p:nvSpPr>
        <p:spPr>
          <a:xfrm>
            <a:off x="6584820" y="4560689"/>
            <a:ext cx="2776048" cy="1254189"/>
          </a:xfrm>
          <a:prstGeom prst="rect">
            <a:avLst/>
          </a:prstGeom>
          <a:noFill/>
        </p:spPr>
        <p:txBody>
          <a:bodyPr wrap="square" rtlCol="0">
            <a:spAutoFit/>
          </a:bodyPr>
          <a:lstStyle/>
          <a:p>
            <a:pPr marL="87313" indent="-87313">
              <a:spcBef>
                <a:spcPts val="300"/>
              </a:spcBef>
              <a:buFont typeface="Wingdings" panose="05000000000000000000" pitchFamily="2" charset="2"/>
              <a:buChar char="§"/>
            </a:pPr>
            <a:r>
              <a:rPr lang="de-DE" sz="900" b="1" dirty="0">
                <a:solidFill>
                  <a:srgbClr val="32434D"/>
                </a:solidFill>
              </a:rPr>
              <a:t>Risikoadäquater Zinssatz (gem. CAPM )</a:t>
            </a:r>
          </a:p>
          <a:p>
            <a:pPr marL="87313" lvl="1" indent="-87313">
              <a:spcBef>
                <a:spcPts val="300"/>
              </a:spcBef>
              <a:buFont typeface="Wingdings" panose="05000000000000000000" pitchFamily="2" charset="2"/>
              <a:buChar char="§"/>
            </a:pPr>
            <a:r>
              <a:rPr lang="de-DE" sz="900" b="1" dirty="0">
                <a:solidFill>
                  <a:srgbClr val="FF0000"/>
                </a:solidFill>
              </a:rPr>
              <a:t>Illiquidität?</a:t>
            </a:r>
          </a:p>
          <a:p>
            <a:pPr marL="87313" lvl="1" indent="-87313">
              <a:spcBef>
                <a:spcPts val="300"/>
              </a:spcBef>
              <a:buFont typeface="Wingdings" panose="05000000000000000000" pitchFamily="2" charset="2"/>
              <a:buChar char="§"/>
            </a:pPr>
            <a:r>
              <a:rPr lang="de-DE" sz="900" b="1" dirty="0">
                <a:solidFill>
                  <a:srgbClr val="FF0000"/>
                </a:solidFill>
              </a:rPr>
              <a:t>Fehlende Diversifizierung Anteilseigner?</a:t>
            </a:r>
          </a:p>
          <a:p>
            <a:pPr marL="87313" indent="-87313">
              <a:spcBef>
                <a:spcPts val="300"/>
              </a:spcBef>
              <a:buFont typeface="Wingdings" panose="05000000000000000000" pitchFamily="2" charset="2"/>
              <a:buChar char="§"/>
            </a:pPr>
            <a:r>
              <a:rPr lang="de-DE" sz="900" b="1" dirty="0">
                <a:solidFill>
                  <a:srgbClr val="FF0000"/>
                </a:solidFill>
              </a:rPr>
              <a:t>Objektive Einschränkung der Investitionsmöglichkeiten</a:t>
            </a:r>
          </a:p>
          <a:p>
            <a:pPr marL="87313" indent="-87313">
              <a:spcBef>
                <a:spcPts val="300"/>
              </a:spcBef>
              <a:buFont typeface="Wingdings" panose="05000000000000000000" pitchFamily="2" charset="2"/>
              <a:buChar char="§"/>
            </a:pPr>
            <a:r>
              <a:rPr lang="de-DE" sz="900" b="1" dirty="0">
                <a:solidFill>
                  <a:srgbClr val="FF0000"/>
                </a:solidFill>
                <a:highlight>
                  <a:srgbClr val="00FF00"/>
                </a:highlight>
              </a:rPr>
              <a:t>v.a. relevant für subjektive Bewertungen</a:t>
            </a:r>
          </a:p>
          <a:p>
            <a:pPr marL="87313" indent="-87313">
              <a:spcBef>
                <a:spcPts val="300"/>
              </a:spcBef>
              <a:buFont typeface="Wingdings" panose="05000000000000000000" pitchFamily="2" charset="2"/>
              <a:buChar char="§"/>
            </a:pPr>
            <a:endParaRPr lang="de-DE" sz="900" b="1" dirty="0"/>
          </a:p>
        </p:txBody>
      </p:sp>
      <p:pic>
        <p:nvPicPr>
          <p:cNvPr id="74" name="Grafik 73">
            <a:extLst>
              <a:ext uri="{FF2B5EF4-FFF2-40B4-BE49-F238E27FC236}">
                <a16:creationId xmlns:a16="http://schemas.microsoft.com/office/drawing/2014/main" id="{FD6D68AC-7078-FCCC-E4DD-0AB98CC0D797}"/>
              </a:ext>
            </a:extLst>
          </p:cNvPr>
          <p:cNvPicPr>
            <a:picLocks noChangeAspect="1"/>
          </p:cNvPicPr>
          <p:nvPr/>
        </p:nvPicPr>
        <p:blipFill rotWithShape="1">
          <a:blip r:embed="rId2"/>
          <a:srcRect r="39627"/>
          <a:stretch/>
        </p:blipFill>
        <p:spPr>
          <a:xfrm>
            <a:off x="347529" y="2525146"/>
            <a:ext cx="2069045" cy="1458148"/>
          </a:xfrm>
          <a:prstGeom prst="rect">
            <a:avLst/>
          </a:prstGeom>
        </p:spPr>
      </p:pic>
      <p:sp>
        <p:nvSpPr>
          <p:cNvPr id="76" name="Pfeil: nach rechts 75">
            <a:extLst>
              <a:ext uri="{FF2B5EF4-FFF2-40B4-BE49-F238E27FC236}">
                <a16:creationId xmlns:a16="http://schemas.microsoft.com/office/drawing/2014/main" id="{B4FB81B5-BA0D-0A66-8935-C5B45EC2D8E9}"/>
              </a:ext>
            </a:extLst>
          </p:cNvPr>
          <p:cNvSpPr/>
          <p:nvPr/>
        </p:nvSpPr>
        <p:spPr>
          <a:xfrm rot="5400000">
            <a:off x="1062982" y="2038582"/>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31" name="Textplatzhalter 3">
            <a:extLst>
              <a:ext uri="{FF2B5EF4-FFF2-40B4-BE49-F238E27FC236}">
                <a16:creationId xmlns:a16="http://schemas.microsoft.com/office/drawing/2014/main" id="{17D40E1B-2BE7-FB7B-7882-8B5273313B08}"/>
              </a:ext>
            </a:extLst>
          </p:cNvPr>
          <p:cNvSpPr txBox="1">
            <a:spLocks/>
          </p:cNvSpPr>
          <p:nvPr/>
        </p:nvSpPr>
        <p:spPr>
          <a:xfrm>
            <a:off x="288525" y="184376"/>
            <a:ext cx="9288441" cy="896937"/>
          </a:xfrm>
          <a:prstGeom prst="rect">
            <a:avLst/>
          </a:prstGeom>
        </p:spPr>
        <p:txBody>
          <a:bodyPr vert="horz" lIns="0" tIns="45720" rIns="91440" bIns="45720" rtlCol="0" anchor="ctr">
            <a:normAutofit/>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de-DE" sz="2100" dirty="0"/>
              <a:t>Die Anpassungen wirken sich auf alle weiter oben dargestellten Parameter der Bewertung aus</a:t>
            </a:r>
          </a:p>
        </p:txBody>
      </p:sp>
      <p:sp>
        <p:nvSpPr>
          <p:cNvPr id="50" name="Textfeld 49">
            <a:extLst>
              <a:ext uri="{FF2B5EF4-FFF2-40B4-BE49-F238E27FC236}">
                <a16:creationId xmlns:a16="http://schemas.microsoft.com/office/drawing/2014/main" id="{885F7911-DF1B-5431-6465-179C81CA8A7A}"/>
              </a:ext>
            </a:extLst>
          </p:cNvPr>
          <p:cNvSpPr txBox="1"/>
          <p:nvPr/>
        </p:nvSpPr>
        <p:spPr>
          <a:xfrm>
            <a:off x="328576" y="5744865"/>
            <a:ext cx="9225897" cy="487320"/>
          </a:xfrm>
          <a:prstGeom prst="rect">
            <a:avLst/>
          </a:prstGeom>
          <a:noFill/>
          <a:ln w="12700">
            <a:solidFill>
              <a:srgbClr val="002060"/>
            </a:solidFill>
            <a:prstDash val="dash"/>
          </a:ln>
        </p:spPr>
        <p:txBody>
          <a:bodyPr wrap="square" lIns="72000" tIns="72000" rIns="72000" bIns="72000" rtlCol="0">
            <a:noAutofit/>
          </a:bodyPr>
          <a:lstStyle/>
          <a:p>
            <a:pPr algn="ctr"/>
            <a:r>
              <a:rPr lang="de-DE" sz="1200" dirty="0">
                <a:solidFill>
                  <a:srgbClr val="32434D"/>
                </a:solidFill>
              </a:rPr>
              <a:t>Der Unternehmenswert wird determiniert durch </a:t>
            </a:r>
            <a:r>
              <a:rPr lang="de-DE" sz="1200" b="1" dirty="0">
                <a:solidFill>
                  <a:srgbClr val="32434D"/>
                </a:solidFill>
              </a:rPr>
              <a:t>erwirtschaftete Überschüsse </a:t>
            </a:r>
            <a:r>
              <a:rPr lang="de-DE" sz="1200" dirty="0">
                <a:solidFill>
                  <a:srgbClr val="32434D"/>
                </a:solidFill>
              </a:rPr>
              <a:t>über den </a:t>
            </a:r>
            <a:r>
              <a:rPr lang="de-DE" sz="1200" b="1" dirty="0">
                <a:solidFill>
                  <a:srgbClr val="32434D"/>
                </a:solidFill>
              </a:rPr>
              <a:t>bewertungsrelevanten Zeitraum</a:t>
            </a:r>
            <a:r>
              <a:rPr lang="de-DE" sz="1200" dirty="0">
                <a:solidFill>
                  <a:srgbClr val="32434D"/>
                </a:solidFill>
              </a:rPr>
              <a:t>, nachdem alle beteiligten Parteien </a:t>
            </a:r>
            <a:r>
              <a:rPr lang="de-DE" sz="1200" b="1" dirty="0">
                <a:solidFill>
                  <a:srgbClr val="32434D"/>
                </a:solidFill>
              </a:rPr>
              <a:t>marktgerecht entlohnt </a:t>
            </a:r>
            <a:r>
              <a:rPr lang="de-DE" sz="1200" dirty="0">
                <a:solidFill>
                  <a:srgbClr val="32434D"/>
                </a:solidFill>
              </a:rPr>
              <a:t>sind, und die Verzinsung des eingesetzten Kapitals die </a:t>
            </a:r>
            <a:r>
              <a:rPr lang="de-DE" sz="1200" b="1" dirty="0">
                <a:solidFill>
                  <a:srgbClr val="32434D"/>
                </a:solidFill>
              </a:rPr>
              <a:t>Kapitalkosten</a:t>
            </a:r>
            <a:r>
              <a:rPr lang="de-DE" sz="1200" dirty="0">
                <a:solidFill>
                  <a:srgbClr val="32434D"/>
                </a:solidFill>
              </a:rPr>
              <a:t> übersteigt</a:t>
            </a:r>
          </a:p>
        </p:txBody>
      </p:sp>
      <p:sp>
        <p:nvSpPr>
          <p:cNvPr id="4" name="Textfeld 3">
            <a:extLst>
              <a:ext uri="{FF2B5EF4-FFF2-40B4-BE49-F238E27FC236}">
                <a16:creationId xmlns:a16="http://schemas.microsoft.com/office/drawing/2014/main" id="{B78F107D-7281-C56E-6AFC-BB135EB2DEB6}"/>
              </a:ext>
            </a:extLst>
          </p:cNvPr>
          <p:cNvSpPr txBox="1"/>
          <p:nvPr/>
        </p:nvSpPr>
        <p:spPr>
          <a:xfrm rot="20988035">
            <a:off x="3675422" y="2462207"/>
            <a:ext cx="2412777" cy="230832"/>
          </a:xfrm>
          <a:prstGeom prst="rect">
            <a:avLst/>
          </a:prstGeom>
          <a:noFill/>
        </p:spPr>
        <p:txBody>
          <a:bodyPr wrap="square" rtlCol="0">
            <a:spAutoFit/>
          </a:bodyPr>
          <a:lstStyle/>
          <a:p>
            <a:r>
              <a:rPr lang="de-DE" sz="900" b="1" dirty="0"/>
              <a:t>Wachstum</a:t>
            </a:r>
          </a:p>
        </p:txBody>
      </p:sp>
      <p:sp>
        <p:nvSpPr>
          <p:cNvPr id="38" name="Rechteck 37">
            <a:extLst>
              <a:ext uri="{FF2B5EF4-FFF2-40B4-BE49-F238E27FC236}">
                <a16:creationId xmlns:a16="http://schemas.microsoft.com/office/drawing/2014/main" id="{26A5BCEA-E17D-9F6C-3A6D-7C1AEC0941D4}"/>
              </a:ext>
            </a:extLst>
          </p:cNvPr>
          <p:cNvSpPr/>
          <p:nvPr/>
        </p:nvSpPr>
        <p:spPr>
          <a:xfrm>
            <a:off x="3265383" y="3192572"/>
            <a:ext cx="159026" cy="46572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49" name="Rechteck 48">
            <a:extLst>
              <a:ext uri="{FF2B5EF4-FFF2-40B4-BE49-F238E27FC236}">
                <a16:creationId xmlns:a16="http://schemas.microsoft.com/office/drawing/2014/main" id="{E05C1E9A-C2F7-F7C2-026C-558F73BFECC7}"/>
              </a:ext>
            </a:extLst>
          </p:cNvPr>
          <p:cNvSpPr/>
          <p:nvPr/>
        </p:nvSpPr>
        <p:spPr>
          <a:xfrm>
            <a:off x="3490671" y="3090341"/>
            <a:ext cx="159026" cy="5679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52" name="Rechteck 51">
            <a:extLst>
              <a:ext uri="{FF2B5EF4-FFF2-40B4-BE49-F238E27FC236}">
                <a16:creationId xmlns:a16="http://schemas.microsoft.com/office/drawing/2014/main" id="{36856A93-5E81-B068-89DA-EC7CF441A1CE}"/>
              </a:ext>
            </a:extLst>
          </p:cNvPr>
          <p:cNvSpPr/>
          <p:nvPr/>
        </p:nvSpPr>
        <p:spPr>
          <a:xfrm>
            <a:off x="3715959" y="3158495"/>
            <a:ext cx="159026" cy="49979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53" name="Rechteck 52">
            <a:extLst>
              <a:ext uri="{FF2B5EF4-FFF2-40B4-BE49-F238E27FC236}">
                <a16:creationId xmlns:a16="http://schemas.microsoft.com/office/drawing/2014/main" id="{87EF0CD6-EEDD-C22D-3AE1-165073680FD4}"/>
              </a:ext>
            </a:extLst>
          </p:cNvPr>
          <p:cNvSpPr/>
          <p:nvPr/>
        </p:nvSpPr>
        <p:spPr>
          <a:xfrm>
            <a:off x="3941247" y="3033546"/>
            <a:ext cx="159026" cy="62474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54" name="Rechteck 53">
            <a:extLst>
              <a:ext uri="{FF2B5EF4-FFF2-40B4-BE49-F238E27FC236}">
                <a16:creationId xmlns:a16="http://schemas.microsoft.com/office/drawing/2014/main" id="{FA126ED8-759B-D525-8A69-DAC5CC1C530F}"/>
              </a:ext>
            </a:extLst>
          </p:cNvPr>
          <p:cNvSpPr/>
          <p:nvPr/>
        </p:nvSpPr>
        <p:spPr>
          <a:xfrm>
            <a:off x="4166535" y="3049449"/>
            <a:ext cx="159026" cy="60884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56" name="Rechteck 55">
            <a:extLst>
              <a:ext uri="{FF2B5EF4-FFF2-40B4-BE49-F238E27FC236}">
                <a16:creationId xmlns:a16="http://schemas.microsoft.com/office/drawing/2014/main" id="{4751A435-CF29-491B-0DFE-69F50882DCFF}"/>
              </a:ext>
            </a:extLst>
          </p:cNvPr>
          <p:cNvSpPr/>
          <p:nvPr/>
        </p:nvSpPr>
        <p:spPr>
          <a:xfrm>
            <a:off x="4675805" y="2897238"/>
            <a:ext cx="159026" cy="76105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57" name="Rechteck 56">
            <a:extLst>
              <a:ext uri="{FF2B5EF4-FFF2-40B4-BE49-F238E27FC236}">
                <a16:creationId xmlns:a16="http://schemas.microsoft.com/office/drawing/2014/main" id="{1C542631-E733-4575-91CC-8DD3DBE02880}"/>
              </a:ext>
            </a:extLst>
          </p:cNvPr>
          <p:cNvSpPr/>
          <p:nvPr/>
        </p:nvSpPr>
        <p:spPr>
          <a:xfrm>
            <a:off x="4415459" y="3425378"/>
            <a:ext cx="664502"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600" b="1" dirty="0">
                <a:solidFill>
                  <a:schemeClr val="tx1"/>
                </a:solidFill>
              </a:rPr>
              <a:t>…</a:t>
            </a:r>
          </a:p>
        </p:txBody>
      </p:sp>
      <p:sp>
        <p:nvSpPr>
          <p:cNvPr id="58" name="Rechteck 57">
            <a:extLst>
              <a:ext uri="{FF2B5EF4-FFF2-40B4-BE49-F238E27FC236}">
                <a16:creationId xmlns:a16="http://schemas.microsoft.com/office/drawing/2014/main" id="{7AB5A981-AD07-955D-8869-8F3837A4F948}"/>
              </a:ext>
            </a:extLst>
          </p:cNvPr>
          <p:cNvSpPr/>
          <p:nvPr/>
        </p:nvSpPr>
        <p:spPr>
          <a:xfrm>
            <a:off x="4912445" y="2783814"/>
            <a:ext cx="159026" cy="87447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60" name="Rechteck 59">
            <a:extLst>
              <a:ext uri="{FF2B5EF4-FFF2-40B4-BE49-F238E27FC236}">
                <a16:creationId xmlns:a16="http://schemas.microsoft.com/office/drawing/2014/main" id="{7251F1F2-0F33-99A7-5F4F-5C03593DBC3C}"/>
              </a:ext>
            </a:extLst>
          </p:cNvPr>
          <p:cNvSpPr/>
          <p:nvPr/>
        </p:nvSpPr>
        <p:spPr>
          <a:xfrm>
            <a:off x="5147200" y="2897238"/>
            <a:ext cx="159026" cy="76105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61" name="Rechteck 60">
            <a:extLst>
              <a:ext uri="{FF2B5EF4-FFF2-40B4-BE49-F238E27FC236}">
                <a16:creationId xmlns:a16="http://schemas.microsoft.com/office/drawing/2014/main" id="{B36116DC-7C6E-4EB7-51E4-F1B96230F334}"/>
              </a:ext>
            </a:extLst>
          </p:cNvPr>
          <p:cNvSpPr/>
          <p:nvPr/>
        </p:nvSpPr>
        <p:spPr>
          <a:xfrm>
            <a:off x="5381953" y="2709815"/>
            <a:ext cx="159026" cy="94847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cxnSp>
        <p:nvCxnSpPr>
          <p:cNvPr id="62" name="Verbinder: gewinkelt 61">
            <a:extLst>
              <a:ext uri="{FF2B5EF4-FFF2-40B4-BE49-F238E27FC236}">
                <a16:creationId xmlns:a16="http://schemas.microsoft.com/office/drawing/2014/main" id="{54EA0EE7-AE1A-8254-6567-10069B42D7B5}"/>
              </a:ext>
            </a:extLst>
          </p:cNvPr>
          <p:cNvCxnSpPr>
            <a:cxnSpLocks/>
            <a:stCxn id="95" idx="2"/>
          </p:cNvCxnSpPr>
          <p:nvPr/>
        </p:nvCxnSpPr>
        <p:spPr>
          <a:xfrm rot="5400000">
            <a:off x="3897458" y="3781067"/>
            <a:ext cx="750517" cy="20146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Geschweifte Klammer links 64">
            <a:extLst>
              <a:ext uri="{FF2B5EF4-FFF2-40B4-BE49-F238E27FC236}">
                <a16:creationId xmlns:a16="http://schemas.microsoft.com/office/drawing/2014/main" id="{AC34914F-2B5D-42C9-2388-D916A729049A}"/>
              </a:ext>
            </a:extLst>
          </p:cNvPr>
          <p:cNvSpPr/>
          <p:nvPr/>
        </p:nvSpPr>
        <p:spPr>
          <a:xfrm rot="16200000">
            <a:off x="4896792" y="3581305"/>
            <a:ext cx="274545" cy="969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6" name="Textfeld 65">
            <a:extLst>
              <a:ext uri="{FF2B5EF4-FFF2-40B4-BE49-F238E27FC236}">
                <a16:creationId xmlns:a16="http://schemas.microsoft.com/office/drawing/2014/main" id="{9A3ADC67-E36C-3E7E-7647-4F868AEE944D}"/>
              </a:ext>
            </a:extLst>
          </p:cNvPr>
          <p:cNvSpPr txBox="1"/>
          <p:nvPr/>
        </p:nvSpPr>
        <p:spPr>
          <a:xfrm>
            <a:off x="3669583" y="5217766"/>
            <a:ext cx="1712370" cy="369332"/>
          </a:xfrm>
          <a:prstGeom prst="rect">
            <a:avLst/>
          </a:prstGeom>
          <a:noFill/>
        </p:spPr>
        <p:txBody>
          <a:bodyPr wrap="square" rtlCol="0">
            <a:spAutoFit/>
          </a:bodyPr>
          <a:lstStyle/>
          <a:p>
            <a:r>
              <a:rPr lang="de-DE" sz="900" b="1" dirty="0"/>
              <a:t>Abgezinst auf den heutigen Barwert</a:t>
            </a:r>
          </a:p>
        </p:txBody>
      </p:sp>
      <p:grpSp>
        <p:nvGrpSpPr>
          <p:cNvPr id="67" name="Gruppieren 66">
            <a:extLst>
              <a:ext uri="{FF2B5EF4-FFF2-40B4-BE49-F238E27FC236}">
                <a16:creationId xmlns:a16="http://schemas.microsoft.com/office/drawing/2014/main" id="{6CF95E9E-C243-3ECA-F968-A5333B72396A}"/>
              </a:ext>
            </a:extLst>
          </p:cNvPr>
          <p:cNvGrpSpPr/>
          <p:nvPr/>
        </p:nvGrpSpPr>
        <p:grpSpPr>
          <a:xfrm>
            <a:off x="3615472" y="3219137"/>
            <a:ext cx="360000" cy="360000"/>
            <a:chOff x="2618251" y="2784150"/>
            <a:chExt cx="360000" cy="360000"/>
          </a:xfrm>
        </p:grpSpPr>
        <p:sp>
          <p:nvSpPr>
            <p:cNvPr id="68" name="Ellipse 67">
              <a:extLst>
                <a:ext uri="{FF2B5EF4-FFF2-40B4-BE49-F238E27FC236}">
                  <a16:creationId xmlns:a16="http://schemas.microsoft.com/office/drawing/2014/main" id="{A3BCED6D-EC96-E8FB-7ABB-5467701067C1}"/>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69" name="Textfeld 68">
              <a:extLst>
                <a:ext uri="{FF2B5EF4-FFF2-40B4-BE49-F238E27FC236}">
                  <a16:creationId xmlns:a16="http://schemas.microsoft.com/office/drawing/2014/main" id="{E88E6393-B54A-15E1-CF5A-EE7759BC150A}"/>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1</a:t>
              </a:r>
            </a:p>
          </p:txBody>
        </p:sp>
      </p:grpSp>
      <p:sp>
        <p:nvSpPr>
          <p:cNvPr id="70" name="Textfeld 69">
            <a:extLst>
              <a:ext uri="{FF2B5EF4-FFF2-40B4-BE49-F238E27FC236}">
                <a16:creationId xmlns:a16="http://schemas.microsoft.com/office/drawing/2014/main" id="{A8506A27-895C-907A-FD34-D8E7302EB6E4}"/>
              </a:ext>
            </a:extLst>
          </p:cNvPr>
          <p:cNvSpPr txBox="1"/>
          <p:nvPr/>
        </p:nvSpPr>
        <p:spPr>
          <a:xfrm>
            <a:off x="3159410" y="3710868"/>
            <a:ext cx="2412777" cy="230832"/>
          </a:xfrm>
          <a:prstGeom prst="rect">
            <a:avLst/>
          </a:prstGeom>
          <a:noFill/>
        </p:spPr>
        <p:txBody>
          <a:bodyPr wrap="square" rtlCol="0">
            <a:spAutoFit/>
          </a:bodyPr>
          <a:lstStyle/>
          <a:p>
            <a:r>
              <a:rPr lang="de-DE" sz="900" b="1" dirty="0"/>
              <a:t>Zahlungsmittelüberschüsse</a:t>
            </a:r>
          </a:p>
        </p:txBody>
      </p:sp>
      <p:sp>
        <p:nvSpPr>
          <p:cNvPr id="71" name="Geschweifte Klammer links 70">
            <a:extLst>
              <a:ext uri="{FF2B5EF4-FFF2-40B4-BE49-F238E27FC236}">
                <a16:creationId xmlns:a16="http://schemas.microsoft.com/office/drawing/2014/main" id="{A8641FF6-6D0A-C0AB-49EE-D1A9A35313AA}"/>
              </a:ext>
            </a:extLst>
          </p:cNvPr>
          <p:cNvSpPr/>
          <p:nvPr/>
        </p:nvSpPr>
        <p:spPr>
          <a:xfrm rot="5400000">
            <a:off x="5387223" y="2427759"/>
            <a:ext cx="143636" cy="28882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77" name="Textfeld 76">
            <a:extLst>
              <a:ext uri="{FF2B5EF4-FFF2-40B4-BE49-F238E27FC236}">
                <a16:creationId xmlns:a16="http://schemas.microsoft.com/office/drawing/2014/main" id="{96D80FD8-09CE-3774-52D2-F14BAD33BD90}"/>
              </a:ext>
            </a:extLst>
          </p:cNvPr>
          <p:cNvSpPr txBox="1"/>
          <p:nvPr/>
        </p:nvSpPr>
        <p:spPr>
          <a:xfrm>
            <a:off x="3753335" y="4866999"/>
            <a:ext cx="1552892" cy="230832"/>
          </a:xfrm>
          <a:prstGeom prst="rect">
            <a:avLst/>
          </a:prstGeom>
          <a:noFill/>
        </p:spPr>
        <p:txBody>
          <a:bodyPr wrap="square" rtlCol="0">
            <a:spAutoFit/>
          </a:bodyPr>
          <a:lstStyle/>
          <a:p>
            <a:r>
              <a:rPr lang="de-DE" sz="900" b="1" dirty="0"/>
              <a:t>Risikoadäquater Zinssatz</a:t>
            </a:r>
          </a:p>
        </p:txBody>
      </p:sp>
      <p:grpSp>
        <p:nvGrpSpPr>
          <p:cNvPr id="78" name="Gruppieren 77">
            <a:extLst>
              <a:ext uri="{FF2B5EF4-FFF2-40B4-BE49-F238E27FC236}">
                <a16:creationId xmlns:a16="http://schemas.microsoft.com/office/drawing/2014/main" id="{52A898BA-1251-93A0-3FF0-6CF606C5E2F7}"/>
              </a:ext>
            </a:extLst>
          </p:cNvPr>
          <p:cNvGrpSpPr/>
          <p:nvPr/>
        </p:nvGrpSpPr>
        <p:grpSpPr>
          <a:xfrm>
            <a:off x="4936551" y="3071536"/>
            <a:ext cx="360000" cy="360000"/>
            <a:chOff x="2618251" y="2784150"/>
            <a:chExt cx="360000" cy="360000"/>
          </a:xfrm>
        </p:grpSpPr>
        <p:sp>
          <p:nvSpPr>
            <p:cNvPr id="79" name="Ellipse 78">
              <a:extLst>
                <a:ext uri="{FF2B5EF4-FFF2-40B4-BE49-F238E27FC236}">
                  <a16:creationId xmlns:a16="http://schemas.microsoft.com/office/drawing/2014/main" id="{2DA5BD22-A736-A8A5-C096-177399718B32}"/>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82" name="Textfeld 81">
              <a:extLst>
                <a:ext uri="{FF2B5EF4-FFF2-40B4-BE49-F238E27FC236}">
                  <a16:creationId xmlns:a16="http://schemas.microsoft.com/office/drawing/2014/main" id="{C0CCF2E5-05D8-D0CD-D750-1978A494B773}"/>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2</a:t>
              </a:r>
            </a:p>
          </p:txBody>
        </p:sp>
      </p:grpSp>
      <p:cxnSp>
        <p:nvCxnSpPr>
          <p:cNvPr id="83" name="Gerade Verbindung mit Pfeil 82">
            <a:extLst>
              <a:ext uri="{FF2B5EF4-FFF2-40B4-BE49-F238E27FC236}">
                <a16:creationId xmlns:a16="http://schemas.microsoft.com/office/drawing/2014/main" id="{C1FFC79E-C3FE-DC33-F793-6F77295C852E}"/>
              </a:ext>
            </a:extLst>
          </p:cNvPr>
          <p:cNvCxnSpPr>
            <a:cxnSpLocks/>
          </p:cNvCxnSpPr>
          <p:nvPr/>
        </p:nvCxnSpPr>
        <p:spPr>
          <a:xfrm flipV="1">
            <a:off x="3275654" y="2632905"/>
            <a:ext cx="1948051" cy="333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4" name="Gruppieren 83">
            <a:extLst>
              <a:ext uri="{FF2B5EF4-FFF2-40B4-BE49-F238E27FC236}">
                <a16:creationId xmlns:a16="http://schemas.microsoft.com/office/drawing/2014/main" id="{BFBABD0E-3E50-22FF-9A1D-595AED790D0F}"/>
              </a:ext>
            </a:extLst>
          </p:cNvPr>
          <p:cNvGrpSpPr/>
          <p:nvPr/>
        </p:nvGrpSpPr>
        <p:grpSpPr>
          <a:xfrm>
            <a:off x="5392187" y="1935632"/>
            <a:ext cx="360000" cy="360000"/>
            <a:chOff x="2618251" y="2784150"/>
            <a:chExt cx="360000" cy="360000"/>
          </a:xfrm>
        </p:grpSpPr>
        <p:sp>
          <p:nvSpPr>
            <p:cNvPr id="85" name="Ellipse 84">
              <a:extLst>
                <a:ext uri="{FF2B5EF4-FFF2-40B4-BE49-F238E27FC236}">
                  <a16:creationId xmlns:a16="http://schemas.microsoft.com/office/drawing/2014/main" id="{6F187512-912C-98EE-887C-5A762EF1AB9C}"/>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86" name="Textfeld 85">
              <a:extLst>
                <a:ext uri="{FF2B5EF4-FFF2-40B4-BE49-F238E27FC236}">
                  <a16:creationId xmlns:a16="http://schemas.microsoft.com/office/drawing/2014/main" id="{A61AEE98-3A79-39C5-C4D1-DFB16BBA6DCD}"/>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3</a:t>
              </a:r>
            </a:p>
          </p:txBody>
        </p:sp>
      </p:grpSp>
      <p:grpSp>
        <p:nvGrpSpPr>
          <p:cNvPr id="87" name="Gruppieren 86">
            <a:extLst>
              <a:ext uri="{FF2B5EF4-FFF2-40B4-BE49-F238E27FC236}">
                <a16:creationId xmlns:a16="http://schemas.microsoft.com/office/drawing/2014/main" id="{F67CEBE6-00BF-E20F-C70E-CEB7DFF11EC4}"/>
              </a:ext>
            </a:extLst>
          </p:cNvPr>
          <p:cNvGrpSpPr/>
          <p:nvPr/>
        </p:nvGrpSpPr>
        <p:grpSpPr>
          <a:xfrm>
            <a:off x="4425309" y="4469480"/>
            <a:ext cx="360000" cy="360000"/>
            <a:chOff x="2618251" y="2784150"/>
            <a:chExt cx="360000" cy="360000"/>
          </a:xfrm>
        </p:grpSpPr>
        <p:sp>
          <p:nvSpPr>
            <p:cNvPr id="88" name="Ellipse 87">
              <a:extLst>
                <a:ext uri="{FF2B5EF4-FFF2-40B4-BE49-F238E27FC236}">
                  <a16:creationId xmlns:a16="http://schemas.microsoft.com/office/drawing/2014/main" id="{9666AF36-5C80-20FD-AC02-09F2BB94D7D1}"/>
                </a:ext>
              </a:extLst>
            </p:cNvPr>
            <p:cNvSpPr/>
            <p:nvPr/>
          </p:nvSpPr>
          <p:spPr>
            <a:xfrm>
              <a:off x="2618251" y="2784150"/>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de-DE" sz="1200" b="1" dirty="0">
                <a:solidFill>
                  <a:schemeClr val="bg1"/>
                </a:solidFill>
              </a:endParaRPr>
            </a:p>
          </p:txBody>
        </p:sp>
        <p:sp>
          <p:nvSpPr>
            <p:cNvPr id="89" name="Textfeld 88">
              <a:extLst>
                <a:ext uri="{FF2B5EF4-FFF2-40B4-BE49-F238E27FC236}">
                  <a16:creationId xmlns:a16="http://schemas.microsoft.com/office/drawing/2014/main" id="{8AB3E61A-B33C-FAC0-B4D0-E95AACE1AF12}"/>
                </a:ext>
              </a:extLst>
            </p:cNvPr>
            <p:cNvSpPr txBox="1"/>
            <p:nvPr/>
          </p:nvSpPr>
          <p:spPr>
            <a:xfrm>
              <a:off x="2652325" y="2823306"/>
              <a:ext cx="286167" cy="276999"/>
            </a:xfrm>
            <a:prstGeom prst="rect">
              <a:avLst/>
            </a:prstGeom>
            <a:noFill/>
          </p:spPr>
          <p:txBody>
            <a:bodyPr wrap="square" rtlCol="0">
              <a:spAutoFit/>
            </a:bodyPr>
            <a:lstStyle/>
            <a:p>
              <a:r>
                <a:rPr lang="de-DE" sz="1200" b="1" dirty="0">
                  <a:solidFill>
                    <a:schemeClr val="bg1"/>
                  </a:solidFill>
                </a:rPr>
                <a:t>4</a:t>
              </a:r>
            </a:p>
          </p:txBody>
        </p:sp>
      </p:grpSp>
      <p:sp>
        <p:nvSpPr>
          <p:cNvPr id="90" name="Pfeil: nach rechts 89">
            <a:extLst>
              <a:ext uri="{FF2B5EF4-FFF2-40B4-BE49-F238E27FC236}">
                <a16:creationId xmlns:a16="http://schemas.microsoft.com/office/drawing/2014/main" id="{24A8FF3A-A439-20D0-3B48-61BA0570F63B}"/>
              </a:ext>
            </a:extLst>
          </p:cNvPr>
          <p:cNvSpPr/>
          <p:nvPr/>
        </p:nvSpPr>
        <p:spPr>
          <a:xfrm>
            <a:off x="2711676" y="3329346"/>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91" name="Pfeil: nach rechts 90">
            <a:extLst>
              <a:ext uri="{FF2B5EF4-FFF2-40B4-BE49-F238E27FC236}">
                <a16:creationId xmlns:a16="http://schemas.microsoft.com/office/drawing/2014/main" id="{4990E3C9-0FA3-FCA1-BDA7-6688928303B4}"/>
              </a:ext>
            </a:extLst>
          </p:cNvPr>
          <p:cNvSpPr/>
          <p:nvPr/>
        </p:nvSpPr>
        <p:spPr>
          <a:xfrm rot="10800000">
            <a:off x="2711676" y="5072382"/>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92" name="Pfeil: nach rechts 91">
            <a:extLst>
              <a:ext uri="{FF2B5EF4-FFF2-40B4-BE49-F238E27FC236}">
                <a16:creationId xmlns:a16="http://schemas.microsoft.com/office/drawing/2014/main" id="{B53BE184-E562-18E8-2AB7-ACB837710C4E}"/>
              </a:ext>
            </a:extLst>
          </p:cNvPr>
          <p:cNvSpPr/>
          <p:nvPr/>
        </p:nvSpPr>
        <p:spPr>
          <a:xfrm rot="5400000">
            <a:off x="4911698" y="4473663"/>
            <a:ext cx="211015" cy="21525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93" name="Geschweifte Klammer links 92">
            <a:extLst>
              <a:ext uri="{FF2B5EF4-FFF2-40B4-BE49-F238E27FC236}">
                <a16:creationId xmlns:a16="http://schemas.microsoft.com/office/drawing/2014/main" id="{545EBF8C-CA00-946E-733E-D64585201862}"/>
              </a:ext>
            </a:extLst>
          </p:cNvPr>
          <p:cNvSpPr/>
          <p:nvPr/>
        </p:nvSpPr>
        <p:spPr>
          <a:xfrm rot="16200000">
            <a:off x="3623993" y="3592611"/>
            <a:ext cx="274545" cy="9695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4" name="Textfeld 93">
            <a:extLst>
              <a:ext uri="{FF2B5EF4-FFF2-40B4-BE49-F238E27FC236}">
                <a16:creationId xmlns:a16="http://schemas.microsoft.com/office/drawing/2014/main" id="{A5ED4A47-00B7-E0EF-4E62-AD33A7AFDCA3}"/>
              </a:ext>
            </a:extLst>
          </p:cNvPr>
          <p:cNvSpPr txBox="1"/>
          <p:nvPr/>
        </p:nvSpPr>
        <p:spPr>
          <a:xfrm>
            <a:off x="3271331" y="4182306"/>
            <a:ext cx="1088036" cy="230832"/>
          </a:xfrm>
          <a:prstGeom prst="rect">
            <a:avLst/>
          </a:prstGeom>
          <a:noFill/>
        </p:spPr>
        <p:txBody>
          <a:bodyPr wrap="square" rtlCol="0">
            <a:spAutoFit/>
          </a:bodyPr>
          <a:lstStyle/>
          <a:p>
            <a:r>
              <a:rPr lang="de-DE" sz="900" b="1" dirty="0"/>
              <a:t>Vergangenheit</a:t>
            </a:r>
          </a:p>
        </p:txBody>
      </p:sp>
      <p:sp>
        <p:nvSpPr>
          <p:cNvPr id="95" name="Textfeld 94">
            <a:extLst>
              <a:ext uri="{FF2B5EF4-FFF2-40B4-BE49-F238E27FC236}">
                <a16:creationId xmlns:a16="http://schemas.microsoft.com/office/drawing/2014/main" id="{DB4B49DA-AF6A-6EC6-B1B0-58DF04902237}"/>
              </a:ext>
            </a:extLst>
          </p:cNvPr>
          <p:cNvSpPr txBox="1"/>
          <p:nvPr/>
        </p:nvSpPr>
        <p:spPr>
          <a:xfrm>
            <a:off x="4736027" y="4182306"/>
            <a:ext cx="1088036" cy="230832"/>
          </a:xfrm>
          <a:prstGeom prst="rect">
            <a:avLst/>
          </a:prstGeom>
          <a:noFill/>
        </p:spPr>
        <p:txBody>
          <a:bodyPr wrap="square" rtlCol="0">
            <a:spAutoFit/>
          </a:bodyPr>
          <a:lstStyle/>
          <a:p>
            <a:r>
              <a:rPr lang="de-DE" sz="900" b="1" dirty="0"/>
              <a:t>Zukunft</a:t>
            </a:r>
          </a:p>
        </p:txBody>
      </p:sp>
      <p:cxnSp>
        <p:nvCxnSpPr>
          <p:cNvPr id="96" name="Gerader Verbinder 95">
            <a:extLst>
              <a:ext uri="{FF2B5EF4-FFF2-40B4-BE49-F238E27FC236}">
                <a16:creationId xmlns:a16="http://schemas.microsoft.com/office/drawing/2014/main" id="{37D6C5BA-C29B-43FC-F3A6-3FA6CF8B0416}"/>
              </a:ext>
            </a:extLst>
          </p:cNvPr>
          <p:cNvCxnSpPr>
            <a:cxnSpLocks/>
          </p:cNvCxnSpPr>
          <p:nvPr/>
        </p:nvCxnSpPr>
        <p:spPr>
          <a:xfrm>
            <a:off x="5946312" y="1746732"/>
            <a:ext cx="0" cy="37338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feld 77">
            <a:extLst>
              <a:ext uri="{FF2B5EF4-FFF2-40B4-BE49-F238E27FC236}">
                <a16:creationId xmlns:a16="http://schemas.microsoft.com/office/drawing/2014/main" id="{696CA3A9-922B-307D-FB67-11B5DD2DDEF6}"/>
              </a:ext>
            </a:extLst>
          </p:cNvPr>
          <p:cNvSpPr txBox="1"/>
          <p:nvPr/>
        </p:nvSpPr>
        <p:spPr>
          <a:xfrm>
            <a:off x="509914" y="1704800"/>
            <a:ext cx="2412777" cy="230832"/>
          </a:xfrm>
          <a:prstGeom prst="rect">
            <a:avLst/>
          </a:prstGeom>
          <a:noFill/>
        </p:spPr>
        <p:txBody>
          <a:bodyPr wrap="square" rtlCol="0">
            <a:spAutoFit/>
          </a:bodyPr>
          <a:lstStyle/>
          <a:p>
            <a:r>
              <a:rPr lang="de-DE" sz="900" b="1" dirty="0"/>
              <a:t>Finanzzahlen Unternehmen</a:t>
            </a:r>
          </a:p>
        </p:txBody>
      </p:sp>
      <p:sp>
        <p:nvSpPr>
          <p:cNvPr id="7" name="Textfeld 77">
            <a:extLst>
              <a:ext uri="{FF2B5EF4-FFF2-40B4-BE49-F238E27FC236}">
                <a16:creationId xmlns:a16="http://schemas.microsoft.com/office/drawing/2014/main" id="{4803E9FA-CB4F-2DC7-E529-ABDBEFAD4CE8}"/>
              </a:ext>
            </a:extLst>
          </p:cNvPr>
          <p:cNvSpPr txBox="1"/>
          <p:nvPr/>
        </p:nvSpPr>
        <p:spPr>
          <a:xfrm>
            <a:off x="3178736" y="1704800"/>
            <a:ext cx="2412777" cy="230832"/>
          </a:xfrm>
          <a:prstGeom prst="rect">
            <a:avLst/>
          </a:prstGeom>
          <a:noFill/>
        </p:spPr>
        <p:txBody>
          <a:bodyPr wrap="square" rtlCol="0">
            <a:spAutoFit/>
          </a:bodyPr>
          <a:lstStyle/>
          <a:p>
            <a:r>
              <a:rPr lang="de-DE" sz="900" b="1" dirty="0"/>
              <a:t>Analyse und Planung</a:t>
            </a:r>
          </a:p>
        </p:txBody>
      </p:sp>
    </p:spTree>
    <p:extLst>
      <p:ext uri="{BB962C8B-B14F-4D97-AF65-F5344CB8AC3E}">
        <p14:creationId xmlns:p14="http://schemas.microsoft.com/office/powerpoint/2010/main" val="1376074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20</a:t>
            </a:fld>
            <a:endParaRPr lang="en-US" dirty="0"/>
          </a:p>
        </p:txBody>
      </p:sp>
      <p:sp>
        <p:nvSpPr>
          <p:cNvPr id="4" name="Textplatzhalter 3"/>
          <p:cNvSpPr>
            <a:spLocks noGrp="1"/>
          </p:cNvSpPr>
          <p:nvPr>
            <p:ph type="body" sz="quarter" idx="4294967295"/>
          </p:nvPr>
        </p:nvSpPr>
        <p:spPr>
          <a:xfrm>
            <a:off x="288526" y="184376"/>
            <a:ext cx="9078058" cy="896937"/>
          </a:xfrm>
        </p:spPr>
        <p:txBody>
          <a:bodyPr vert="horz" lIns="0" tIns="45720" rIns="91440" bIns="45720" rtlCol="0" anchor="ctr">
            <a:normAutofit/>
          </a:bodyPr>
          <a:lstStyle/>
          <a:p>
            <a:pPr marL="0" indent="0">
              <a:buNone/>
            </a:pPr>
            <a:r>
              <a:rPr lang="de-DE" sz="2100" dirty="0"/>
              <a:t>Für eine sachgerechte Bewertung nach IDW S1 (unter Beachtung PH 1/2014) sind immer einzelfallgerechte Annahmen zu treffen</a:t>
            </a:r>
          </a:p>
        </p:txBody>
      </p:sp>
      <p:sp>
        <p:nvSpPr>
          <p:cNvPr id="57" name="Textfeld 34">
            <a:extLst>
              <a:ext uri="{FF2B5EF4-FFF2-40B4-BE49-F238E27FC236}">
                <a16:creationId xmlns:a16="http://schemas.microsoft.com/office/drawing/2014/main" id="{1F0FA661-D7A3-84A4-DBE5-9258C0A6FFA5}"/>
              </a:ext>
            </a:extLst>
          </p:cNvPr>
          <p:cNvSpPr txBox="1"/>
          <p:nvPr/>
        </p:nvSpPr>
        <p:spPr>
          <a:xfrm>
            <a:off x="7545790" y="2216816"/>
            <a:ext cx="1357578" cy="734740"/>
          </a:xfrm>
          <a:prstGeom prst="rect">
            <a:avLst/>
          </a:prstGeom>
          <a:noFill/>
          <a:ln w="12700">
            <a:solidFill>
              <a:srgbClr val="002060"/>
            </a:solidFill>
            <a:prstDash val="dash"/>
          </a:ln>
        </p:spPr>
        <p:txBody>
          <a:bodyPr wrap="square" rtlCol="0" anchor="ctr">
            <a:noAutofit/>
          </a:bodyPr>
          <a:lstStyle>
            <a:defPPr>
              <a:defRPr lang="de-DE"/>
            </a:defPPr>
            <a:lvl1pPr>
              <a:defRPr sz="1200" b="1"/>
            </a:lvl1pPr>
          </a:lstStyle>
          <a:p>
            <a:r>
              <a:rPr lang="de-DE" dirty="0"/>
              <a:t>Sehr stark pers. DL / Produkt, z.B. Praxen, Kanzleien … </a:t>
            </a:r>
          </a:p>
        </p:txBody>
      </p:sp>
      <p:sp>
        <p:nvSpPr>
          <p:cNvPr id="58" name="Textfeld 35">
            <a:extLst>
              <a:ext uri="{FF2B5EF4-FFF2-40B4-BE49-F238E27FC236}">
                <a16:creationId xmlns:a16="http://schemas.microsoft.com/office/drawing/2014/main" id="{B12E0D2C-F730-DADC-81BC-87744F34C5DB}"/>
              </a:ext>
            </a:extLst>
          </p:cNvPr>
          <p:cNvSpPr txBox="1"/>
          <p:nvPr/>
        </p:nvSpPr>
        <p:spPr>
          <a:xfrm>
            <a:off x="332576" y="2206604"/>
            <a:ext cx="2778178" cy="743686"/>
          </a:xfrm>
          <a:prstGeom prst="rect">
            <a:avLst/>
          </a:prstGeom>
          <a:noFill/>
          <a:ln w="12700">
            <a:solidFill>
              <a:srgbClr val="002060"/>
            </a:solidFill>
            <a:prstDash val="dash"/>
          </a:ln>
        </p:spPr>
        <p:txBody>
          <a:bodyPr wrap="square" rtlCol="0" anchor="ctr">
            <a:noAutofit/>
          </a:bodyPr>
          <a:lstStyle/>
          <a:p>
            <a:r>
              <a:rPr lang="de-DE" sz="1200" b="1" dirty="0"/>
              <a:t>Große gewerbliche KMU</a:t>
            </a:r>
          </a:p>
        </p:txBody>
      </p:sp>
      <p:sp>
        <p:nvSpPr>
          <p:cNvPr id="60" name="Gleichschenkliges Dreieck 11">
            <a:extLst>
              <a:ext uri="{FF2B5EF4-FFF2-40B4-BE49-F238E27FC236}">
                <a16:creationId xmlns:a16="http://schemas.microsoft.com/office/drawing/2014/main" id="{6C81BED8-A53E-5D96-69EF-3C60A472D05F}"/>
              </a:ext>
            </a:extLst>
          </p:cNvPr>
          <p:cNvSpPr/>
          <p:nvPr/>
        </p:nvSpPr>
        <p:spPr>
          <a:xfrm rot="5400000" flipV="1">
            <a:off x="4387139" y="-2437496"/>
            <a:ext cx="461667" cy="8570791"/>
          </a:xfrm>
          <a:prstGeom prst="triangle">
            <a:avLst>
              <a:gd name="adj" fmla="val 100000"/>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l"/>
            <a:endParaRPr lang="de-DE" sz="1200" b="1" dirty="0">
              <a:solidFill>
                <a:srgbClr val="8BAABF"/>
              </a:solidFill>
            </a:endParaRPr>
          </a:p>
        </p:txBody>
      </p:sp>
      <p:sp>
        <p:nvSpPr>
          <p:cNvPr id="62" name="Textfeld 12">
            <a:extLst>
              <a:ext uri="{FF2B5EF4-FFF2-40B4-BE49-F238E27FC236}">
                <a16:creationId xmlns:a16="http://schemas.microsoft.com/office/drawing/2014/main" id="{C4971BF9-41E1-C41B-23B8-5E2B90A63C3B}"/>
              </a:ext>
            </a:extLst>
          </p:cNvPr>
          <p:cNvSpPr txBox="1"/>
          <p:nvPr/>
        </p:nvSpPr>
        <p:spPr>
          <a:xfrm>
            <a:off x="6426358" y="1756256"/>
            <a:ext cx="2160839" cy="276999"/>
          </a:xfrm>
          <a:prstGeom prst="rect">
            <a:avLst/>
          </a:prstGeom>
          <a:noFill/>
        </p:spPr>
        <p:txBody>
          <a:bodyPr wrap="square" rtlCol="0">
            <a:spAutoFit/>
          </a:bodyPr>
          <a:lstStyle/>
          <a:p>
            <a:pPr algn="r"/>
            <a:r>
              <a:rPr lang="de-DE" sz="1200" b="1" dirty="0">
                <a:solidFill>
                  <a:schemeClr val="bg1"/>
                </a:solidFill>
              </a:rPr>
              <a:t>Beispiel Inhaberprägung</a:t>
            </a:r>
          </a:p>
        </p:txBody>
      </p:sp>
      <p:sp>
        <p:nvSpPr>
          <p:cNvPr id="7" name="Textfeld 35">
            <a:extLst>
              <a:ext uri="{FF2B5EF4-FFF2-40B4-BE49-F238E27FC236}">
                <a16:creationId xmlns:a16="http://schemas.microsoft.com/office/drawing/2014/main" id="{CA195E2D-0493-4982-2586-D9E57120FA50}"/>
              </a:ext>
            </a:extLst>
          </p:cNvPr>
          <p:cNvSpPr txBox="1"/>
          <p:nvPr/>
        </p:nvSpPr>
        <p:spPr>
          <a:xfrm>
            <a:off x="3245224" y="2215570"/>
            <a:ext cx="4146177" cy="743686"/>
          </a:xfrm>
          <a:prstGeom prst="rect">
            <a:avLst/>
          </a:prstGeom>
          <a:noFill/>
          <a:ln w="12700">
            <a:solidFill>
              <a:srgbClr val="002060"/>
            </a:solidFill>
            <a:prstDash val="dash"/>
          </a:ln>
        </p:spPr>
        <p:txBody>
          <a:bodyPr wrap="square" rtlCol="0" anchor="ctr">
            <a:noAutofit/>
          </a:bodyPr>
          <a:lstStyle>
            <a:defPPr>
              <a:defRPr lang="de-DE"/>
            </a:defPPr>
            <a:lvl1pPr>
              <a:defRPr sz="1200" b="1"/>
            </a:lvl1pPr>
          </a:lstStyle>
          <a:p>
            <a:r>
              <a:rPr lang="de-DE" dirty="0"/>
              <a:t>Kleinere gewerbliche KMU</a:t>
            </a:r>
          </a:p>
        </p:txBody>
      </p:sp>
      <p:sp>
        <p:nvSpPr>
          <p:cNvPr id="10" name="Textfeld 35">
            <a:extLst>
              <a:ext uri="{FF2B5EF4-FFF2-40B4-BE49-F238E27FC236}">
                <a16:creationId xmlns:a16="http://schemas.microsoft.com/office/drawing/2014/main" id="{4337CBDB-B13A-D6AB-A9A9-F3D0CD8EDD95}"/>
              </a:ext>
            </a:extLst>
          </p:cNvPr>
          <p:cNvSpPr txBox="1"/>
          <p:nvPr/>
        </p:nvSpPr>
        <p:spPr>
          <a:xfrm>
            <a:off x="332574" y="3944953"/>
            <a:ext cx="2086671" cy="1774593"/>
          </a:xfrm>
          <a:prstGeom prst="rect">
            <a:avLst/>
          </a:prstGeom>
          <a:noFill/>
          <a:ln w="12700">
            <a:solidFill>
              <a:srgbClr val="FF0000"/>
            </a:solidFill>
            <a:prstDash val="dash"/>
          </a:ln>
        </p:spPr>
        <p:txBody>
          <a:bodyPr wrap="square" tIns="108000" rtlCol="0" anchor="t">
            <a:noAutofit/>
          </a:bodyPr>
          <a:lstStyle/>
          <a:p>
            <a:pPr marL="171450" indent="-171450">
              <a:spcBef>
                <a:spcPts val="300"/>
              </a:spcBef>
              <a:buFont typeface="Arial" panose="020B0604020202020204" pitchFamily="34" charset="0"/>
              <a:buChar char="•"/>
            </a:pPr>
            <a:r>
              <a:rPr lang="de-DE" sz="1000" dirty="0">
                <a:solidFill>
                  <a:srgbClr val="32434D"/>
                </a:solidFill>
              </a:rPr>
              <a:t>„Normalfall“ IDW S1</a:t>
            </a:r>
          </a:p>
          <a:p>
            <a:pPr marL="171450" indent="-171450">
              <a:spcBef>
                <a:spcPts val="300"/>
              </a:spcBef>
              <a:buFont typeface="Arial" panose="020B0604020202020204" pitchFamily="34" charset="0"/>
              <a:buChar char="•"/>
            </a:pPr>
            <a:r>
              <a:rPr lang="de-DE" sz="1000" b="1" dirty="0">
                <a:solidFill>
                  <a:srgbClr val="32434D"/>
                </a:solidFill>
              </a:rPr>
              <a:t>Bereinigungen</a:t>
            </a:r>
            <a:r>
              <a:rPr lang="de-DE" sz="1000" dirty="0">
                <a:solidFill>
                  <a:srgbClr val="32434D"/>
                </a:solidFill>
              </a:rPr>
              <a:t>, z.B. Unternehmerlohn, Tätigkeit Familienmitglieder </a:t>
            </a:r>
          </a:p>
          <a:p>
            <a:pPr marL="171450" indent="-171450">
              <a:spcBef>
                <a:spcPts val="300"/>
              </a:spcBef>
              <a:buFont typeface="Arial" panose="020B0604020202020204" pitchFamily="34" charset="0"/>
              <a:buChar char="•"/>
            </a:pPr>
            <a:r>
              <a:rPr lang="de-DE" sz="1000" dirty="0">
                <a:solidFill>
                  <a:srgbClr val="32434D"/>
                </a:solidFill>
              </a:rPr>
              <a:t>Gesellschafterdarlehen, Sicherheiten</a:t>
            </a:r>
          </a:p>
          <a:p>
            <a:pPr marL="171450" indent="-171450">
              <a:spcBef>
                <a:spcPts val="300"/>
              </a:spcBef>
              <a:buFont typeface="Arial" panose="020B0604020202020204" pitchFamily="34" charset="0"/>
              <a:buChar char="•"/>
            </a:pPr>
            <a:r>
              <a:rPr lang="de-DE" sz="1000" b="1" dirty="0">
                <a:solidFill>
                  <a:srgbClr val="32434D"/>
                </a:solidFill>
              </a:rPr>
              <a:t>Insolvenzwahrscheinlichkeit</a:t>
            </a:r>
          </a:p>
          <a:p>
            <a:pPr marL="171450" indent="-171450">
              <a:spcBef>
                <a:spcPts val="300"/>
              </a:spcBef>
              <a:buFont typeface="Arial" panose="020B0604020202020204" pitchFamily="34" charset="0"/>
              <a:buChar char="•"/>
            </a:pPr>
            <a:r>
              <a:rPr lang="de-DE" sz="1000" dirty="0">
                <a:solidFill>
                  <a:srgbClr val="32434D"/>
                </a:solidFill>
              </a:rPr>
              <a:t>Untergrenze </a:t>
            </a:r>
            <a:r>
              <a:rPr lang="de-DE" sz="1000" b="1" dirty="0">
                <a:solidFill>
                  <a:srgbClr val="32434D"/>
                </a:solidFill>
              </a:rPr>
              <a:t>Liquidationswert</a:t>
            </a:r>
          </a:p>
          <a:p>
            <a:pPr marL="171450" indent="-171450">
              <a:spcBef>
                <a:spcPts val="300"/>
              </a:spcBef>
              <a:buFont typeface="Arial" panose="020B0604020202020204" pitchFamily="34" charset="0"/>
              <a:buChar char="•"/>
            </a:pPr>
            <a:r>
              <a:rPr lang="de-DE" sz="1000" dirty="0">
                <a:solidFill>
                  <a:srgbClr val="32434D"/>
                </a:solidFill>
              </a:rPr>
              <a:t>…</a:t>
            </a:r>
          </a:p>
        </p:txBody>
      </p:sp>
      <p:sp>
        <p:nvSpPr>
          <p:cNvPr id="11" name="Textfeld 35">
            <a:extLst>
              <a:ext uri="{FF2B5EF4-FFF2-40B4-BE49-F238E27FC236}">
                <a16:creationId xmlns:a16="http://schemas.microsoft.com/office/drawing/2014/main" id="{700398F4-E008-C5AD-8039-C193E7BE02D7}"/>
              </a:ext>
            </a:extLst>
          </p:cNvPr>
          <p:cNvSpPr txBox="1"/>
          <p:nvPr/>
        </p:nvSpPr>
        <p:spPr>
          <a:xfrm>
            <a:off x="2573635" y="3944953"/>
            <a:ext cx="4817766" cy="1774593"/>
          </a:xfrm>
          <a:prstGeom prst="rect">
            <a:avLst/>
          </a:prstGeom>
          <a:noFill/>
          <a:ln w="12700">
            <a:solidFill>
              <a:srgbClr val="FF0000"/>
            </a:solidFill>
            <a:prstDash val="dash"/>
          </a:ln>
        </p:spPr>
        <p:txBody>
          <a:bodyPr wrap="square" tIns="108000" rtlCol="0" anchor="t">
            <a:noAutofit/>
          </a:bodyPr>
          <a:lstStyle>
            <a:defPPr>
              <a:defRPr lang="de-DE"/>
            </a:defPPr>
            <a:lvl1pPr marL="171450" indent="-171450">
              <a:spcBef>
                <a:spcPts val="300"/>
              </a:spcBef>
              <a:buFont typeface="Arial" panose="020B0604020202020204" pitchFamily="34" charset="0"/>
              <a:buChar char="•"/>
              <a:defRPr sz="1000" b="1">
                <a:solidFill>
                  <a:srgbClr val="32434D"/>
                </a:solidFill>
              </a:defRPr>
            </a:lvl1pPr>
          </a:lstStyle>
          <a:p>
            <a:pPr marL="0" indent="0">
              <a:buNone/>
            </a:pPr>
            <a:r>
              <a:rPr lang="de-DE" b="0" dirty="0"/>
              <a:t>zusätzlich:</a:t>
            </a:r>
          </a:p>
          <a:p>
            <a:r>
              <a:rPr lang="de-DE" b="0" dirty="0"/>
              <a:t>Trennung </a:t>
            </a:r>
            <a:r>
              <a:rPr lang="de-DE" dirty="0"/>
              <a:t>betrieblicher und persönlicher Goodwill</a:t>
            </a:r>
          </a:p>
          <a:p>
            <a:r>
              <a:rPr lang="de-DE" b="0" dirty="0"/>
              <a:t>Bestimmung der </a:t>
            </a:r>
            <a:r>
              <a:rPr lang="de-DE" dirty="0"/>
              <a:t>Höhe</a:t>
            </a:r>
            <a:r>
              <a:rPr lang="de-DE" b="0" dirty="0"/>
              <a:t> übertragbarer Anteil der Ertragskraft</a:t>
            </a:r>
          </a:p>
          <a:p>
            <a:r>
              <a:rPr lang="de-DE" dirty="0"/>
              <a:t>Abschmelzdauer und Geschwindigkeit </a:t>
            </a:r>
            <a:r>
              <a:rPr lang="de-DE" b="0" dirty="0"/>
              <a:t>der Ertragskraft (Umsätze, Überrenditen oder Margen)</a:t>
            </a:r>
          </a:p>
          <a:p>
            <a:r>
              <a:rPr lang="de-DE" dirty="0"/>
              <a:t>Liquidationswert</a:t>
            </a:r>
            <a:r>
              <a:rPr lang="de-DE" b="0" dirty="0"/>
              <a:t> (z.B. wenn Unternehmensfortführung ohne bisherige Unternehmensführung nicht möglich)‘</a:t>
            </a:r>
          </a:p>
          <a:p>
            <a:r>
              <a:rPr lang="de-DE" b="0" dirty="0"/>
              <a:t>…</a:t>
            </a:r>
          </a:p>
          <a:p>
            <a:endParaRPr lang="de-DE" dirty="0"/>
          </a:p>
        </p:txBody>
      </p:sp>
      <p:sp>
        <p:nvSpPr>
          <p:cNvPr id="101" name="Textfeld 101">
            <a:extLst>
              <a:ext uri="{FF2B5EF4-FFF2-40B4-BE49-F238E27FC236}">
                <a16:creationId xmlns:a16="http://schemas.microsoft.com/office/drawing/2014/main" id="{E02D2DD3-5FCF-F126-ED0E-4969E22247E7}"/>
              </a:ext>
            </a:extLst>
          </p:cNvPr>
          <p:cNvSpPr txBox="1"/>
          <p:nvPr/>
        </p:nvSpPr>
        <p:spPr>
          <a:xfrm>
            <a:off x="264291" y="1521050"/>
            <a:ext cx="2460055" cy="276999"/>
          </a:xfrm>
          <a:prstGeom prst="rect">
            <a:avLst/>
          </a:prstGeom>
          <a:noFill/>
        </p:spPr>
        <p:txBody>
          <a:bodyPr wrap="square" rtlCol="0">
            <a:spAutoFit/>
          </a:bodyPr>
          <a:lstStyle/>
          <a:p>
            <a:r>
              <a:rPr lang="de-DE" sz="1200" b="1" dirty="0"/>
              <a:t>Unternehmenscharakteristika</a:t>
            </a:r>
          </a:p>
        </p:txBody>
      </p:sp>
      <p:sp>
        <p:nvSpPr>
          <p:cNvPr id="114" name="Rechteck 10">
            <a:extLst>
              <a:ext uri="{FF2B5EF4-FFF2-40B4-BE49-F238E27FC236}">
                <a16:creationId xmlns:a16="http://schemas.microsoft.com/office/drawing/2014/main" id="{A0E3064D-1DF9-8B86-490B-BAD50C9CFCE7}"/>
              </a:ext>
            </a:extLst>
          </p:cNvPr>
          <p:cNvSpPr/>
          <p:nvPr/>
        </p:nvSpPr>
        <p:spPr>
          <a:xfrm>
            <a:off x="322599" y="3118814"/>
            <a:ext cx="2092773"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Ertragskraft vollständig übertragbar</a:t>
            </a:r>
          </a:p>
        </p:txBody>
      </p:sp>
      <p:sp>
        <p:nvSpPr>
          <p:cNvPr id="115" name="Rechteck 10">
            <a:extLst>
              <a:ext uri="{FF2B5EF4-FFF2-40B4-BE49-F238E27FC236}">
                <a16:creationId xmlns:a16="http://schemas.microsoft.com/office/drawing/2014/main" id="{E0D3FDD0-F774-039C-B37C-2175D64D3464}"/>
              </a:ext>
            </a:extLst>
          </p:cNvPr>
          <p:cNvSpPr/>
          <p:nvPr/>
        </p:nvSpPr>
        <p:spPr>
          <a:xfrm>
            <a:off x="2573634" y="3118814"/>
            <a:ext cx="4817767"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Ertragskraft partiell oder temporär übertragbar*</a:t>
            </a:r>
          </a:p>
        </p:txBody>
      </p:sp>
      <p:sp>
        <p:nvSpPr>
          <p:cNvPr id="146" name="Textfeld 35">
            <a:extLst>
              <a:ext uri="{FF2B5EF4-FFF2-40B4-BE49-F238E27FC236}">
                <a16:creationId xmlns:a16="http://schemas.microsoft.com/office/drawing/2014/main" id="{F4FBDA92-5BE9-1F7A-181C-5D11A5D136E4}"/>
              </a:ext>
            </a:extLst>
          </p:cNvPr>
          <p:cNvSpPr txBox="1"/>
          <p:nvPr/>
        </p:nvSpPr>
        <p:spPr>
          <a:xfrm>
            <a:off x="7545790" y="3926479"/>
            <a:ext cx="1346166" cy="1810531"/>
          </a:xfrm>
          <a:prstGeom prst="rect">
            <a:avLst/>
          </a:prstGeom>
          <a:noFill/>
          <a:ln w="12700">
            <a:solidFill>
              <a:srgbClr val="FF0000"/>
            </a:solidFill>
            <a:prstDash val="dash"/>
          </a:ln>
        </p:spPr>
        <p:txBody>
          <a:bodyPr wrap="square" tIns="108000" rtlCol="0" anchor="t">
            <a:noAutofit/>
          </a:bodyPr>
          <a:lstStyle>
            <a:defPPr>
              <a:defRPr lang="de-DE"/>
            </a:defPPr>
            <a:lvl1pPr marL="171450" indent="-171450">
              <a:spcBef>
                <a:spcPts val="300"/>
              </a:spcBef>
              <a:buFont typeface="Arial" panose="020B0604020202020204" pitchFamily="34" charset="0"/>
              <a:buChar char="•"/>
              <a:defRPr sz="1000" b="1">
                <a:solidFill>
                  <a:srgbClr val="32434D"/>
                </a:solidFill>
              </a:defRPr>
            </a:lvl1pPr>
          </a:lstStyle>
          <a:p>
            <a:r>
              <a:rPr lang="de-DE" dirty="0" err="1"/>
              <a:t>Make</a:t>
            </a:r>
            <a:r>
              <a:rPr lang="de-DE" dirty="0"/>
              <a:t> </a:t>
            </a:r>
            <a:r>
              <a:rPr lang="de-DE" dirty="0" err="1"/>
              <a:t>or</a:t>
            </a:r>
            <a:r>
              <a:rPr lang="de-DE" dirty="0"/>
              <a:t> Buy </a:t>
            </a:r>
            <a:r>
              <a:rPr lang="de-DE" b="0" dirty="0"/>
              <a:t>/ Reproduktions-Betrachtung</a:t>
            </a:r>
          </a:p>
          <a:p>
            <a:r>
              <a:rPr lang="de-DE" dirty="0"/>
              <a:t>Ersparte Auszahlung </a:t>
            </a:r>
            <a:r>
              <a:rPr lang="de-DE" b="0" dirty="0"/>
              <a:t>bei Gründung</a:t>
            </a:r>
          </a:p>
          <a:p>
            <a:r>
              <a:rPr lang="de-DE" b="0" dirty="0"/>
              <a:t>Bewertung </a:t>
            </a:r>
            <a:r>
              <a:rPr lang="de-DE" dirty="0"/>
              <a:t>Arbeitsplatz</a:t>
            </a:r>
          </a:p>
          <a:p>
            <a:r>
              <a:rPr lang="de-DE" dirty="0"/>
              <a:t>Liquidationswert</a:t>
            </a:r>
          </a:p>
        </p:txBody>
      </p:sp>
      <p:sp>
        <p:nvSpPr>
          <p:cNvPr id="151" name="Rechteck 10">
            <a:extLst>
              <a:ext uri="{FF2B5EF4-FFF2-40B4-BE49-F238E27FC236}">
                <a16:creationId xmlns:a16="http://schemas.microsoft.com/office/drawing/2014/main" id="{7DB43804-D0B6-5746-D74C-428F4E7B3DF1}"/>
              </a:ext>
            </a:extLst>
          </p:cNvPr>
          <p:cNvSpPr/>
          <p:nvPr/>
        </p:nvSpPr>
        <p:spPr>
          <a:xfrm>
            <a:off x="7549662" y="3127065"/>
            <a:ext cx="134229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Nicht / kaum übertragbar</a:t>
            </a:r>
          </a:p>
        </p:txBody>
      </p:sp>
      <p:cxnSp>
        <p:nvCxnSpPr>
          <p:cNvPr id="6" name="Straight Arrow Connector 5">
            <a:extLst>
              <a:ext uri="{FF2B5EF4-FFF2-40B4-BE49-F238E27FC236}">
                <a16:creationId xmlns:a16="http://schemas.microsoft.com/office/drawing/2014/main" id="{75DE1073-FC1E-082F-2A7F-8472742FD345}"/>
              </a:ext>
            </a:extLst>
          </p:cNvPr>
          <p:cNvCxnSpPr>
            <a:cxnSpLocks/>
            <a:stCxn id="115" idx="2"/>
            <a:endCxn id="11" idx="0"/>
          </p:cNvCxnSpPr>
          <p:nvPr/>
        </p:nvCxnSpPr>
        <p:spPr>
          <a:xfrm>
            <a:off x="4982518" y="3508951"/>
            <a:ext cx="0" cy="43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D83AEE-0F7F-B7CF-6FA1-500636C00228}"/>
              </a:ext>
            </a:extLst>
          </p:cNvPr>
          <p:cNvCxnSpPr>
            <a:cxnSpLocks/>
            <a:stCxn id="151" idx="2"/>
            <a:endCxn id="146" idx="0"/>
          </p:cNvCxnSpPr>
          <p:nvPr/>
        </p:nvCxnSpPr>
        <p:spPr>
          <a:xfrm flipH="1">
            <a:off x="8218873" y="3517202"/>
            <a:ext cx="1936" cy="409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EB5A6AE-6159-14A3-EB6F-ECDED72ED491}"/>
              </a:ext>
            </a:extLst>
          </p:cNvPr>
          <p:cNvCxnSpPr>
            <a:cxnSpLocks/>
            <a:stCxn id="114" idx="2"/>
            <a:endCxn id="10" idx="0"/>
          </p:cNvCxnSpPr>
          <p:nvPr/>
        </p:nvCxnSpPr>
        <p:spPr>
          <a:xfrm>
            <a:off x="1368986" y="3508951"/>
            <a:ext cx="6924" cy="43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Gleichschenkliges Dreieck 11">
            <a:extLst>
              <a:ext uri="{FF2B5EF4-FFF2-40B4-BE49-F238E27FC236}">
                <a16:creationId xmlns:a16="http://schemas.microsoft.com/office/drawing/2014/main" id="{D0045C7C-565A-9F01-CCAA-B6B3B33F0321}"/>
              </a:ext>
            </a:extLst>
          </p:cNvPr>
          <p:cNvSpPr/>
          <p:nvPr/>
        </p:nvSpPr>
        <p:spPr>
          <a:xfrm rot="5400000" flipV="1">
            <a:off x="4387139" y="1758589"/>
            <a:ext cx="461667" cy="8570791"/>
          </a:xfrm>
          <a:prstGeom prst="triangle">
            <a:avLst>
              <a:gd name="adj" fmla="val 100000"/>
            </a:avLst>
          </a:prstGeom>
          <a:solidFill>
            <a:srgbClr val="002060"/>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l"/>
            <a:endParaRPr lang="de-DE" sz="1200" b="1" dirty="0">
              <a:solidFill>
                <a:srgbClr val="8BAABF"/>
              </a:solidFill>
            </a:endParaRPr>
          </a:p>
        </p:txBody>
      </p:sp>
      <p:sp>
        <p:nvSpPr>
          <p:cNvPr id="5" name="Textfeld 12">
            <a:extLst>
              <a:ext uri="{FF2B5EF4-FFF2-40B4-BE49-F238E27FC236}">
                <a16:creationId xmlns:a16="http://schemas.microsoft.com/office/drawing/2014/main" id="{3E486784-F641-4238-95BB-AD391E231758}"/>
              </a:ext>
            </a:extLst>
          </p:cNvPr>
          <p:cNvSpPr txBox="1"/>
          <p:nvPr/>
        </p:nvSpPr>
        <p:spPr>
          <a:xfrm>
            <a:off x="6426358" y="5933089"/>
            <a:ext cx="2160839" cy="276999"/>
          </a:xfrm>
          <a:prstGeom prst="rect">
            <a:avLst/>
          </a:prstGeom>
          <a:noFill/>
        </p:spPr>
        <p:txBody>
          <a:bodyPr wrap="square" rtlCol="0">
            <a:spAutoFit/>
          </a:bodyPr>
          <a:lstStyle/>
          <a:p>
            <a:pPr algn="r"/>
            <a:r>
              <a:rPr lang="de-DE" sz="1200" b="1" dirty="0">
                <a:solidFill>
                  <a:schemeClr val="bg1"/>
                </a:solidFill>
              </a:rPr>
              <a:t>Anpassungsbedarf</a:t>
            </a:r>
          </a:p>
        </p:txBody>
      </p:sp>
      <p:sp>
        <p:nvSpPr>
          <p:cNvPr id="8" name="Textplatzhalter 2">
            <a:extLst>
              <a:ext uri="{FF2B5EF4-FFF2-40B4-BE49-F238E27FC236}">
                <a16:creationId xmlns:a16="http://schemas.microsoft.com/office/drawing/2014/main" id="{69FD8F83-345B-DDA6-4905-73BD583AAF9E}"/>
              </a:ext>
            </a:extLst>
          </p:cNvPr>
          <p:cNvSpPr txBox="1">
            <a:spLocks/>
          </p:cNvSpPr>
          <p:nvPr/>
        </p:nvSpPr>
        <p:spPr>
          <a:xfrm>
            <a:off x="2576513" y="3509321"/>
            <a:ext cx="4794117" cy="318768"/>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buClr>
                <a:srgbClr val="002060"/>
              </a:buClr>
            </a:pPr>
            <a:r>
              <a:rPr lang="de-DE" sz="800" dirty="0"/>
              <a:t>* Die Dauerhaftigkeit der Kombination aus materiellen und immateriellen Vermögenswerten ist nicht gegeben, die Ertragskraft des wirtschaftlichen Verbundes muss (teilweise) neu geschaffen werden</a:t>
            </a:r>
          </a:p>
        </p:txBody>
      </p:sp>
    </p:spTree>
    <p:extLst>
      <p:ext uri="{BB962C8B-B14F-4D97-AF65-F5344CB8AC3E}">
        <p14:creationId xmlns:p14="http://schemas.microsoft.com/office/powerpoint/2010/main" val="4128830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21</a:t>
            </a:fld>
            <a:endParaRPr lang="en-US" dirty="0"/>
          </a:p>
        </p:txBody>
      </p:sp>
      <p:sp>
        <p:nvSpPr>
          <p:cNvPr id="4" name="Textplatzhalter 3"/>
          <p:cNvSpPr>
            <a:spLocks noGrp="1"/>
          </p:cNvSpPr>
          <p:nvPr>
            <p:ph type="body" sz="quarter" idx="4294967295"/>
          </p:nvPr>
        </p:nvSpPr>
        <p:spPr>
          <a:xfrm>
            <a:off x="288526" y="184376"/>
            <a:ext cx="9078058" cy="896937"/>
          </a:xfrm>
        </p:spPr>
        <p:txBody>
          <a:bodyPr vert="horz" lIns="0" tIns="45720" rIns="91440" bIns="45720" rtlCol="0" anchor="ctr">
            <a:normAutofit/>
          </a:bodyPr>
          <a:lstStyle/>
          <a:p>
            <a:pPr marL="0" indent="0">
              <a:buNone/>
            </a:pPr>
            <a:r>
              <a:rPr lang="de-DE" sz="2100" dirty="0"/>
              <a:t>Für eine sachgerechte Bewertung nach IDW S1 (unter Beachtung PH 1/2014) sind immer (einzel-)fallgerechte Annahmen zu treffen</a:t>
            </a:r>
          </a:p>
        </p:txBody>
      </p:sp>
      <p:sp>
        <p:nvSpPr>
          <p:cNvPr id="3" name="Rechteck 10">
            <a:extLst>
              <a:ext uri="{FF2B5EF4-FFF2-40B4-BE49-F238E27FC236}">
                <a16:creationId xmlns:a16="http://schemas.microsoft.com/office/drawing/2014/main" id="{95F4C1AA-1D0D-28B0-3EF2-D9455C6B6B2A}"/>
              </a:ext>
            </a:extLst>
          </p:cNvPr>
          <p:cNvSpPr/>
          <p:nvPr/>
        </p:nvSpPr>
        <p:spPr>
          <a:xfrm>
            <a:off x="2602520" y="2461433"/>
            <a:ext cx="2321298" cy="468314"/>
          </a:xfrm>
          <a:prstGeom prst="rect">
            <a:avLst/>
          </a:prstGeom>
          <a:solidFill>
            <a:schemeClr val="bg1"/>
          </a:solidFill>
          <a:ln w="12700">
            <a:solidFill>
              <a:srgbClr val="8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rgbClr val="000000"/>
                </a:solidFill>
              </a:rPr>
              <a:t>Inhaber bleibt im Unternehmen / wirkt weiter mit</a:t>
            </a:r>
          </a:p>
        </p:txBody>
      </p:sp>
      <p:sp>
        <p:nvSpPr>
          <p:cNvPr id="5" name="Rechteck 10">
            <a:extLst>
              <a:ext uri="{FF2B5EF4-FFF2-40B4-BE49-F238E27FC236}">
                <a16:creationId xmlns:a16="http://schemas.microsoft.com/office/drawing/2014/main" id="{87BE401E-46B9-CA80-463F-C27A6F2A389A}"/>
              </a:ext>
            </a:extLst>
          </p:cNvPr>
          <p:cNvSpPr/>
          <p:nvPr/>
        </p:nvSpPr>
        <p:spPr>
          <a:xfrm>
            <a:off x="5023338" y="2461433"/>
            <a:ext cx="2365436" cy="468314"/>
          </a:xfrm>
          <a:prstGeom prst="rect">
            <a:avLst/>
          </a:prstGeom>
          <a:solidFill>
            <a:schemeClr val="bg1"/>
          </a:solidFill>
          <a:ln w="12700">
            <a:solidFill>
              <a:srgbClr val="8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rgbClr val="000000"/>
                </a:solidFill>
              </a:rPr>
              <a:t>Inhaber verlässt Unternehmen / wirkt nicht weiter mit</a:t>
            </a:r>
          </a:p>
        </p:txBody>
      </p:sp>
      <p:sp>
        <p:nvSpPr>
          <p:cNvPr id="11" name="Textfeld 35">
            <a:extLst>
              <a:ext uri="{FF2B5EF4-FFF2-40B4-BE49-F238E27FC236}">
                <a16:creationId xmlns:a16="http://schemas.microsoft.com/office/drawing/2014/main" id="{700398F4-E008-C5AD-8039-C193E7BE02D7}"/>
              </a:ext>
            </a:extLst>
          </p:cNvPr>
          <p:cNvSpPr txBox="1"/>
          <p:nvPr/>
        </p:nvSpPr>
        <p:spPr>
          <a:xfrm>
            <a:off x="2602520" y="3614698"/>
            <a:ext cx="2319882" cy="1988240"/>
          </a:xfrm>
          <a:prstGeom prst="rect">
            <a:avLst/>
          </a:prstGeom>
          <a:noFill/>
          <a:ln w="12700">
            <a:solidFill>
              <a:srgbClr val="FF0000"/>
            </a:solidFill>
            <a:prstDash val="dash"/>
          </a:ln>
        </p:spPr>
        <p:txBody>
          <a:bodyPr wrap="square" tIns="72000" rtlCol="0" anchor="t" anchorCtr="0">
            <a:noAutofit/>
          </a:bodyPr>
          <a:lstStyle>
            <a:defPPr>
              <a:defRPr lang="de-DE"/>
            </a:defPPr>
            <a:lvl1pPr marL="171450" indent="-171450">
              <a:lnSpc>
                <a:spcPct val="150000"/>
              </a:lnSpc>
              <a:buFont typeface="Arial" panose="020B0604020202020204" pitchFamily="34" charset="0"/>
              <a:buChar char="•"/>
              <a:defRPr sz="1000" b="1"/>
            </a:lvl1pPr>
          </a:lstStyle>
          <a:p>
            <a:pPr>
              <a:lnSpc>
                <a:spcPct val="100000"/>
              </a:lnSpc>
              <a:spcBef>
                <a:spcPts val="300"/>
              </a:spcBef>
            </a:pPr>
            <a:r>
              <a:rPr lang="de-DE" dirty="0">
                <a:solidFill>
                  <a:srgbClr val="32434D"/>
                </a:solidFill>
              </a:rPr>
              <a:t>Ggf. Renteneintritt oder anderes Datum als Enddatum, bis dahin 100% Übertragbarkeit</a:t>
            </a:r>
          </a:p>
          <a:p>
            <a:pPr>
              <a:lnSpc>
                <a:spcPct val="100000"/>
              </a:lnSpc>
              <a:spcBef>
                <a:spcPts val="300"/>
              </a:spcBef>
            </a:pPr>
            <a:r>
              <a:rPr lang="de-DE" dirty="0">
                <a:solidFill>
                  <a:srgbClr val="32434D"/>
                </a:solidFill>
              </a:rPr>
              <a:t>Abschmelzen Überrenditen / Umsätze, </a:t>
            </a:r>
          </a:p>
          <a:p>
            <a:pPr>
              <a:lnSpc>
                <a:spcPct val="100000"/>
              </a:lnSpc>
              <a:spcBef>
                <a:spcPts val="300"/>
              </a:spcBef>
            </a:pPr>
            <a:r>
              <a:rPr lang="de-DE" dirty="0">
                <a:solidFill>
                  <a:srgbClr val="32434D"/>
                </a:solidFill>
              </a:rPr>
              <a:t>ggf. Insolvenzwahrscheinlichkeit in der </a:t>
            </a:r>
            <a:r>
              <a:rPr lang="de-DE" dirty="0">
                <a:solidFill>
                  <a:srgbClr val="32434D"/>
                </a:solidFill>
                <a:highlight>
                  <a:srgbClr val="FFFF00"/>
                </a:highlight>
              </a:rPr>
              <a:t>ewigen Rente oder eigenes Szenario</a:t>
            </a:r>
          </a:p>
          <a:p>
            <a:pPr>
              <a:lnSpc>
                <a:spcPct val="100000"/>
              </a:lnSpc>
              <a:spcBef>
                <a:spcPts val="300"/>
              </a:spcBef>
            </a:pPr>
            <a:r>
              <a:rPr lang="de-DE" dirty="0">
                <a:solidFill>
                  <a:srgbClr val="32434D"/>
                </a:solidFill>
              </a:rPr>
              <a:t>Ggf. Liquidationswert als Endwert</a:t>
            </a:r>
          </a:p>
          <a:p>
            <a:endParaRPr lang="de-DE" dirty="0"/>
          </a:p>
        </p:txBody>
      </p:sp>
      <p:cxnSp>
        <p:nvCxnSpPr>
          <p:cNvPr id="13" name="Connector: Elbow 12">
            <a:extLst>
              <a:ext uri="{FF2B5EF4-FFF2-40B4-BE49-F238E27FC236}">
                <a16:creationId xmlns:a16="http://schemas.microsoft.com/office/drawing/2014/main" id="{B740D9E0-9480-8AA8-2322-2504A7A8BFF1}"/>
              </a:ext>
            </a:extLst>
          </p:cNvPr>
          <p:cNvCxnSpPr>
            <a:cxnSpLocks/>
            <a:stCxn id="115" idx="2"/>
            <a:endCxn id="3" idx="0"/>
          </p:cNvCxnSpPr>
          <p:nvPr/>
        </p:nvCxnSpPr>
        <p:spPr>
          <a:xfrm rot="5400000">
            <a:off x="4130843" y="1609758"/>
            <a:ext cx="484002" cy="12193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feld 35">
            <a:extLst>
              <a:ext uri="{FF2B5EF4-FFF2-40B4-BE49-F238E27FC236}">
                <a16:creationId xmlns:a16="http://schemas.microsoft.com/office/drawing/2014/main" id="{F71D140E-9FED-99D3-F6C5-A65C5B949D72}"/>
              </a:ext>
            </a:extLst>
          </p:cNvPr>
          <p:cNvSpPr txBox="1"/>
          <p:nvPr/>
        </p:nvSpPr>
        <p:spPr>
          <a:xfrm>
            <a:off x="5026456" y="3614697"/>
            <a:ext cx="2365436" cy="1988240"/>
          </a:xfrm>
          <a:prstGeom prst="rect">
            <a:avLst/>
          </a:prstGeom>
          <a:noFill/>
          <a:ln w="12700">
            <a:solidFill>
              <a:srgbClr val="FF0000"/>
            </a:solidFill>
            <a:prstDash val="dash"/>
          </a:ln>
        </p:spPr>
        <p:txBody>
          <a:bodyPr wrap="square" tIns="72000" rtlCol="0" anchor="t" anchorCtr="0">
            <a:noAutofit/>
          </a:bodyPr>
          <a:lstStyle>
            <a:defPPr>
              <a:defRPr lang="de-DE"/>
            </a:defPPr>
            <a:lvl1pPr marL="171450" indent="-171450">
              <a:lnSpc>
                <a:spcPct val="150000"/>
              </a:lnSpc>
              <a:buFont typeface="Arial" panose="020B0604020202020204" pitchFamily="34" charset="0"/>
              <a:buChar char="•"/>
              <a:defRPr sz="1000" b="1"/>
            </a:lvl1pPr>
          </a:lstStyle>
          <a:p>
            <a:pPr>
              <a:lnSpc>
                <a:spcPct val="100000"/>
              </a:lnSpc>
              <a:spcBef>
                <a:spcPts val="300"/>
              </a:spcBef>
            </a:pPr>
            <a:r>
              <a:rPr lang="de-DE" dirty="0">
                <a:solidFill>
                  <a:srgbClr val="32434D"/>
                </a:solidFill>
              </a:rPr>
              <a:t>Trennung betrieblicher und persönlicher Goodwill</a:t>
            </a:r>
          </a:p>
          <a:p>
            <a:pPr>
              <a:lnSpc>
                <a:spcPct val="100000"/>
              </a:lnSpc>
              <a:spcBef>
                <a:spcPts val="300"/>
              </a:spcBef>
            </a:pPr>
            <a:r>
              <a:rPr lang="de-DE" dirty="0">
                <a:solidFill>
                  <a:srgbClr val="32434D"/>
                </a:solidFill>
              </a:rPr>
              <a:t>Abschmelzen Überrenditen / Umsätze in der Planungsphase</a:t>
            </a:r>
          </a:p>
          <a:p>
            <a:pPr>
              <a:lnSpc>
                <a:spcPct val="100000"/>
              </a:lnSpc>
              <a:spcBef>
                <a:spcPts val="300"/>
              </a:spcBef>
            </a:pPr>
            <a:r>
              <a:rPr lang="de-DE" dirty="0">
                <a:solidFill>
                  <a:srgbClr val="32434D"/>
                </a:solidFill>
              </a:rPr>
              <a:t>Fremdgeschäftsführer mit Branchenkompetenz ~ branchentypische Margen</a:t>
            </a:r>
          </a:p>
          <a:p>
            <a:pPr>
              <a:lnSpc>
                <a:spcPct val="100000"/>
              </a:lnSpc>
              <a:spcBef>
                <a:spcPts val="300"/>
              </a:spcBef>
            </a:pPr>
            <a:r>
              <a:rPr lang="de-DE" dirty="0">
                <a:solidFill>
                  <a:srgbClr val="32434D"/>
                </a:solidFill>
                <a:highlight>
                  <a:srgbClr val="FFFF00"/>
                </a:highlight>
              </a:rPr>
              <a:t>Unternehmen verdient nur Kapitalkosten auf eingesetztes Kapital im Endwert</a:t>
            </a:r>
          </a:p>
          <a:p>
            <a:pPr>
              <a:lnSpc>
                <a:spcPct val="100000"/>
              </a:lnSpc>
              <a:spcBef>
                <a:spcPts val="300"/>
              </a:spcBef>
            </a:pPr>
            <a:r>
              <a:rPr lang="de-DE" dirty="0">
                <a:solidFill>
                  <a:srgbClr val="32434D"/>
                </a:solidFill>
                <a:highlight>
                  <a:srgbClr val="FFFF00"/>
                </a:highlight>
              </a:rPr>
              <a:t>Ggf. Liquidationswert am Ende</a:t>
            </a:r>
          </a:p>
        </p:txBody>
      </p:sp>
      <p:sp>
        <p:nvSpPr>
          <p:cNvPr id="114" name="Rechteck 10">
            <a:extLst>
              <a:ext uri="{FF2B5EF4-FFF2-40B4-BE49-F238E27FC236}">
                <a16:creationId xmlns:a16="http://schemas.microsoft.com/office/drawing/2014/main" id="{A0E3064D-1DF9-8B86-490B-BAD50C9CFCE7}"/>
              </a:ext>
            </a:extLst>
          </p:cNvPr>
          <p:cNvSpPr/>
          <p:nvPr/>
        </p:nvSpPr>
        <p:spPr>
          <a:xfrm>
            <a:off x="322599" y="1587294"/>
            <a:ext cx="2092773" cy="3901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Ertragskraft vollständig übertragbar</a:t>
            </a:r>
          </a:p>
        </p:txBody>
      </p:sp>
      <p:sp>
        <p:nvSpPr>
          <p:cNvPr id="115" name="Rechteck 10">
            <a:extLst>
              <a:ext uri="{FF2B5EF4-FFF2-40B4-BE49-F238E27FC236}">
                <a16:creationId xmlns:a16="http://schemas.microsoft.com/office/drawing/2014/main" id="{E0D3FDD0-F774-039C-B37C-2175D64D3464}"/>
              </a:ext>
            </a:extLst>
          </p:cNvPr>
          <p:cNvSpPr/>
          <p:nvPr/>
        </p:nvSpPr>
        <p:spPr>
          <a:xfrm>
            <a:off x="2573634" y="1587294"/>
            <a:ext cx="4817767"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Ertragskraft partiell oder temporär übertragbar</a:t>
            </a:r>
          </a:p>
        </p:txBody>
      </p:sp>
      <p:cxnSp>
        <p:nvCxnSpPr>
          <p:cNvPr id="119" name="Straight Arrow Connector 118">
            <a:extLst>
              <a:ext uri="{FF2B5EF4-FFF2-40B4-BE49-F238E27FC236}">
                <a16:creationId xmlns:a16="http://schemas.microsoft.com/office/drawing/2014/main" id="{05CA077C-1717-78D7-9CE6-0A7CAAC605DA}"/>
              </a:ext>
            </a:extLst>
          </p:cNvPr>
          <p:cNvCxnSpPr>
            <a:cxnSpLocks/>
            <a:stCxn id="3" idx="2"/>
            <a:endCxn id="11" idx="0"/>
          </p:cNvCxnSpPr>
          <p:nvPr/>
        </p:nvCxnSpPr>
        <p:spPr>
          <a:xfrm flipH="1">
            <a:off x="3762461" y="2929747"/>
            <a:ext cx="708" cy="68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43C0AA10-96EB-96B4-43EB-72E48C1577A6}"/>
              </a:ext>
            </a:extLst>
          </p:cNvPr>
          <p:cNvCxnSpPr>
            <a:cxnSpLocks/>
            <a:stCxn id="5" idx="2"/>
            <a:endCxn id="53" idx="0"/>
          </p:cNvCxnSpPr>
          <p:nvPr/>
        </p:nvCxnSpPr>
        <p:spPr>
          <a:xfrm>
            <a:off x="6206056" y="2929747"/>
            <a:ext cx="3118" cy="684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F84D3AF8-E698-6402-000D-7D918B11C606}"/>
              </a:ext>
            </a:extLst>
          </p:cNvPr>
          <p:cNvCxnSpPr>
            <a:cxnSpLocks/>
            <a:stCxn id="115" idx="2"/>
            <a:endCxn id="5" idx="0"/>
          </p:cNvCxnSpPr>
          <p:nvPr/>
        </p:nvCxnSpPr>
        <p:spPr>
          <a:xfrm rot="16200000" flipH="1">
            <a:off x="5352286" y="1607663"/>
            <a:ext cx="484002" cy="122353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Rechteck 10">
            <a:extLst>
              <a:ext uri="{FF2B5EF4-FFF2-40B4-BE49-F238E27FC236}">
                <a16:creationId xmlns:a16="http://schemas.microsoft.com/office/drawing/2014/main" id="{7DB43804-D0B6-5746-D74C-428F4E7B3DF1}"/>
              </a:ext>
            </a:extLst>
          </p:cNvPr>
          <p:cNvSpPr/>
          <p:nvPr/>
        </p:nvSpPr>
        <p:spPr>
          <a:xfrm>
            <a:off x="7549662" y="1595545"/>
            <a:ext cx="1342294" cy="3901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nicht übertragbar</a:t>
            </a:r>
          </a:p>
        </p:txBody>
      </p:sp>
      <p:sp>
        <p:nvSpPr>
          <p:cNvPr id="12" name="Textfeld 101">
            <a:extLst>
              <a:ext uri="{FF2B5EF4-FFF2-40B4-BE49-F238E27FC236}">
                <a16:creationId xmlns:a16="http://schemas.microsoft.com/office/drawing/2014/main" id="{3FC2D787-CAF8-78EE-D2B3-C4CED5F1EB7D}"/>
              </a:ext>
            </a:extLst>
          </p:cNvPr>
          <p:cNvSpPr txBox="1"/>
          <p:nvPr/>
        </p:nvSpPr>
        <p:spPr>
          <a:xfrm>
            <a:off x="2169131" y="2169353"/>
            <a:ext cx="1515364" cy="246221"/>
          </a:xfrm>
          <a:prstGeom prst="rect">
            <a:avLst/>
          </a:prstGeom>
          <a:noFill/>
        </p:spPr>
        <p:txBody>
          <a:bodyPr wrap="square" rtlCol="0">
            <a:spAutoFit/>
          </a:bodyPr>
          <a:lstStyle/>
          <a:p>
            <a:pPr algn="r"/>
            <a:r>
              <a:rPr lang="de-DE" sz="1000" b="1" dirty="0"/>
              <a:t>Anlass / Faktoren</a:t>
            </a:r>
          </a:p>
        </p:txBody>
      </p:sp>
      <p:sp>
        <p:nvSpPr>
          <p:cNvPr id="6" name="Rectangle 5">
            <a:extLst>
              <a:ext uri="{FF2B5EF4-FFF2-40B4-BE49-F238E27FC236}">
                <a16:creationId xmlns:a16="http://schemas.microsoft.com/office/drawing/2014/main" id="{C05C3DE6-3DDD-5E1E-CD25-A70F828CA725}"/>
              </a:ext>
            </a:extLst>
          </p:cNvPr>
          <p:cNvSpPr/>
          <p:nvPr/>
        </p:nvSpPr>
        <p:spPr>
          <a:xfrm>
            <a:off x="7727707" y="184376"/>
            <a:ext cx="1855694" cy="1600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r>
              <a:rPr lang="de-DE" sz="1200" b="1" dirty="0">
                <a:solidFill>
                  <a:srgbClr val="FF0000"/>
                </a:solidFill>
              </a:rPr>
              <a:t>Abstimmen mit MuM-Systematik und </a:t>
            </a:r>
            <a:r>
              <a:rPr lang="de-DE" sz="1200" b="1" dirty="0" err="1">
                <a:solidFill>
                  <a:srgbClr val="FF0000"/>
                </a:solidFill>
              </a:rPr>
              <a:t>Präse</a:t>
            </a:r>
            <a:r>
              <a:rPr lang="de-DE" sz="1200" b="1" dirty="0">
                <a:solidFill>
                  <a:srgbClr val="FF0000"/>
                </a:solidFill>
              </a:rPr>
              <a:t> Kniest</a:t>
            </a:r>
            <a:endParaRPr lang="en-US" sz="1200" b="1" dirty="0">
              <a:solidFill>
                <a:srgbClr val="FF0000"/>
              </a:solidFill>
            </a:endParaRPr>
          </a:p>
        </p:txBody>
      </p:sp>
      <p:sp>
        <p:nvSpPr>
          <p:cNvPr id="7" name="Textplatzhalter 2">
            <a:extLst>
              <a:ext uri="{FF2B5EF4-FFF2-40B4-BE49-F238E27FC236}">
                <a16:creationId xmlns:a16="http://schemas.microsoft.com/office/drawing/2014/main" id="{CAEE6D00-3099-49A0-C01E-F5C33B11F315}"/>
              </a:ext>
            </a:extLst>
          </p:cNvPr>
          <p:cNvSpPr txBox="1">
            <a:spLocks/>
          </p:cNvSpPr>
          <p:nvPr/>
        </p:nvSpPr>
        <p:spPr>
          <a:xfrm>
            <a:off x="249386" y="5459414"/>
            <a:ext cx="9204177" cy="896937"/>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r>
              <a:rPr lang="de-DE" sz="1100" dirty="0"/>
              <a:t>Die Annahmen zum Verbleib der Eigentümer sind anlassbezogen zu würdigen. Im Rahmen von Transkationen finden sich häufig vertragliche Regelungen zum Verbleib, im Rahmen von Schenkungen wird häufig implizit vereinbart, dass der Eigentümer weiterhin für das Unternehmen tätig ist. Zu diskutieren sind die Annahmen des Familienrechts, wenn der Ehepartner weiterhin für das Unternehmen tätig ist</a:t>
            </a:r>
          </a:p>
        </p:txBody>
      </p:sp>
      <p:sp>
        <p:nvSpPr>
          <p:cNvPr id="8" name="Text Placeholder 6">
            <a:extLst>
              <a:ext uri="{FF2B5EF4-FFF2-40B4-BE49-F238E27FC236}">
                <a16:creationId xmlns:a16="http://schemas.microsoft.com/office/drawing/2014/main" id="{A69BA756-6222-B8EB-6BDD-4BBF338F9821}"/>
              </a:ext>
            </a:extLst>
          </p:cNvPr>
          <p:cNvSpPr txBox="1">
            <a:spLocks/>
          </p:cNvSpPr>
          <p:nvPr/>
        </p:nvSpPr>
        <p:spPr>
          <a:xfrm>
            <a:off x="288526" y="5260095"/>
            <a:ext cx="4555947" cy="315077"/>
          </a:xfrm>
          <a:prstGeom prst="rect">
            <a:avLst/>
          </a:prstGeom>
        </p:spPr>
        <p:txBody>
          <a:bodyPr vert="horz" lIns="0" tIns="0" rIns="0" bIns="45720" rtlCol="0" anchor="ctr" anchorCtr="0">
            <a:noAutofit/>
          </a:bodyPr>
          <a:lstStyle>
            <a:lvl1pPr marL="0" indent="0" algn="l" defTabSz="685800" rtl="0" eaLnBrk="1" latinLnBrk="0" hangingPunct="1">
              <a:lnSpc>
                <a:spcPct val="90000"/>
              </a:lnSpc>
              <a:spcBef>
                <a:spcPts val="750"/>
              </a:spcBef>
              <a:buClr>
                <a:srgbClr val="1792BA"/>
              </a:buClr>
              <a:buFont typeface="+mj-lt"/>
              <a:buNone/>
              <a:defRPr sz="1200" b="1" kern="1200" baseline="0">
                <a:solidFill>
                  <a:srgbClr val="8BAABF"/>
                </a:solidFill>
                <a:latin typeface="+mn-lt"/>
                <a:ea typeface="+mn-ea"/>
                <a:cs typeface="+mn-cs"/>
              </a:defRPr>
            </a:lvl1pPr>
            <a:lvl2pPr marL="914400" indent="-457200" algn="l" defTabSz="685800" rtl="0" eaLnBrk="1" latinLnBrk="0" hangingPunct="1">
              <a:lnSpc>
                <a:spcPct val="90000"/>
              </a:lnSpc>
              <a:spcBef>
                <a:spcPts val="375"/>
              </a:spcBef>
              <a:buClr>
                <a:srgbClr val="1792BA"/>
              </a:buClr>
              <a:buFont typeface="+mj-lt"/>
              <a:buAutoNum type="arabicPeriod"/>
              <a:defRPr sz="1100" kern="1200">
                <a:solidFill>
                  <a:schemeClr val="tx1"/>
                </a:solidFill>
                <a:latin typeface="+mn-lt"/>
                <a:ea typeface="+mn-ea"/>
                <a:cs typeface="+mn-cs"/>
              </a:defRPr>
            </a:lvl2pPr>
            <a:lvl3pPr marL="1371600" indent="-457200" algn="l" defTabSz="685800" rtl="0" eaLnBrk="1" latinLnBrk="0" hangingPunct="1">
              <a:lnSpc>
                <a:spcPct val="90000"/>
              </a:lnSpc>
              <a:spcBef>
                <a:spcPts val="375"/>
              </a:spcBef>
              <a:buClr>
                <a:srgbClr val="1792BA"/>
              </a:buClr>
              <a:buFont typeface="+mj-lt"/>
              <a:buAutoNum type="arabicPeriod"/>
              <a:defRPr sz="1500" kern="1200">
                <a:solidFill>
                  <a:schemeClr val="tx1"/>
                </a:solidFill>
                <a:latin typeface="+mn-lt"/>
                <a:ea typeface="+mn-ea"/>
                <a:cs typeface="+mn-cs"/>
              </a:defRPr>
            </a:lvl3pPr>
            <a:lvl4pPr marL="17145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4pPr>
            <a:lvl5pPr marL="21717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solidFill>
                  <a:srgbClr val="32434D"/>
                </a:solidFill>
              </a:rPr>
              <a:t>Kommentare</a:t>
            </a:r>
            <a:endParaRPr lang="en-US" dirty="0">
              <a:solidFill>
                <a:srgbClr val="32434D"/>
              </a:solidFill>
            </a:endParaRPr>
          </a:p>
        </p:txBody>
      </p:sp>
    </p:spTree>
    <p:extLst>
      <p:ext uri="{BB962C8B-B14F-4D97-AF65-F5344CB8AC3E}">
        <p14:creationId xmlns:p14="http://schemas.microsoft.com/office/powerpoint/2010/main" val="3468792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22</a:t>
            </a:fld>
            <a:endParaRPr lang="en-US" dirty="0"/>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solidFill>
                  <a:srgbClr val="32434D"/>
                </a:solidFill>
              </a:rPr>
              <a:t>Formen der Übertragbarkeit – Abschmelzverläufe</a:t>
            </a:r>
          </a:p>
        </p:txBody>
      </p:sp>
      <p:sp>
        <p:nvSpPr>
          <p:cNvPr id="3" name="Rechteck 10">
            <a:extLst>
              <a:ext uri="{FF2B5EF4-FFF2-40B4-BE49-F238E27FC236}">
                <a16:creationId xmlns:a16="http://schemas.microsoft.com/office/drawing/2014/main" id="{FF65C19D-C74B-D75D-C956-0C6E5AD0AD52}"/>
              </a:ext>
            </a:extLst>
          </p:cNvPr>
          <p:cNvSpPr/>
          <p:nvPr/>
        </p:nvSpPr>
        <p:spPr>
          <a:xfrm>
            <a:off x="2714326" y="1886585"/>
            <a:ext cx="2418061"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5" name="Textplatzhalter 2">
            <a:extLst>
              <a:ext uri="{FF2B5EF4-FFF2-40B4-BE49-F238E27FC236}">
                <a16:creationId xmlns:a16="http://schemas.microsoft.com/office/drawing/2014/main" id="{DF3340AD-AB41-0C02-F12B-C59941367563}"/>
              </a:ext>
            </a:extLst>
          </p:cNvPr>
          <p:cNvSpPr txBox="1">
            <a:spLocks/>
          </p:cNvSpPr>
          <p:nvPr/>
        </p:nvSpPr>
        <p:spPr>
          <a:xfrm>
            <a:off x="5378056" y="1869489"/>
            <a:ext cx="4068764" cy="45982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Standortabhängiges Geschäft mit Laufkundschaft, z.B. Tankstelle, Imbissbude, Apotheke Ärztehaus</a:t>
            </a:r>
          </a:p>
        </p:txBody>
      </p:sp>
      <p:sp>
        <p:nvSpPr>
          <p:cNvPr id="6" name="Rechteck 6">
            <a:extLst>
              <a:ext uri="{FF2B5EF4-FFF2-40B4-BE49-F238E27FC236}">
                <a16:creationId xmlns:a16="http://schemas.microsoft.com/office/drawing/2014/main" id="{E8C0C18A-B55A-FE40-D541-FEB062FD0897}"/>
              </a:ext>
            </a:extLst>
          </p:cNvPr>
          <p:cNvSpPr/>
          <p:nvPr/>
        </p:nvSpPr>
        <p:spPr>
          <a:xfrm>
            <a:off x="5384799" y="1427584"/>
            <a:ext cx="4068763"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Beispiele</a:t>
            </a:r>
          </a:p>
        </p:txBody>
      </p:sp>
      <p:sp>
        <p:nvSpPr>
          <p:cNvPr id="8" name="Textfeld 35">
            <a:extLst>
              <a:ext uri="{FF2B5EF4-FFF2-40B4-BE49-F238E27FC236}">
                <a16:creationId xmlns:a16="http://schemas.microsoft.com/office/drawing/2014/main" id="{C11B6E74-D28E-E276-7C07-643B63D6C964}"/>
              </a:ext>
            </a:extLst>
          </p:cNvPr>
          <p:cNvSpPr txBox="1"/>
          <p:nvPr/>
        </p:nvSpPr>
        <p:spPr>
          <a:xfrm>
            <a:off x="262532" y="1886585"/>
            <a:ext cx="1279924" cy="387983"/>
          </a:xfrm>
          <a:prstGeom prst="rect">
            <a:avLst/>
          </a:prstGeom>
          <a:noFill/>
          <a:ln w="12700">
            <a:solidFill>
              <a:srgbClr val="002060"/>
            </a:solidFill>
            <a:prstDash val="dash"/>
          </a:ln>
        </p:spPr>
        <p:txBody>
          <a:bodyPr wrap="square" rtlCol="0" anchor="ctr">
            <a:noAutofit/>
          </a:bodyPr>
          <a:lstStyle/>
          <a:p>
            <a:r>
              <a:rPr lang="de-DE" sz="1100" b="1" dirty="0"/>
              <a:t>Dauerhaft</a:t>
            </a:r>
          </a:p>
        </p:txBody>
      </p:sp>
      <p:sp>
        <p:nvSpPr>
          <p:cNvPr id="9" name="Textfeld 35">
            <a:extLst>
              <a:ext uri="{FF2B5EF4-FFF2-40B4-BE49-F238E27FC236}">
                <a16:creationId xmlns:a16="http://schemas.microsoft.com/office/drawing/2014/main" id="{5F0DE887-CD35-A648-A487-CEA035B036C4}"/>
              </a:ext>
            </a:extLst>
          </p:cNvPr>
          <p:cNvSpPr txBox="1"/>
          <p:nvPr/>
        </p:nvSpPr>
        <p:spPr>
          <a:xfrm>
            <a:off x="262532" y="3775143"/>
            <a:ext cx="1279924" cy="387983"/>
          </a:xfrm>
          <a:prstGeom prst="rect">
            <a:avLst/>
          </a:prstGeom>
          <a:noFill/>
          <a:ln w="12700">
            <a:solidFill>
              <a:srgbClr val="002060"/>
            </a:solidFill>
            <a:prstDash val="dash"/>
          </a:ln>
        </p:spPr>
        <p:txBody>
          <a:bodyPr wrap="square" rtlCol="0" anchor="ctr">
            <a:noAutofit/>
          </a:bodyPr>
          <a:lstStyle/>
          <a:p>
            <a:r>
              <a:rPr lang="de-DE" sz="1100" b="1" dirty="0"/>
              <a:t>Temporär</a:t>
            </a:r>
          </a:p>
        </p:txBody>
      </p:sp>
      <p:sp>
        <p:nvSpPr>
          <p:cNvPr id="10" name="Textfeld 35">
            <a:extLst>
              <a:ext uri="{FF2B5EF4-FFF2-40B4-BE49-F238E27FC236}">
                <a16:creationId xmlns:a16="http://schemas.microsoft.com/office/drawing/2014/main" id="{19032BBD-59ED-10D6-EA1D-E32B27A5EC40}"/>
              </a:ext>
            </a:extLst>
          </p:cNvPr>
          <p:cNvSpPr txBox="1"/>
          <p:nvPr/>
        </p:nvSpPr>
        <p:spPr>
          <a:xfrm>
            <a:off x="262532" y="4719422"/>
            <a:ext cx="1279924" cy="387983"/>
          </a:xfrm>
          <a:prstGeom prst="rect">
            <a:avLst/>
          </a:prstGeom>
          <a:noFill/>
          <a:ln w="12700">
            <a:solidFill>
              <a:srgbClr val="002060"/>
            </a:solidFill>
            <a:prstDash val="dash"/>
          </a:ln>
        </p:spPr>
        <p:txBody>
          <a:bodyPr wrap="square" rtlCol="0" anchor="ctr">
            <a:noAutofit/>
          </a:bodyPr>
          <a:lstStyle/>
          <a:p>
            <a:r>
              <a:rPr lang="de-DE" sz="1100" b="1" dirty="0"/>
              <a:t>Temporär verzögert</a:t>
            </a:r>
          </a:p>
        </p:txBody>
      </p:sp>
      <p:sp>
        <p:nvSpPr>
          <p:cNvPr id="11" name="Textfeld 35">
            <a:extLst>
              <a:ext uri="{FF2B5EF4-FFF2-40B4-BE49-F238E27FC236}">
                <a16:creationId xmlns:a16="http://schemas.microsoft.com/office/drawing/2014/main" id="{7C54919B-9D1B-8842-DC75-231B7F857503}"/>
              </a:ext>
            </a:extLst>
          </p:cNvPr>
          <p:cNvSpPr txBox="1"/>
          <p:nvPr/>
        </p:nvSpPr>
        <p:spPr>
          <a:xfrm>
            <a:off x="262532" y="5665854"/>
            <a:ext cx="1279924" cy="387983"/>
          </a:xfrm>
          <a:prstGeom prst="rect">
            <a:avLst/>
          </a:prstGeom>
          <a:noFill/>
          <a:ln w="12700">
            <a:solidFill>
              <a:srgbClr val="002060"/>
            </a:solidFill>
            <a:prstDash val="dash"/>
          </a:ln>
        </p:spPr>
        <p:txBody>
          <a:bodyPr wrap="square" rtlCol="0" anchor="ctr">
            <a:noAutofit/>
          </a:bodyPr>
          <a:lstStyle/>
          <a:p>
            <a:r>
              <a:rPr lang="de-DE" sz="1100" b="1" dirty="0"/>
              <a:t>Gar nicht</a:t>
            </a:r>
          </a:p>
        </p:txBody>
      </p:sp>
      <p:sp>
        <p:nvSpPr>
          <p:cNvPr id="12" name="Rechteck 6">
            <a:extLst>
              <a:ext uri="{FF2B5EF4-FFF2-40B4-BE49-F238E27FC236}">
                <a16:creationId xmlns:a16="http://schemas.microsoft.com/office/drawing/2014/main" id="{EA0EFBAC-432A-FECD-7933-60D24A41439B}"/>
              </a:ext>
            </a:extLst>
          </p:cNvPr>
          <p:cNvSpPr/>
          <p:nvPr/>
        </p:nvSpPr>
        <p:spPr>
          <a:xfrm>
            <a:off x="275038" y="1427584"/>
            <a:ext cx="1515261"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Art</a:t>
            </a:r>
          </a:p>
        </p:txBody>
      </p:sp>
      <p:sp>
        <p:nvSpPr>
          <p:cNvPr id="13" name="Rechteck 6">
            <a:extLst>
              <a:ext uri="{FF2B5EF4-FFF2-40B4-BE49-F238E27FC236}">
                <a16:creationId xmlns:a16="http://schemas.microsoft.com/office/drawing/2014/main" id="{EA4A6DDB-B2BD-A745-F738-1085EAB10449}"/>
              </a:ext>
            </a:extLst>
          </p:cNvPr>
          <p:cNvSpPr/>
          <p:nvPr/>
        </p:nvSpPr>
        <p:spPr>
          <a:xfrm>
            <a:off x="1790299" y="1427584"/>
            <a:ext cx="3162701"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Beispielhafter Verlauf*</a:t>
            </a:r>
          </a:p>
        </p:txBody>
      </p:sp>
      <p:cxnSp>
        <p:nvCxnSpPr>
          <p:cNvPr id="15" name="Gerader Verbinder 95">
            <a:extLst>
              <a:ext uri="{FF2B5EF4-FFF2-40B4-BE49-F238E27FC236}">
                <a16:creationId xmlns:a16="http://schemas.microsoft.com/office/drawing/2014/main" id="{1DB0EC7A-39C5-2018-B1F0-3FBB3B88E9AC}"/>
              </a:ext>
            </a:extLst>
          </p:cNvPr>
          <p:cNvCxnSpPr>
            <a:cxnSpLocks/>
          </p:cNvCxnSpPr>
          <p:nvPr/>
        </p:nvCxnSpPr>
        <p:spPr>
          <a:xfrm>
            <a:off x="2577464" y="1842983"/>
            <a:ext cx="0" cy="37338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echteck 10">
            <a:extLst>
              <a:ext uri="{FF2B5EF4-FFF2-40B4-BE49-F238E27FC236}">
                <a16:creationId xmlns:a16="http://schemas.microsoft.com/office/drawing/2014/main" id="{B141C326-4EB4-8240-D5EA-1939E121DFCB}"/>
              </a:ext>
            </a:extLst>
          </p:cNvPr>
          <p:cNvSpPr/>
          <p:nvPr/>
        </p:nvSpPr>
        <p:spPr>
          <a:xfrm>
            <a:off x="1762654" y="1886585"/>
            <a:ext cx="67161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17" name="Rechteck 10">
            <a:extLst>
              <a:ext uri="{FF2B5EF4-FFF2-40B4-BE49-F238E27FC236}">
                <a16:creationId xmlns:a16="http://schemas.microsoft.com/office/drawing/2014/main" id="{ABE3638C-27C4-754F-269D-47C75DE99238}"/>
              </a:ext>
            </a:extLst>
          </p:cNvPr>
          <p:cNvSpPr/>
          <p:nvPr/>
        </p:nvSpPr>
        <p:spPr>
          <a:xfrm>
            <a:off x="1762654" y="3772989"/>
            <a:ext cx="67161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18" name="Rechteck 10">
            <a:extLst>
              <a:ext uri="{FF2B5EF4-FFF2-40B4-BE49-F238E27FC236}">
                <a16:creationId xmlns:a16="http://schemas.microsoft.com/office/drawing/2014/main" id="{F5B13AC7-D0C6-FFA3-E225-6045939259C8}"/>
              </a:ext>
            </a:extLst>
          </p:cNvPr>
          <p:cNvSpPr/>
          <p:nvPr/>
        </p:nvSpPr>
        <p:spPr>
          <a:xfrm>
            <a:off x="1762654" y="4717268"/>
            <a:ext cx="67161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19" name="Rechteck 10">
            <a:extLst>
              <a:ext uri="{FF2B5EF4-FFF2-40B4-BE49-F238E27FC236}">
                <a16:creationId xmlns:a16="http://schemas.microsoft.com/office/drawing/2014/main" id="{259F5AEC-67BD-F83A-53C2-23BE70781283}"/>
              </a:ext>
            </a:extLst>
          </p:cNvPr>
          <p:cNvSpPr/>
          <p:nvPr/>
        </p:nvSpPr>
        <p:spPr>
          <a:xfrm>
            <a:off x="1762654" y="5663700"/>
            <a:ext cx="67161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cxnSp>
        <p:nvCxnSpPr>
          <p:cNvPr id="21" name="Gerader Verbinder 95">
            <a:extLst>
              <a:ext uri="{FF2B5EF4-FFF2-40B4-BE49-F238E27FC236}">
                <a16:creationId xmlns:a16="http://schemas.microsoft.com/office/drawing/2014/main" id="{1C82CCD8-DD4A-8C37-2C7E-2E84BA2D8678}"/>
              </a:ext>
            </a:extLst>
          </p:cNvPr>
          <p:cNvCxnSpPr>
            <a:cxnSpLocks/>
          </p:cNvCxnSpPr>
          <p:nvPr/>
        </p:nvCxnSpPr>
        <p:spPr>
          <a:xfrm flipH="1">
            <a:off x="2714325" y="6053837"/>
            <a:ext cx="2418063"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platzhalter 2">
            <a:extLst>
              <a:ext uri="{FF2B5EF4-FFF2-40B4-BE49-F238E27FC236}">
                <a16:creationId xmlns:a16="http://schemas.microsoft.com/office/drawing/2014/main" id="{9D24EBC3-0757-623D-D987-044BDB93D098}"/>
              </a:ext>
            </a:extLst>
          </p:cNvPr>
          <p:cNvSpPr txBox="1">
            <a:spLocks/>
          </p:cNvSpPr>
          <p:nvPr/>
        </p:nvSpPr>
        <p:spPr>
          <a:xfrm>
            <a:off x="5378056" y="3703303"/>
            <a:ext cx="4068764" cy="45982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Kundenstamm geht langsam verloren, neue Kunden müssen durch Käufer gewonnen werden</a:t>
            </a:r>
          </a:p>
        </p:txBody>
      </p:sp>
      <p:sp>
        <p:nvSpPr>
          <p:cNvPr id="25" name="Textplatzhalter 2">
            <a:extLst>
              <a:ext uri="{FF2B5EF4-FFF2-40B4-BE49-F238E27FC236}">
                <a16:creationId xmlns:a16="http://schemas.microsoft.com/office/drawing/2014/main" id="{8B6B41BF-8A09-37C8-00CA-692F6236A2A2}"/>
              </a:ext>
            </a:extLst>
          </p:cNvPr>
          <p:cNvSpPr txBox="1">
            <a:spLocks/>
          </p:cNvSpPr>
          <p:nvPr/>
        </p:nvSpPr>
        <p:spPr>
          <a:xfrm>
            <a:off x="5378056" y="4647582"/>
            <a:ext cx="4068764" cy="45982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Zunächst feste (Rest-)Laufzeit der Kundenverträge, zunächst durch Patent gesicherte Marktposition; Geschäftsführer bleibt für gewisse Zeit im Unternehmen</a:t>
            </a:r>
          </a:p>
        </p:txBody>
      </p:sp>
      <p:sp>
        <p:nvSpPr>
          <p:cNvPr id="26" name="Textfeld 35">
            <a:extLst>
              <a:ext uri="{FF2B5EF4-FFF2-40B4-BE49-F238E27FC236}">
                <a16:creationId xmlns:a16="http://schemas.microsoft.com/office/drawing/2014/main" id="{ABAB3533-3500-32DC-7FA0-0A9035754EB8}"/>
              </a:ext>
            </a:extLst>
          </p:cNvPr>
          <p:cNvSpPr txBox="1"/>
          <p:nvPr/>
        </p:nvSpPr>
        <p:spPr>
          <a:xfrm>
            <a:off x="236538" y="2830864"/>
            <a:ext cx="1279924" cy="387983"/>
          </a:xfrm>
          <a:prstGeom prst="rect">
            <a:avLst/>
          </a:prstGeom>
          <a:noFill/>
          <a:ln w="12700">
            <a:solidFill>
              <a:srgbClr val="002060"/>
            </a:solidFill>
            <a:prstDash val="dash"/>
          </a:ln>
        </p:spPr>
        <p:txBody>
          <a:bodyPr wrap="square" rtlCol="0" anchor="ctr">
            <a:noAutofit/>
          </a:bodyPr>
          <a:lstStyle/>
          <a:p>
            <a:r>
              <a:rPr lang="de-DE" sz="1100" b="1" dirty="0"/>
              <a:t>Partiell</a:t>
            </a:r>
          </a:p>
        </p:txBody>
      </p:sp>
      <p:sp>
        <p:nvSpPr>
          <p:cNvPr id="27" name="Rechteck 10">
            <a:extLst>
              <a:ext uri="{FF2B5EF4-FFF2-40B4-BE49-F238E27FC236}">
                <a16:creationId xmlns:a16="http://schemas.microsoft.com/office/drawing/2014/main" id="{9853873D-4B9C-E8E3-8B64-2E738628D542}"/>
              </a:ext>
            </a:extLst>
          </p:cNvPr>
          <p:cNvSpPr/>
          <p:nvPr/>
        </p:nvSpPr>
        <p:spPr>
          <a:xfrm>
            <a:off x="2688331" y="3000225"/>
            <a:ext cx="2418061" cy="21862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28" name="Rechteck 10">
            <a:extLst>
              <a:ext uri="{FF2B5EF4-FFF2-40B4-BE49-F238E27FC236}">
                <a16:creationId xmlns:a16="http://schemas.microsoft.com/office/drawing/2014/main" id="{100CDA51-DE1E-49BE-919F-80F2F18D6AA7}"/>
              </a:ext>
            </a:extLst>
          </p:cNvPr>
          <p:cNvSpPr/>
          <p:nvPr/>
        </p:nvSpPr>
        <p:spPr>
          <a:xfrm>
            <a:off x="1736660" y="2828710"/>
            <a:ext cx="671614"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29" name="Textplatzhalter 2">
            <a:extLst>
              <a:ext uri="{FF2B5EF4-FFF2-40B4-BE49-F238E27FC236}">
                <a16:creationId xmlns:a16="http://schemas.microsoft.com/office/drawing/2014/main" id="{4CCB0F7E-38CE-0FF9-4E68-F5DD3D09639E}"/>
              </a:ext>
            </a:extLst>
          </p:cNvPr>
          <p:cNvSpPr txBox="1">
            <a:spLocks/>
          </p:cNvSpPr>
          <p:nvPr/>
        </p:nvSpPr>
        <p:spPr>
          <a:xfrm>
            <a:off x="5378056" y="2759024"/>
            <a:ext cx="4068764" cy="45982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Kunden und / oder Lieferantenbeziehung hängt an Schlüsselperson(en)</a:t>
            </a:r>
          </a:p>
        </p:txBody>
      </p:sp>
      <p:sp>
        <p:nvSpPr>
          <p:cNvPr id="30" name="Rechteck 10">
            <a:extLst>
              <a:ext uri="{FF2B5EF4-FFF2-40B4-BE49-F238E27FC236}">
                <a16:creationId xmlns:a16="http://schemas.microsoft.com/office/drawing/2014/main" id="{6A081A9D-853D-117D-9B5E-0E803DCD1715}"/>
              </a:ext>
            </a:extLst>
          </p:cNvPr>
          <p:cNvSpPr/>
          <p:nvPr/>
        </p:nvSpPr>
        <p:spPr>
          <a:xfrm>
            <a:off x="2715532" y="4717268"/>
            <a:ext cx="653141" cy="39013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31" name="Isosceles Triangle 30">
            <a:extLst>
              <a:ext uri="{FF2B5EF4-FFF2-40B4-BE49-F238E27FC236}">
                <a16:creationId xmlns:a16="http://schemas.microsoft.com/office/drawing/2014/main" id="{11CC05AA-EF87-6A8B-4754-A7520C28125C}"/>
              </a:ext>
            </a:extLst>
          </p:cNvPr>
          <p:cNvSpPr/>
          <p:nvPr/>
        </p:nvSpPr>
        <p:spPr>
          <a:xfrm>
            <a:off x="2714325" y="3794502"/>
            <a:ext cx="2392065" cy="368624"/>
          </a:xfrm>
          <a:prstGeom prst="triangle">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32" name="Isosceles Triangle 31">
            <a:extLst>
              <a:ext uri="{FF2B5EF4-FFF2-40B4-BE49-F238E27FC236}">
                <a16:creationId xmlns:a16="http://schemas.microsoft.com/office/drawing/2014/main" id="{C2484D21-B697-5231-DEEE-2BDA979256D1}"/>
              </a:ext>
            </a:extLst>
          </p:cNvPr>
          <p:cNvSpPr/>
          <p:nvPr/>
        </p:nvSpPr>
        <p:spPr>
          <a:xfrm>
            <a:off x="3459117" y="4717268"/>
            <a:ext cx="1637114" cy="390137"/>
          </a:xfrm>
          <a:prstGeom prst="triangle">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dirty="0"/>
          </a:p>
        </p:txBody>
      </p:sp>
      <p:sp>
        <p:nvSpPr>
          <p:cNvPr id="33" name="Textplatzhalter 2">
            <a:extLst>
              <a:ext uri="{FF2B5EF4-FFF2-40B4-BE49-F238E27FC236}">
                <a16:creationId xmlns:a16="http://schemas.microsoft.com/office/drawing/2014/main" id="{7457501B-61D0-0138-5AA1-137B0D4D50E3}"/>
              </a:ext>
            </a:extLst>
          </p:cNvPr>
          <p:cNvSpPr txBox="1">
            <a:spLocks/>
          </p:cNvSpPr>
          <p:nvPr/>
        </p:nvSpPr>
        <p:spPr>
          <a:xfrm>
            <a:off x="5378056" y="5523066"/>
            <a:ext cx="4068764" cy="45982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Alteigentümer der einzige, der Dienstleistung oder Produkt erbringen kann, Geschäfte aufgrund besonderer persönlicher Beziehungen einzelner Kunden zu Alt-Eigentümer, Geschäfte mit Freunden und Verwandten, Geschäfte mit bisherigen Schwester-Unternehmen</a:t>
            </a:r>
          </a:p>
        </p:txBody>
      </p:sp>
      <p:sp>
        <p:nvSpPr>
          <p:cNvPr id="34" name="Textplatzhalter 2">
            <a:extLst>
              <a:ext uri="{FF2B5EF4-FFF2-40B4-BE49-F238E27FC236}">
                <a16:creationId xmlns:a16="http://schemas.microsoft.com/office/drawing/2014/main" id="{C95EF0F3-97B0-5319-C764-D48D5A309F7E}"/>
              </a:ext>
            </a:extLst>
          </p:cNvPr>
          <p:cNvSpPr txBox="1">
            <a:spLocks/>
          </p:cNvSpPr>
          <p:nvPr/>
        </p:nvSpPr>
        <p:spPr>
          <a:xfrm>
            <a:off x="239761" y="6146519"/>
            <a:ext cx="9204177" cy="169549"/>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spcBef>
                <a:spcPts val="600"/>
              </a:spcBef>
              <a:buClr>
                <a:srgbClr val="002060"/>
              </a:buClr>
            </a:pPr>
            <a:r>
              <a:rPr lang="de-DE" sz="1100" dirty="0"/>
              <a:t>* Auch andere Kombinationen möglich, z.B. partiell – temporär etc.</a:t>
            </a:r>
          </a:p>
        </p:txBody>
      </p:sp>
    </p:spTree>
    <p:extLst>
      <p:ext uri="{BB962C8B-B14F-4D97-AF65-F5344CB8AC3E}">
        <p14:creationId xmlns:p14="http://schemas.microsoft.com/office/powerpoint/2010/main" val="3078727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23</a:t>
            </a:fld>
            <a:endParaRPr lang="en-US" dirty="0"/>
          </a:p>
        </p:txBody>
      </p:sp>
      <p:sp>
        <p:nvSpPr>
          <p:cNvPr id="4" name="Textplatzhalter 3"/>
          <p:cNvSpPr>
            <a:spLocks noGrp="1"/>
          </p:cNvSpPr>
          <p:nvPr>
            <p:ph type="body" sz="quarter" idx="4294967295"/>
          </p:nvPr>
        </p:nvSpPr>
        <p:spPr>
          <a:xfrm>
            <a:off x="288525" y="184376"/>
            <a:ext cx="9165037" cy="896937"/>
          </a:xfrm>
        </p:spPr>
        <p:txBody>
          <a:bodyPr vert="horz" lIns="0" tIns="45720" rIns="91440" bIns="45720" rtlCol="0" anchor="ctr">
            <a:normAutofit/>
          </a:bodyPr>
          <a:lstStyle/>
          <a:p>
            <a:pPr marL="0" indent="0">
              <a:buNone/>
            </a:pPr>
            <a:r>
              <a:rPr lang="de-DE" sz="2100" dirty="0">
                <a:solidFill>
                  <a:srgbClr val="32434D"/>
                </a:solidFill>
              </a:rPr>
              <a:t>Beispiel Abschmelz-Methode - (a) Kundenstamm schmilzt ab </a:t>
            </a:r>
          </a:p>
        </p:txBody>
      </p:sp>
      <p:sp>
        <p:nvSpPr>
          <p:cNvPr id="3" name="Textplatzhalter 2">
            <a:extLst>
              <a:ext uri="{FF2B5EF4-FFF2-40B4-BE49-F238E27FC236}">
                <a16:creationId xmlns:a16="http://schemas.microsoft.com/office/drawing/2014/main" id="{7133B4CE-BE3A-7685-21ED-DD6D0C0F75AE}"/>
              </a:ext>
            </a:extLst>
          </p:cNvPr>
          <p:cNvSpPr txBox="1">
            <a:spLocks/>
          </p:cNvSpPr>
          <p:nvPr/>
        </p:nvSpPr>
        <p:spPr>
          <a:xfrm>
            <a:off x="249386" y="5224795"/>
            <a:ext cx="9204177" cy="964411"/>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Modell bei einem oder wenigen immateriellen Faktor(en), z.B. Kundenstamm</a:t>
            </a:r>
          </a:p>
          <a:p>
            <a:pPr marL="171450" indent="-171450" algn="just">
              <a:spcBef>
                <a:spcPts val="600"/>
              </a:spcBef>
              <a:buClr>
                <a:srgbClr val="002060"/>
              </a:buClr>
              <a:buFont typeface="Arial" panose="020B0604020202020204" pitchFamily="34" charset="0"/>
              <a:buChar char="•"/>
            </a:pPr>
            <a:r>
              <a:rPr lang="de-DE" sz="1100" dirty="0"/>
              <a:t>Ableitung von Abwanderungsraten der Umsatzerlöse ggf. aus historischen Daten möglich</a:t>
            </a:r>
          </a:p>
          <a:p>
            <a:pPr marL="171450" indent="-171450" algn="just">
              <a:spcBef>
                <a:spcPts val="600"/>
              </a:spcBef>
              <a:buClr>
                <a:srgbClr val="002060"/>
              </a:buClr>
              <a:buFont typeface="Arial" panose="020B0604020202020204" pitchFamily="34" charset="0"/>
              <a:buChar char="•"/>
            </a:pPr>
            <a:r>
              <a:rPr lang="de-DE" sz="1100" dirty="0"/>
              <a:t>Schätzung Nutzungsdauer der immateriellen Faktoren, Abschmelzhöhe- und -geschwindigkeit notwendig</a:t>
            </a:r>
          </a:p>
        </p:txBody>
      </p:sp>
      <p:sp>
        <p:nvSpPr>
          <p:cNvPr id="12" name="Rechteck 88">
            <a:extLst>
              <a:ext uri="{FF2B5EF4-FFF2-40B4-BE49-F238E27FC236}">
                <a16:creationId xmlns:a16="http://schemas.microsoft.com/office/drawing/2014/main" id="{FF46624E-1812-528D-3462-DE895311F161}"/>
              </a:ext>
            </a:extLst>
          </p:cNvPr>
          <p:cNvSpPr/>
          <p:nvPr/>
        </p:nvSpPr>
        <p:spPr>
          <a:xfrm>
            <a:off x="249386" y="4912338"/>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grpSp>
        <p:nvGrpSpPr>
          <p:cNvPr id="6" name="Group 5">
            <a:extLst>
              <a:ext uri="{FF2B5EF4-FFF2-40B4-BE49-F238E27FC236}">
                <a16:creationId xmlns:a16="http://schemas.microsoft.com/office/drawing/2014/main" id="{DBD7FFED-EE84-5FC6-FD12-17D443474131}"/>
              </a:ext>
            </a:extLst>
          </p:cNvPr>
          <p:cNvGrpSpPr/>
          <p:nvPr/>
        </p:nvGrpSpPr>
        <p:grpSpPr>
          <a:xfrm>
            <a:off x="249386" y="1208267"/>
            <a:ext cx="7329806" cy="3454400"/>
            <a:chOff x="249386" y="1208267"/>
            <a:chExt cx="7329806" cy="3454400"/>
          </a:xfrm>
        </p:grpSpPr>
        <p:pic>
          <p:nvPicPr>
            <p:cNvPr id="11" name="Picture 10">
              <a:extLst>
                <a:ext uri="{FF2B5EF4-FFF2-40B4-BE49-F238E27FC236}">
                  <a16:creationId xmlns:a16="http://schemas.microsoft.com/office/drawing/2014/main" id="{BA26DD5B-7CD8-2A33-1CE2-6EB8D08D9782}"/>
                </a:ext>
              </a:extLst>
            </p:cNvPr>
            <p:cNvPicPr>
              <a:picLocks noChangeAspect="1"/>
            </p:cNvPicPr>
            <p:nvPr>
              <p:custDataLst>
                <p:tags r:id="rId1"/>
              </p:custDataLst>
            </p:nvPr>
          </p:nvPicPr>
          <p:blipFill>
            <a:blip r:embed="rId3"/>
            <a:stretch>
              <a:fillRect/>
            </a:stretch>
          </p:blipFill>
          <p:spPr>
            <a:xfrm>
              <a:off x="249387" y="1208267"/>
              <a:ext cx="7329805" cy="3454400"/>
            </a:xfrm>
            <a:prstGeom prst="rect">
              <a:avLst/>
            </a:prstGeom>
          </p:spPr>
        </p:pic>
        <p:sp>
          <p:nvSpPr>
            <p:cNvPr id="5" name="Rectangle 4">
              <a:extLst>
                <a:ext uri="{FF2B5EF4-FFF2-40B4-BE49-F238E27FC236}">
                  <a16:creationId xmlns:a16="http://schemas.microsoft.com/office/drawing/2014/main" id="{1D40D0D0-2AB3-6199-C475-234DA713E600}"/>
                </a:ext>
              </a:extLst>
            </p:cNvPr>
            <p:cNvSpPr/>
            <p:nvPr/>
          </p:nvSpPr>
          <p:spPr>
            <a:xfrm>
              <a:off x="249386" y="1408238"/>
              <a:ext cx="7329806" cy="22053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grpSp>
    </p:spTree>
    <p:extLst>
      <p:ext uri="{BB962C8B-B14F-4D97-AF65-F5344CB8AC3E}">
        <p14:creationId xmlns:p14="http://schemas.microsoft.com/office/powerpoint/2010/main" val="3752831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24</a:t>
            </a:fld>
            <a:endParaRPr lang="en-US" dirty="0"/>
          </a:p>
        </p:txBody>
      </p:sp>
      <p:sp>
        <p:nvSpPr>
          <p:cNvPr id="3" name="Textplatzhalter 2">
            <a:extLst>
              <a:ext uri="{FF2B5EF4-FFF2-40B4-BE49-F238E27FC236}">
                <a16:creationId xmlns:a16="http://schemas.microsoft.com/office/drawing/2014/main" id="{7133B4CE-BE3A-7685-21ED-DD6D0C0F75AE}"/>
              </a:ext>
            </a:extLst>
          </p:cNvPr>
          <p:cNvSpPr txBox="1">
            <a:spLocks/>
          </p:cNvSpPr>
          <p:nvPr/>
        </p:nvSpPr>
        <p:spPr>
          <a:xfrm>
            <a:off x="249386" y="4840162"/>
            <a:ext cx="9204177" cy="1516190"/>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Wenn der Faktor, wie im vorigen Beispiel der Kundenstamm, nicht so einfach isoliert betrachtet und geplant werden kann, dann schmilzt man die Überrenditen der zu bewertenden Gesellschaft ab</a:t>
            </a:r>
          </a:p>
          <a:p>
            <a:pPr marL="171450" indent="-171450" algn="just">
              <a:spcBef>
                <a:spcPts val="600"/>
              </a:spcBef>
              <a:buClr>
                <a:srgbClr val="002060"/>
              </a:buClr>
              <a:buFont typeface="Arial" panose="020B0604020202020204" pitchFamily="34" charset="0"/>
              <a:buChar char="•"/>
            </a:pPr>
            <a:r>
              <a:rPr lang="de-DE" sz="1100" dirty="0"/>
              <a:t>Dazu wird das durch die Gesellschaft eingesetzte Kapital zunächst mit dem Diskontierungszinssatz verzinst. Diese Verzinsung stellt eine angemessene Verzinsung des eingesetzten Kapitalstocks dar, darüber hinausgehende Renditen werden als Überrenditen angesehen. Diese Überrenditen werden nun gem. des angenommenen Abschmelzungsverlaufs abgeschmolzen und daraus wird ein nicht übertragbarer Teil der Überrenditen berechnet. Dieser nicht übertragbare Teil wird nun von den Zahlungsmittelüberschüssen (Cashflows) der Gesellschaft abgezogen, um den Unternehmenswert korrekt berechnen zu können</a:t>
            </a:r>
          </a:p>
          <a:p>
            <a:pPr marL="171450" indent="-171450" algn="just">
              <a:spcBef>
                <a:spcPts val="600"/>
              </a:spcBef>
              <a:buClr>
                <a:srgbClr val="002060"/>
              </a:buClr>
              <a:buFont typeface="Arial" panose="020B0604020202020204" pitchFamily="34" charset="0"/>
              <a:buChar char="•"/>
            </a:pPr>
            <a:r>
              <a:rPr lang="de-DE" sz="1100" dirty="0"/>
              <a:t>Vereinfachend werden in der Praxis teilweise auch operative Margen der Gesellschaft auf ein marktübliches Niveau abgeschmolzen</a:t>
            </a:r>
          </a:p>
        </p:txBody>
      </p:sp>
      <p:sp>
        <p:nvSpPr>
          <p:cNvPr id="12" name="Rechteck 88">
            <a:extLst>
              <a:ext uri="{FF2B5EF4-FFF2-40B4-BE49-F238E27FC236}">
                <a16:creationId xmlns:a16="http://schemas.microsoft.com/office/drawing/2014/main" id="{FF46624E-1812-528D-3462-DE895311F161}"/>
              </a:ext>
            </a:extLst>
          </p:cNvPr>
          <p:cNvSpPr/>
          <p:nvPr/>
        </p:nvSpPr>
        <p:spPr>
          <a:xfrm>
            <a:off x="249386" y="4528876"/>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pic>
        <p:nvPicPr>
          <p:cNvPr id="5" name="Picture 4">
            <a:extLst>
              <a:ext uri="{FF2B5EF4-FFF2-40B4-BE49-F238E27FC236}">
                <a16:creationId xmlns:a16="http://schemas.microsoft.com/office/drawing/2014/main" id="{4FEED0E7-A065-4442-2B10-FDA50F685047}"/>
              </a:ext>
            </a:extLst>
          </p:cNvPr>
          <p:cNvPicPr>
            <a:picLocks noChangeAspect="1"/>
          </p:cNvPicPr>
          <p:nvPr>
            <p:custDataLst>
              <p:tags r:id="rId1"/>
            </p:custDataLst>
          </p:nvPr>
        </p:nvPicPr>
        <p:blipFill>
          <a:blip r:embed="rId3"/>
          <a:stretch>
            <a:fillRect/>
          </a:stretch>
        </p:blipFill>
        <p:spPr>
          <a:xfrm>
            <a:off x="249386" y="1170621"/>
            <a:ext cx="7760208" cy="3139440"/>
          </a:xfrm>
          <a:prstGeom prst="rect">
            <a:avLst/>
          </a:prstGeom>
        </p:spPr>
      </p:pic>
      <p:sp>
        <p:nvSpPr>
          <p:cNvPr id="6" name="Textplatzhalter 3">
            <a:extLst>
              <a:ext uri="{FF2B5EF4-FFF2-40B4-BE49-F238E27FC236}">
                <a16:creationId xmlns:a16="http://schemas.microsoft.com/office/drawing/2014/main" id="{F314F7B0-7438-607B-FF0D-E5A2ED712B43}"/>
              </a:ext>
            </a:extLst>
          </p:cNvPr>
          <p:cNvSpPr txBox="1">
            <a:spLocks/>
          </p:cNvSpPr>
          <p:nvPr/>
        </p:nvSpPr>
        <p:spPr>
          <a:xfrm>
            <a:off x="288525" y="184376"/>
            <a:ext cx="9165037" cy="896937"/>
          </a:xfrm>
          <a:prstGeom prst="rect">
            <a:avLst/>
          </a:prstGeom>
        </p:spPr>
        <p:txBody>
          <a:bodyPr vert="horz" lIns="0" tIns="45720" rIns="91440" bIns="45720" rtlCol="0" anchor="ctr">
            <a:normAutofit/>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de-DE" sz="2100" dirty="0">
                <a:solidFill>
                  <a:srgbClr val="32434D"/>
                </a:solidFill>
              </a:rPr>
              <a:t>Beispiel Abschmelz-Methode - (b) Überrenditen (1 / 2)</a:t>
            </a:r>
          </a:p>
        </p:txBody>
      </p:sp>
      <p:sp>
        <p:nvSpPr>
          <p:cNvPr id="4" name="Rectangle 3">
            <a:extLst>
              <a:ext uri="{FF2B5EF4-FFF2-40B4-BE49-F238E27FC236}">
                <a16:creationId xmlns:a16="http://schemas.microsoft.com/office/drawing/2014/main" id="{B389EE33-693F-03D5-3FD0-B04C1948A49B}"/>
              </a:ext>
            </a:extLst>
          </p:cNvPr>
          <p:cNvSpPr/>
          <p:nvPr/>
        </p:nvSpPr>
        <p:spPr>
          <a:xfrm>
            <a:off x="249386" y="3169660"/>
            <a:ext cx="7760208" cy="23245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sp>
        <p:nvSpPr>
          <p:cNvPr id="7" name="Rectangle 6">
            <a:extLst>
              <a:ext uri="{FF2B5EF4-FFF2-40B4-BE49-F238E27FC236}">
                <a16:creationId xmlns:a16="http://schemas.microsoft.com/office/drawing/2014/main" id="{BCCC60A1-FCED-864F-8936-A77938E605AD}"/>
              </a:ext>
            </a:extLst>
          </p:cNvPr>
          <p:cNvSpPr/>
          <p:nvPr/>
        </p:nvSpPr>
        <p:spPr>
          <a:xfrm>
            <a:off x="6449051" y="1649743"/>
            <a:ext cx="2596541" cy="8365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de-DE" sz="1200" b="1" dirty="0">
                <a:solidFill>
                  <a:schemeClr val="bg1"/>
                </a:solidFill>
              </a:rPr>
              <a:t>Zahlen anpassen und mit weniger als 100% Übertragbarkeit illustrieren</a:t>
            </a:r>
          </a:p>
        </p:txBody>
      </p:sp>
    </p:spTree>
    <p:extLst>
      <p:ext uri="{BB962C8B-B14F-4D97-AF65-F5344CB8AC3E}">
        <p14:creationId xmlns:p14="http://schemas.microsoft.com/office/powerpoint/2010/main" val="3950861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25</a:t>
            </a:fld>
            <a:endParaRPr lang="en-US" dirty="0"/>
          </a:p>
        </p:txBody>
      </p:sp>
      <p:sp>
        <p:nvSpPr>
          <p:cNvPr id="3" name="Textplatzhalter 2">
            <a:extLst>
              <a:ext uri="{FF2B5EF4-FFF2-40B4-BE49-F238E27FC236}">
                <a16:creationId xmlns:a16="http://schemas.microsoft.com/office/drawing/2014/main" id="{7133B4CE-BE3A-7685-21ED-DD6D0C0F75AE}"/>
              </a:ext>
            </a:extLst>
          </p:cNvPr>
          <p:cNvSpPr txBox="1">
            <a:spLocks/>
          </p:cNvSpPr>
          <p:nvPr/>
        </p:nvSpPr>
        <p:spPr>
          <a:xfrm>
            <a:off x="249386" y="4840162"/>
            <a:ext cx="9204177" cy="1516190"/>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Wenn der Faktor, wie im vorigen Beispiel der Kundenstamm, nicht so einfach isoliert betrachtet und geplant werden kann, dann schmilzt man die Überrenditen der zu bewertenden Gesellschaft ab</a:t>
            </a:r>
          </a:p>
          <a:p>
            <a:pPr marL="171450" indent="-171450" algn="just">
              <a:spcBef>
                <a:spcPts val="600"/>
              </a:spcBef>
              <a:buClr>
                <a:srgbClr val="002060"/>
              </a:buClr>
              <a:buFont typeface="Arial" panose="020B0604020202020204" pitchFamily="34" charset="0"/>
              <a:buChar char="•"/>
            </a:pPr>
            <a:r>
              <a:rPr lang="de-DE" sz="1100" dirty="0"/>
              <a:t>Dazu wird das durch die Gesellschaft eingesetzte Kapital zunächst mit dem Diskontierungszinssatz verzinst. Diese Verzinsung stellt die Benchmark dar, darüber hinausgehende Renditen werden als Überrenditen angesehen. Diese Überrenditen werden nun gem. des angenommenen Abschmelzungsverlaufs abgeschmolzen und daraus wird ein nicht übertragbarer Teil der Überrenditen berechnet. Dieser nicht übertragbare Teil wird nun von den Zahlungsmittelüberschüssen (Cashflows) der Gesellschaft abgezogen, um den Unternehmenswert korrekt berechnen zu können</a:t>
            </a:r>
          </a:p>
          <a:p>
            <a:pPr marL="171450" indent="-171450" algn="just">
              <a:spcBef>
                <a:spcPts val="600"/>
              </a:spcBef>
              <a:buClr>
                <a:srgbClr val="002060"/>
              </a:buClr>
              <a:buFont typeface="Arial" panose="020B0604020202020204" pitchFamily="34" charset="0"/>
              <a:buChar char="•"/>
            </a:pPr>
            <a:r>
              <a:rPr lang="de-DE" sz="1100" dirty="0"/>
              <a:t>Vereinfachend werden in der Praxis teilweise auch operative Margen der Gesellschaft auf ein marktübliches Niveau abgeschmolzen</a:t>
            </a:r>
          </a:p>
        </p:txBody>
      </p:sp>
      <p:sp>
        <p:nvSpPr>
          <p:cNvPr id="12" name="Rechteck 88">
            <a:extLst>
              <a:ext uri="{FF2B5EF4-FFF2-40B4-BE49-F238E27FC236}">
                <a16:creationId xmlns:a16="http://schemas.microsoft.com/office/drawing/2014/main" id="{FF46624E-1812-528D-3462-DE895311F161}"/>
              </a:ext>
            </a:extLst>
          </p:cNvPr>
          <p:cNvSpPr/>
          <p:nvPr/>
        </p:nvSpPr>
        <p:spPr>
          <a:xfrm>
            <a:off x="249386" y="4528876"/>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pic>
        <p:nvPicPr>
          <p:cNvPr id="10" name="Picture 9">
            <a:extLst>
              <a:ext uri="{FF2B5EF4-FFF2-40B4-BE49-F238E27FC236}">
                <a16:creationId xmlns:a16="http://schemas.microsoft.com/office/drawing/2014/main" id="{082032E9-0E35-ED52-0767-96EC21BD470D}"/>
              </a:ext>
            </a:extLst>
          </p:cNvPr>
          <p:cNvPicPr>
            <a:picLocks noChangeAspect="1"/>
          </p:cNvPicPr>
          <p:nvPr>
            <p:custDataLst>
              <p:tags r:id="rId1"/>
            </p:custDataLst>
          </p:nvPr>
        </p:nvPicPr>
        <p:blipFill>
          <a:blip r:embed="rId3"/>
          <a:stretch>
            <a:fillRect/>
          </a:stretch>
        </p:blipFill>
        <p:spPr>
          <a:xfrm>
            <a:off x="253233" y="1170295"/>
            <a:ext cx="8674608" cy="2755392"/>
          </a:xfrm>
          <a:prstGeom prst="rect">
            <a:avLst/>
          </a:prstGeom>
        </p:spPr>
      </p:pic>
      <p:sp>
        <p:nvSpPr>
          <p:cNvPr id="8" name="Textplatzhalter 3">
            <a:extLst>
              <a:ext uri="{FF2B5EF4-FFF2-40B4-BE49-F238E27FC236}">
                <a16:creationId xmlns:a16="http://schemas.microsoft.com/office/drawing/2014/main" id="{A2ED1500-A9DF-9DCC-B2C1-E6F962910581}"/>
              </a:ext>
            </a:extLst>
          </p:cNvPr>
          <p:cNvSpPr txBox="1">
            <a:spLocks/>
          </p:cNvSpPr>
          <p:nvPr/>
        </p:nvSpPr>
        <p:spPr>
          <a:xfrm>
            <a:off x="288525" y="184376"/>
            <a:ext cx="9165037" cy="896937"/>
          </a:xfrm>
          <a:prstGeom prst="rect">
            <a:avLst/>
          </a:prstGeom>
        </p:spPr>
        <p:txBody>
          <a:bodyPr vert="horz" lIns="0" tIns="45720" rIns="91440" bIns="45720" rtlCol="0" anchor="ctr">
            <a:normAutofit/>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2100" dirty="0">
                <a:solidFill>
                  <a:srgbClr val="32434D"/>
                </a:solidFill>
              </a:rPr>
              <a:t>Beispiel Abschmelz-Methode - (b) Überrenditen (2 / 2)</a:t>
            </a:r>
          </a:p>
          <a:p>
            <a:pPr marL="0" indent="0">
              <a:buFont typeface="Arial" panose="020B0604020202020204" pitchFamily="34" charset="0"/>
              <a:buNone/>
            </a:pPr>
            <a:endParaRPr lang="de-DE" sz="2100" dirty="0">
              <a:solidFill>
                <a:srgbClr val="32434D"/>
              </a:solidFill>
            </a:endParaRPr>
          </a:p>
        </p:txBody>
      </p:sp>
    </p:spTree>
    <p:extLst>
      <p:ext uri="{BB962C8B-B14F-4D97-AF65-F5344CB8AC3E}">
        <p14:creationId xmlns:p14="http://schemas.microsoft.com/office/powerpoint/2010/main" val="3745599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9A91B-6963-DEF0-F26A-3C8B7787AF4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A8BE294-B61A-4038-65C3-162507B62BD6}"/>
              </a:ext>
            </a:extLst>
          </p:cNvPr>
          <p:cNvSpPr>
            <a:spLocks noGrp="1"/>
          </p:cNvSpPr>
          <p:nvPr>
            <p:ph type="sldNum" sz="quarter" idx="12"/>
          </p:nvPr>
        </p:nvSpPr>
        <p:spPr/>
        <p:txBody>
          <a:bodyPr/>
          <a:lstStyle/>
          <a:p>
            <a:fld id="{06BE810C-D1BD-4E2B-9D7B-C86294C40709}" type="slidenum">
              <a:rPr lang="en-US" smtClean="0"/>
              <a:t>26</a:t>
            </a:fld>
            <a:endParaRPr lang="en-US" dirty="0"/>
          </a:p>
        </p:txBody>
      </p:sp>
      <p:sp>
        <p:nvSpPr>
          <p:cNvPr id="4" name="Textplatzhalter 3">
            <a:extLst>
              <a:ext uri="{FF2B5EF4-FFF2-40B4-BE49-F238E27FC236}">
                <a16:creationId xmlns:a16="http://schemas.microsoft.com/office/drawing/2014/main" id="{C05BEA07-8163-B03F-CF74-596660DB9B7D}"/>
              </a:ext>
            </a:extLst>
          </p:cNvPr>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solidFill>
                  <a:srgbClr val="32434D"/>
                </a:solidFill>
              </a:rPr>
              <a:t>Schätzung der Abschmelz-Höhe</a:t>
            </a:r>
          </a:p>
        </p:txBody>
      </p:sp>
      <p:sp>
        <p:nvSpPr>
          <p:cNvPr id="6" name="Rechteck 88">
            <a:extLst>
              <a:ext uri="{FF2B5EF4-FFF2-40B4-BE49-F238E27FC236}">
                <a16:creationId xmlns:a16="http://schemas.microsoft.com/office/drawing/2014/main" id="{096AC62F-23A0-68F2-6543-C6D609AB75BC}"/>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Kommentare</a:t>
            </a:r>
          </a:p>
        </p:txBody>
      </p:sp>
      <p:sp>
        <p:nvSpPr>
          <p:cNvPr id="8" name="Rechteck 88">
            <a:extLst>
              <a:ext uri="{FF2B5EF4-FFF2-40B4-BE49-F238E27FC236}">
                <a16:creationId xmlns:a16="http://schemas.microsoft.com/office/drawing/2014/main" id="{5F80B624-8C3F-6E59-068D-5C848EE10045}"/>
              </a:ext>
            </a:extLst>
          </p:cNvPr>
          <p:cNvSpPr/>
          <p:nvPr/>
        </p:nvSpPr>
        <p:spPr>
          <a:xfrm>
            <a:off x="2754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Analyse Kundenmigration</a:t>
            </a:r>
          </a:p>
        </p:txBody>
      </p:sp>
      <p:cxnSp>
        <p:nvCxnSpPr>
          <p:cNvPr id="10" name="Gerader Verbinder 2">
            <a:extLst>
              <a:ext uri="{FF2B5EF4-FFF2-40B4-BE49-F238E27FC236}">
                <a16:creationId xmlns:a16="http://schemas.microsoft.com/office/drawing/2014/main" id="{84E12A3B-1C07-BC65-13D2-25B4A980577A}"/>
              </a:ext>
            </a:extLst>
          </p:cNvPr>
          <p:cNvCxnSpPr>
            <a:cxnSpLocks/>
          </p:cNvCxnSpPr>
          <p:nvPr/>
        </p:nvCxnSpPr>
        <p:spPr>
          <a:xfrm>
            <a:off x="4953000" y="1773239"/>
            <a:ext cx="0" cy="4299315"/>
          </a:xfrm>
          <a:prstGeom prst="line">
            <a:avLst/>
          </a:prstGeom>
          <a:ln w="6350">
            <a:solidFill>
              <a:srgbClr val="8BAABF"/>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145A913-2B9F-B0C4-C1AC-E69900D932DA}"/>
              </a:ext>
            </a:extLst>
          </p:cNvPr>
          <p:cNvPicPr>
            <a:picLocks noChangeAspect="1"/>
          </p:cNvPicPr>
          <p:nvPr>
            <p:custDataLst>
              <p:tags r:id="rId1"/>
            </p:custDataLst>
          </p:nvPr>
        </p:nvPicPr>
        <p:blipFill>
          <a:blip r:embed="rId3"/>
          <a:stretch>
            <a:fillRect/>
          </a:stretch>
        </p:blipFill>
        <p:spPr>
          <a:xfrm>
            <a:off x="256040" y="4280036"/>
            <a:ext cx="4015528" cy="1675353"/>
          </a:xfrm>
          <a:prstGeom prst="rect">
            <a:avLst/>
          </a:prstGeom>
        </p:spPr>
      </p:pic>
      <p:sp>
        <p:nvSpPr>
          <p:cNvPr id="16" name="Textplatzhalter 2">
            <a:extLst>
              <a:ext uri="{FF2B5EF4-FFF2-40B4-BE49-F238E27FC236}">
                <a16:creationId xmlns:a16="http://schemas.microsoft.com/office/drawing/2014/main" id="{FA9F9E14-B98B-43C3-6D7D-19DB4222636F}"/>
              </a:ext>
            </a:extLst>
          </p:cNvPr>
          <p:cNvSpPr txBox="1">
            <a:spLocks/>
          </p:cNvSpPr>
          <p:nvPr/>
        </p:nvSpPr>
        <p:spPr>
          <a:xfrm>
            <a:off x="5304695" y="1773238"/>
            <a:ext cx="4148868" cy="458311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Die Abschmelzhöhe kann bspw. für den Kundenstamm ggf. anhand von Kundenmigrationsanalysen </a:t>
            </a:r>
          </a:p>
          <a:p>
            <a:pPr marL="171450" indent="-171450" algn="just">
              <a:spcBef>
                <a:spcPts val="600"/>
              </a:spcBef>
              <a:buClr>
                <a:srgbClr val="002060"/>
              </a:buClr>
              <a:buFont typeface="Arial" panose="020B0604020202020204" pitchFamily="34" charset="0"/>
              <a:buChar char="•"/>
            </a:pPr>
            <a:r>
              <a:rPr lang="de-DE" sz="1100" dirty="0"/>
              <a:t>Die Höhe abschmelzender Überrenditen kann u.a. durch eine Trennung in betrieblichen und persönlichen Goodwill der handelnden Personen im Unternehmen bestimmt werden</a:t>
            </a:r>
          </a:p>
          <a:p>
            <a:pPr marL="171450" indent="-171450" algn="just">
              <a:spcBef>
                <a:spcPts val="600"/>
              </a:spcBef>
              <a:buClr>
                <a:srgbClr val="002060"/>
              </a:buClr>
              <a:buFont typeface="Arial" panose="020B0604020202020204" pitchFamily="34" charset="0"/>
              <a:buChar char="•"/>
            </a:pPr>
            <a:r>
              <a:rPr kumimoji="0" lang="de-DE" sz="1100" b="0" i="0" u="none" strike="noStrike" kern="1200" cap="none" spc="0" normalizeH="0" baseline="0" noProof="0" dirty="0">
                <a:ln>
                  <a:noFill/>
                </a:ln>
                <a:solidFill>
                  <a:srgbClr val="32434D"/>
                </a:solidFill>
                <a:effectLst/>
                <a:uLnTx/>
                <a:uFillTx/>
                <a:latin typeface="Open Sans Light"/>
                <a:ea typeface="+mn-ea"/>
                <a:cs typeface="+mn-cs"/>
              </a:rPr>
              <a:t>Dabei </a:t>
            </a:r>
            <a:r>
              <a:rPr lang="de-DE" sz="1100" dirty="0">
                <a:solidFill>
                  <a:srgbClr val="32434D"/>
                </a:solidFill>
                <a:latin typeface="Open Sans Light"/>
              </a:rPr>
              <a:t>wird</a:t>
            </a:r>
            <a:r>
              <a:rPr kumimoji="0" lang="de-DE" sz="1100" b="0" i="0" u="none" strike="noStrike" kern="1200" cap="none" spc="0" normalizeH="0" baseline="0" noProof="0" dirty="0">
                <a:ln>
                  <a:noFill/>
                </a:ln>
                <a:solidFill>
                  <a:srgbClr val="32434D"/>
                </a:solidFill>
                <a:effectLst/>
                <a:uLnTx/>
                <a:uFillTx/>
                <a:latin typeface="Open Sans Light"/>
                <a:ea typeface="+mn-ea"/>
                <a:cs typeface="+mn-cs"/>
              </a:rPr>
              <a:t> u.a. die Abhängigkeit des Bestands des immateriellen Faktors (</a:t>
            </a:r>
            <a:r>
              <a:rPr kumimoji="0" lang="de-DE" sz="1100" b="0" i="0" u="none" strike="noStrike" kern="1200" cap="none" spc="0" normalizeH="0" baseline="0" noProof="0" dirty="0" err="1">
                <a:ln>
                  <a:noFill/>
                </a:ln>
                <a:solidFill>
                  <a:srgbClr val="32434D"/>
                </a:solidFill>
                <a:effectLst/>
                <a:uLnTx/>
                <a:uFillTx/>
                <a:latin typeface="Open Sans Light"/>
                <a:ea typeface="+mn-ea"/>
                <a:cs typeface="+mn-cs"/>
              </a:rPr>
              <a:t>z,B</a:t>
            </a:r>
            <a:r>
              <a:rPr kumimoji="0" lang="de-DE" sz="1100" b="0" i="0" u="none" strike="noStrike" kern="1200" cap="none" spc="0" normalizeH="0" baseline="0" noProof="0" dirty="0">
                <a:ln>
                  <a:noFill/>
                </a:ln>
                <a:solidFill>
                  <a:srgbClr val="32434D"/>
                </a:solidFill>
                <a:effectLst/>
                <a:uLnTx/>
                <a:uFillTx/>
                <a:latin typeface="Open Sans Light"/>
                <a:ea typeface="+mn-ea"/>
                <a:cs typeface="+mn-cs"/>
              </a:rPr>
              <a:t>. der Kundenbeziehungen) von der Reputation des Unternehmens oder der Existenz und der Bedeutung anderer Werte im Unternehmen sowie</a:t>
            </a:r>
            <a:r>
              <a:rPr lang="de-DE" sz="1100" dirty="0">
                <a:solidFill>
                  <a:srgbClr val="32434D"/>
                </a:solidFill>
                <a:latin typeface="Open Sans Light"/>
              </a:rPr>
              <a:t> der Person des Eigentümers / der Eigentümer</a:t>
            </a:r>
            <a:r>
              <a:rPr kumimoji="0" lang="de-DE" sz="1100" b="0" i="0" u="none" strike="noStrike" kern="1200" cap="none" spc="0" normalizeH="0" baseline="0" noProof="0" dirty="0">
                <a:ln>
                  <a:noFill/>
                </a:ln>
                <a:solidFill>
                  <a:srgbClr val="32434D"/>
                </a:solidFill>
                <a:effectLst/>
                <a:uLnTx/>
                <a:uFillTx/>
                <a:latin typeface="Open Sans Light"/>
                <a:ea typeface="+mn-ea"/>
                <a:cs typeface="+mn-cs"/>
              </a:rPr>
              <a:t> analysiert und auf die Sphäre des Unternehmens (betrieblicher Goodwill) sowie der Person des Eigentümers (persönlicher Goodwill) aufgeteilt</a:t>
            </a:r>
          </a:p>
          <a:p>
            <a:pPr marL="171450" indent="-171450" algn="just">
              <a:spcBef>
                <a:spcPts val="600"/>
              </a:spcBef>
              <a:buClr>
                <a:srgbClr val="002060"/>
              </a:buClr>
              <a:buFont typeface="Arial" panose="020B0604020202020204" pitchFamily="34" charset="0"/>
              <a:buChar char="•"/>
            </a:pPr>
            <a:endParaRPr kumimoji="0" lang="de-DE" sz="1100" b="0" i="0" u="none" strike="noStrike" kern="1200" cap="none" spc="0" normalizeH="0" baseline="0" noProof="0" dirty="0">
              <a:ln>
                <a:noFill/>
              </a:ln>
              <a:solidFill>
                <a:srgbClr val="32434D"/>
              </a:solidFill>
              <a:effectLst/>
              <a:uLnTx/>
              <a:uFillTx/>
              <a:latin typeface="Open Sans Light"/>
              <a:ea typeface="+mn-ea"/>
              <a:cs typeface="+mn-cs"/>
            </a:endParaRPr>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chemeClr val="accent2"/>
              </a:buClr>
              <a:buFont typeface="Arial" panose="020B0604020202020204" pitchFamily="34" charset="0"/>
              <a:buChar char="•"/>
            </a:pPr>
            <a:endParaRPr lang="de-DE" sz="1100" dirty="0"/>
          </a:p>
          <a:p>
            <a:pPr marL="171450" indent="-171450" algn="just">
              <a:spcBef>
                <a:spcPts val="600"/>
              </a:spcBef>
              <a:buClr>
                <a:schemeClr val="accent2"/>
              </a:buClr>
              <a:buFont typeface="Arial" panose="020B0604020202020204" pitchFamily="34" charset="0"/>
              <a:buChar char="•"/>
            </a:pPr>
            <a:endParaRPr lang="en-US" sz="1100" dirty="0"/>
          </a:p>
          <a:p>
            <a:pPr marL="171450" indent="-171450" algn="just">
              <a:spcBef>
                <a:spcPts val="600"/>
              </a:spcBef>
              <a:buClr>
                <a:schemeClr val="accent2"/>
              </a:buClr>
              <a:buFont typeface="Arial" panose="020B0604020202020204" pitchFamily="34" charset="0"/>
              <a:buChar char="•"/>
            </a:pPr>
            <a:endParaRPr lang="de-DE" sz="1100" dirty="0"/>
          </a:p>
        </p:txBody>
      </p:sp>
      <p:sp>
        <p:nvSpPr>
          <p:cNvPr id="3" name="Rechteck 88">
            <a:extLst>
              <a:ext uri="{FF2B5EF4-FFF2-40B4-BE49-F238E27FC236}">
                <a16:creationId xmlns:a16="http://schemas.microsoft.com/office/drawing/2014/main" id="{4827F086-2DF3-0A0B-F21E-2F8FB477B1A4}"/>
              </a:ext>
            </a:extLst>
          </p:cNvPr>
          <p:cNvSpPr/>
          <p:nvPr/>
        </p:nvSpPr>
        <p:spPr>
          <a:xfrm>
            <a:off x="236537" y="3968750"/>
            <a:ext cx="4716459"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Scoring Abschmelzhöhe (MuM-Methode)</a:t>
            </a:r>
          </a:p>
        </p:txBody>
      </p:sp>
      <p:pic>
        <p:nvPicPr>
          <p:cNvPr id="9" name="Picture 8">
            <a:extLst>
              <a:ext uri="{FF2B5EF4-FFF2-40B4-BE49-F238E27FC236}">
                <a16:creationId xmlns:a16="http://schemas.microsoft.com/office/drawing/2014/main" id="{1C9D83D5-0151-0766-8CFA-9CEB3E8F24C0}"/>
              </a:ext>
            </a:extLst>
          </p:cNvPr>
          <p:cNvPicPr>
            <a:picLocks noChangeAspect="1"/>
          </p:cNvPicPr>
          <p:nvPr/>
        </p:nvPicPr>
        <p:blipFill>
          <a:blip r:embed="rId4"/>
          <a:stretch>
            <a:fillRect/>
          </a:stretch>
        </p:blipFill>
        <p:spPr>
          <a:xfrm>
            <a:off x="288526" y="1773238"/>
            <a:ext cx="3751694" cy="2143825"/>
          </a:xfrm>
          <a:prstGeom prst="rect">
            <a:avLst/>
          </a:prstGeom>
        </p:spPr>
      </p:pic>
    </p:spTree>
    <p:extLst>
      <p:ext uri="{BB962C8B-B14F-4D97-AF65-F5344CB8AC3E}">
        <p14:creationId xmlns:p14="http://schemas.microsoft.com/office/powerpoint/2010/main" val="54980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en-US" smtClean="0"/>
              <a:t>27</a:t>
            </a:fld>
            <a:endParaRPr lang="en-US" dirty="0"/>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solidFill>
                  <a:srgbClr val="32434D"/>
                </a:solidFill>
              </a:rPr>
              <a:t>Schätzung der Abschmelz-Dauer</a:t>
            </a:r>
          </a:p>
        </p:txBody>
      </p:sp>
      <p:sp>
        <p:nvSpPr>
          <p:cNvPr id="6" name="Rechteck 88">
            <a:extLst>
              <a:ext uri="{FF2B5EF4-FFF2-40B4-BE49-F238E27FC236}">
                <a16:creationId xmlns:a16="http://schemas.microsoft.com/office/drawing/2014/main" id="{378491F8-A78F-7DFA-3352-8FA3541A4A04}"/>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Kommentare</a:t>
            </a:r>
          </a:p>
        </p:txBody>
      </p:sp>
      <p:sp>
        <p:nvSpPr>
          <p:cNvPr id="8" name="Rechteck 88">
            <a:extLst>
              <a:ext uri="{FF2B5EF4-FFF2-40B4-BE49-F238E27FC236}">
                <a16:creationId xmlns:a16="http://schemas.microsoft.com/office/drawing/2014/main" id="{FA344583-5385-A372-E9F4-8AE68C88E8B0}"/>
              </a:ext>
            </a:extLst>
          </p:cNvPr>
          <p:cNvSpPr/>
          <p:nvPr/>
        </p:nvSpPr>
        <p:spPr>
          <a:xfrm>
            <a:off x="2754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Kriterienkatalog IDW</a:t>
            </a:r>
          </a:p>
        </p:txBody>
      </p:sp>
      <p:cxnSp>
        <p:nvCxnSpPr>
          <p:cNvPr id="10" name="Gerader Verbinder 2">
            <a:extLst>
              <a:ext uri="{FF2B5EF4-FFF2-40B4-BE49-F238E27FC236}">
                <a16:creationId xmlns:a16="http://schemas.microsoft.com/office/drawing/2014/main" id="{A000E68F-CCFC-2AAB-18CC-69127EF449FC}"/>
              </a:ext>
            </a:extLst>
          </p:cNvPr>
          <p:cNvCxnSpPr>
            <a:cxnSpLocks/>
          </p:cNvCxnSpPr>
          <p:nvPr/>
        </p:nvCxnSpPr>
        <p:spPr>
          <a:xfrm>
            <a:off x="4953000" y="1773239"/>
            <a:ext cx="0" cy="4299315"/>
          </a:xfrm>
          <a:prstGeom prst="line">
            <a:avLst/>
          </a:prstGeom>
          <a:ln w="6350">
            <a:solidFill>
              <a:srgbClr val="8BAABF"/>
            </a:solidFill>
          </a:ln>
        </p:spPr>
        <p:style>
          <a:lnRef idx="1">
            <a:schemeClr val="accent1"/>
          </a:lnRef>
          <a:fillRef idx="0">
            <a:schemeClr val="accent1"/>
          </a:fillRef>
          <a:effectRef idx="0">
            <a:schemeClr val="accent1"/>
          </a:effectRef>
          <a:fontRef idx="minor">
            <a:schemeClr val="tx1"/>
          </a:fontRef>
        </p:style>
      </p:cxnSp>
      <p:sp>
        <p:nvSpPr>
          <p:cNvPr id="11" name="Rechteck 88">
            <a:extLst>
              <a:ext uri="{FF2B5EF4-FFF2-40B4-BE49-F238E27FC236}">
                <a16:creationId xmlns:a16="http://schemas.microsoft.com/office/drawing/2014/main" id="{DAFA8160-7485-1262-E10B-6F842895B513}"/>
              </a:ext>
            </a:extLst>
          </p:cNvPr>
          <p:cNvSpPr/>
          <p:nvPr/>
        </p:nvSpPr>
        <p:spPr>
          <a:xfrm>
            <a:off x="236537" y="3968750"/>
            <a:ext cx="4716459"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0A326E"/>
                </a:solidFill>
              </a:rPr>
              <a:t>Scoring Abschmelzdauer (BVS)</a:t>
            </a:r>
          </a:p>
        </p:txBody>
      </p:sp>
      <p:sp>
        <p:nvSpPr>
          <p:cNvPr id="16" name="Textplatzhalter 2">
            <a:extLst>
              <a:ext uri="{FF2B5EF4-FFF2-40B4-BE49-F238E27FC236}">
                <a16:creationId xmlns:a16="http://schemas.microsoft.com/office/drawing/2014/main" id="{14E535E1-9622-74E5-6AAA-47324B368800}"/>
              </a:ext>
            </a:extLst>
          </p:cNvPr>
          <p:cNvSpPr txBox="1">
            <a:spLocks/>
          </p:cNvSpPr>
          <p:nvPr/>
        </p:nvSpPr>
        <p:spPr>
          <a:xfrm>
            <a:off x="5304695" y="1773238"/>
            <a:ext cx="4148868" cy="4583113"/>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Die Kundenabhängigkeit des Unternehmens ist oftmals der Haupteinflussfaktor für eine Abschmelzung der Erfolgsfaktoren</a:t>
            </a:r>
          </a:p>
          <a:p>
            <a:pPr marL="171450" indent="-171450" algn="just">
              <a:spcBef>
                <a:spcPts val="600"/>
              </a:spcBef>
              <a:buClr>
                <a:srgbClr val="002060"/>
              </a:buClr>
              <a:buFont typeface="Arial" panose="020B0604020202020204" pitchFamily="34" charset="0"/>
              <a:buChar char="•"/>
            </a:pPr>
            <a:r>
              <a:rPr lang="de-DE" sz="1100" dirty="0"/>
              <a:t>Die Definition der Art der Kundenbeziehung, z.B. Laufkundschaft vs. langfristige Kundenbeziehung ist dabei ein wichtiges Kriterium</a:t>
            </a:r>
          </a:p>
          <a:p>
            <a:pPr marL="171450" indent="-171450" algn="just">
              <a:spcBef>
                <a:spcPts val="600"/>
              </a:spcBef>
              <a:buClr>
                <a:srgbClr val="002060"/>
              </a:buClr>
              <a:buFont typeface="Arial" panose="020B0604020202020204" pitchFamily="34" charset="0"/>
              <a:buChar char="•"/>
            </a:pPr>
            <a:r>
              <a:rPr lang="de-DE" sz="1100" dirty="0"/>
              <a:t>Für die </a:t>
            </a:r>
            <a:r>
              <a:rPr lang="de-DE" sz="1100" b="1" dirty="0"/>
              <a:t>Abschmelzdauer</a:t>
            </a:r>
            <a:r>
              <a:rPr lang="de-DE" sz="1100" dirty="0"/>
              <a:t> werden typischerweise Vertragslaufzeiten, (erwartete) Vertragsverlängerungen, weitere rechtliche, regulatorische, wirtschaftliche und technologische sowie demographische / biometrische Aspekte hinsichtlich der bestehenden Kundenstruktur sowie Produktlebenszyklen  herangezogen</a:t>
            </a:r>
          </a:p>
          <a:p>
            <a:pPr marL="171450" indent="-171450" algn="just" defTabSz="685800">
              <a:spcBef>
                <a:spcPts val="750"/>
              </a:spcBef>
              <a:buClr>
                <a:srgbClr val="002060"/>
              </a:buClr>
              <a:buFont typeface="Arial" panose="020B0604020202020204" pitchFamily="34" charset="0"/>
              <a:buChar char="•"/>
              <a:defRPr/>
            </a:pPr>
            <a:r>
              <a:rPr kumimoji="0" lang="de-DE" sz="1100" b="0" i="0" u="none" strike="noStrike" kern="1200" cap="none" spc="0" normalizeH="0" baseline="0" noProof="0" dirty="0">
                <a:ln>
                  <a:noFill/>
                </a:ln>
                <a:solidFill>
                  <a:srgbClr val="32434D"/>
                </a:solidFill>
                <a:effectLst/>
                <a:uLnTx/>
                <a:uFillTx/>
                <a:latin typeface="Open Sans Light"/>
                <a:ea typeface="+mn-ea"/>
                <a:cs typeface="+mn-cs"/>
              </a:rPr>
              <a:t>Auch technische, technologische, wirtschaftliche oder andere Arten der Veralterung der Produkte bzw. Dienstleistungen, die Stabilität der Branche, voraussichtliche Handlungen von (potenziellen) Wettbewerbern sowie die Höhe der Erhaltungsaufwendungen, die zur Bindung des Kunden bzw. der Verlängerung von Verträgen notwendig sind gehen in die Überlegungen ein</a:t>
            </a:r>
          </a:p>
          <a:p>
            <a:pPr marL="171450" indent="-171450" algn="just" defTabSz="685800">
              <a:spcBef>
                <a:spcPts val="750"/>
              </a:spcBef>
              <a:buClr>
                <a:srgbClr val="002060"/>
              </a:buClr>
              <a:buFont typeface="Arial" panose="020B0604020202020204" pitchFamily="34" charset="0"/>
              <a:buChar char="•"/>
              <a:defRPr/>
            </a:pPr>
            <a:r>
              <a:rPr lang="de-DE" sz="1100" dirty="0">
                <a:solidFill>
                  <a:srgbClr val="32434D"/>
                </a:solidFill>
                <a:latin typeface="Open Sans Light"/>
              </a:rPr>
              <a:t>Auch handelsbilanzielle und steuerrechtliche Nutzungsvorschriften können ggf. hilfsweise herangezogen werden</a:t>
            </a:r>
            <a:endParaRPr kumimoji="0" lang="de-DE" sz="1100" b="0" i="0" u="none" strike="noStrike" kern="1200" cap="none" spc="0" normalizeH="0" baseline="0" noProof="0" dirty="0">
              <a:ln>
                <a:noFill/>
              </a:ln>
              <a:solidFill>
                <a:srgbClr val="32434D"/>
              </a:solidFill>
              <a:effectLst/>
              <a:uLnTx/>
              <a:uFillTx/>
              <a:latin typeface="Open Sans Light"/>
              <a:ea typeface="+mn-ea"/>
              <a:cs typeface="+mn-cs"/>
            </a:endParaRPr>
          </a:p>
          <a:p>
            <a:pPr marL="171450" indent="-171450" algn="just">
              <a:spcBef>
                <a:spcPts val="600"/>
              </a:spcBef>
              <a:buClr>
                <a:schemeClr val="accent2"/>
              </a:buClr>
              <a:buFont typeface="Arial" panose="020B0604020202020204" pitchFamily="34" charset="0"/>
              <a:buChar char="•"/>
            </a:pPr>
            <a:endParaRPr lang="de-DE" sz="1100" dirty="0"/>
          </a:p>
          <a:p>
            <a:pPr marL="171450" indent="-171450" algn="just">
              <a:spcBef>
                <a:spcPts val="600"/>
              </a:spcBef>
              <a:buClr>
                <a:schemeClr val="accent2"/>
              </a:buClr>
              <a:buFont typeface="Arial" panose="020B0604020202020204" pitchFamily="34" charset="0"/>
              <a:buChar char="•"/>
            </a:pPr>
            <a:endParaRPr lang="en-US" sz="1100" dirty="0"/>
          </a:p>
          <a:p>
            <a:pPr marL="171450" indent="-171450" algn="just">
              <a:spcBef>
                <a:spcPts val="600"/>
              </a:spcBef>
              <a:buClr>
                <a:schemeClr val="accent2"/>
              </a:buClr>
              <a:buFont typeface="Arial" panose="020B0604020202020204" pitchFamily="34" charset="0"/>
              <a:buChar char="•"/>
            </a:pPr>
            <a:endParaRPr lang="de-DE" sz="1100" dirty="0"/>
          </a:p>
        </p:txBody>
      </p:sp>
      <p:pic>
        <p:nvPicPr>
          <p:cNvPr id="3" name="Picture 2">
            <a:extLst>
              <a:ext uri="{FF2B5EF4-FFF2-40B4-BE49-F238E27FC236}">
                <a16:creationId xmlns:a16="http://schemas.microsoft.com/office/drawing/2014/main" id="{333BB6B5-46BC-7599-4372-48A949298377}"/>
              </a:ext>
            </a:extLst>
          </p:cNvPr>
          <p:cNvPicPr>
            <a:picLocks noChangeAspect="1"/>
          </p:cNvPicPr>
          <p:nvPr>
            <p:custDataLst>
              <p:tags r:id="rId1"/>
            </p:custDataLst>
          </p:nvPr>
        </p:nvPicPr>
        <p:blipFill>
          <a:blip r:embed="rId3"/>
          <a:stretch>
            <a:fillRect/>
          </a:stretch>
        </p:blipFill>
        <p:spPr>
          <a:xfrm>
            <a:off x="247215" y="4304782"/>
            <a:ext cx="3956903" cy="1740209"/>
          </a:xfrm>
          <a:prstGeom prst="rect">
            <a:avLst/>
          </a:prstGeom>
        </p:spPr>
      </p:pic>
      <p:sp>
        <p:nvSpPr>
          <p:cNvPr id="5" name="Textplatzhalter 2">
            <a:extLst>
              <a:ext uri="{FF2B5EF4-FFF2-40B4-BE49-F238E27FC236}">
                <a16:creationId xmlns:a16="http://schemas.microsoft.com/office/drawing/2014/main" id="{994DBDBF-76C9-72A3-9F03-B32379CA4F4A}"/>
              </a:ext>
            </a:extLst>
          </p:cNvPr>
          <p:cNvSpPr txBox="1">
            <a:spLocks/>
          </p:cNvSpPr>
          <p:nvPr/>
        </p:nvSpPr>
        <p:spPr>
          <a:xfrm>
            <a:off x="131402" y="1773238"/>
            <a:ext cx="4821598" cy="2124075"/>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8775" lvl="2" indent="-179388" algn="just">
              <a:spcBef>
                <a:spcPts val="600"/>
              </a:spcBef>
              <a:buClr>
                <a:srgbClr val="002060"/>
              </a:buClr>
              <a:buFont typeface="Wingdings" panose="05000000000000000000" pitchFamily="2" charset="2"/>
              <a:buChar char="ü"/>
            </a:pPr>
            <a:r>
              <a:rPr lang="de-DE" sz="1100" dirty="0"/>
              <a:t>Vertragslaufzeiten und erwartete Vertragsverlängerungen</a:t>
            </a:r>
          </a:p>
          <a:p>
            <a:pPr marL="358775" lvl="2" indent="-179388" algn="just">
              <a:spcBef>
                <a:spcPts val="600"/>
              </a:spcBef>
              <a:buClr>
                <a:srgbClr val="002060"/>
              </a:buClr>
              <a:buFont typeface="Wingdings" panose="05000000000000000000" pitchFamily="2" charset="2"/>
              <a:buChar char="ü"/>
            </a:pPr>
            <a:r>
              <a:rPr lang="de-DE" sz="1100" dirty="0"/>
              <a:t>Typische Produktlebenszyklen</a:t>
            </a:r>
          </a:p>
          <a:p>
            <a:pPr marL="358775" lvl="2" indent="-179388" algn="just">
              <a:spcBef>
                <a:spcPts val="600"/>
              </a:spcBef>
              <a:buClr>
                <a:srgbClr val="002060"/>
              </a:buClr>
              <a:buFont typeface="Wingdings" panose="05000000000000000000" pitchFamily="2" charset="2"/>
              <a:buChar char="ü"/>
            </a:pPr>
            <a:r>
              <a:rPr lang="de-DE" sz="1100" dirty="0"/>
              <a:t>Art der Kundenbeziehung (Laufkundschaft aufgrund der Lage vs. persönliche Beziehung)</a:t>
            </a:r>
          </a:p>
          <a:p>
            <a:pPr marL="358775" lvl="2" indent="-179388" algn="just">
              <a:spcBef>
                <a:spcPts val="600"/>
              </a:spcBef>
              <a:buClr>
                <a:srgbClr val="002060"/>
              </a:buClr>
              <a:buFont typeface="Wingdings" panose="05000000000000000000" pitchFamily="2" charset="2"/>
              <a:buChar char="ü"/>
            </a:pPr>
            <a:r>
              <a:rPr lang="de-DE" sz="1100" dirty="0"/>
              <a:t>Verhalten von Wettbewerbern</a:t>
            </a:r>
          </a:p>
          <a:p>
            <a:pPr marL="358775" lvl="2" indent="-179388" algn="just">
              <a:spcBef>
                <a:spcPts val="600"/>
              </a:spcBef>
              <a:buClr>
                <a:srgbClr val="002060"/>
              </a:buClr>
              <a:buFont typeface="Wingdings" panose="05000000000000000000" pitchFamily="2" charset="2"/>
              <a:buChar char="ü"/>
            </a:pPr>
            <a:r>
              <a:rPr lang="de-DE" sz="1100" dirty="0"/>
              <a:t>(Höhe und Dauer der) Abhängigkeit von Kunden</a:t>
            </a:r>
          </a:p>
          <a:p>
            <a:pPr marL="358775" lvl="2" indent="-179388" algn="just">
              <a:spcBef>
                <a:spcPts val="600"/>
              </a:spcBef>
              <a:buClr>
                <a:srgbClr val="002060"/>
              </a:buClr>
              <a:buFont typeface="Wingdings" panose="05000000000000000000" pitchFamily="2" charset="2"/>
              <a:buChar char="ü"/>
            </a:pPr>
            <a:r>
              <a:rPr lang="de-DE" sz="1100" dirty="0"/>
              <a:t>Demographische und biometrische Aspekte</a:t>
            </a:r>
          </a:p>
          <a:p>
            <a:pPr marL="358775" lvl="2" indent="-179388" algn="just">
              <a:spcBef>
                <a:spcPts val="600"/>
              </a:spcBef>
              <a:buClr>
                <a:srgbClr val="002060"/>
              </a:buClr>
              <a:buFont typeface="Wingdings" panose="05000000000000000000" pitchFamily="2" charset="2"/>
              <a:buChar char="ü"/>
            </a:pPr>
            <a:r>
              <a:rPr lang="de-DE" sz="1100" dirty="0"/>
              <a:t>Änderung der Kundenbeziehungen im Zeitablauf</a:t>
            </a:r>
          </a:p>
          <a:p>
            <a:pPr marL="358775" lvl="2" indent="-179388" algn="just">
              <a:spcBef>
                <a:spcPts val="600"/>
              </a:spcBef>
              <a:buClr>
                <a:srgbClr val="002060"/>
              </a:buClr>
              <a:buFont typeface="Wingdings" panose="05000000000000000000" pitchFamily="2" charset="2"/>
              <a:buChar char="ü"/>
            </a:pPr>
            <a:r>
              <a:rPr lang="de-DE" sz="1100" dirty="0"/>
              <a:t>Typisierungen können sich ggf. durch handelsbilanzielle und steuerrechtliche Nutzungsdauern ergeben</a:t>
            </a:r>
          </a:p>
        </p:txBody>
      </p:sp>
    </p:spTree>
    <p:extLst>
      <p:ext uri="{BB962C8B-B14F-4D97-AF65-F5344CB8AC3E}">
        <p14:creationId xmlns:p14="http://schemas.microsoft.com/office/powerpoint/2010/main" val="4176951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C3D0-B56C-2809-D0BC-1223835E7F4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2CE56F6-D677-DFA7-EC7F-C5D326995B2A}"/>
              </a:ext>
            </a:extLst>
          </p:cNvPr>
          <p:cNvSpPr>
            <a:spLocks noGrp="1"/>
          </p:cNvSpPr>
          <p:nvPr>
            <p:ph type="title"/>
          </p:nvPr>
        </p:nvSpPr>
        <p:spPr>
          <a:xfrm>
            <a:off x="273051" y="2402239"/>
            <a:ext cx="4281408" cy="2187227"/>
          </a:xfrm>
        </p:spPr>
        <p:txBody>
          <a:bodyPr/>
          <a:lstStyle/>
          <a:p>
            <a:r>
              <a:rPr lang="de-DE" dirty="0"/>
              <a:t>Bewertung KMU</a:t>
            </a:r>
          </a:p>
        </p:txBody>
      </p:sp>
      <p:sp>
        <p:nvSpPr>
          <p:cNvPr id="6" name="Textplatzhalter 5">
            <a:extLst>
              <a:ext uri="{FF2B5EF4-FFF2-40B4-BE49-F238E27FC236}">
                <a16:creationId xmlns:a16="http://schemas.microsoft.com/office/drawing/2014/main" id="{F8E2CAE7-FBBC-96B6-3EC9-3BF1BFD60612}"/>
              </a:ext>
            </a:extLst>
          </p:cNvPr>
          <p:cNvSpPr>
            <a:spLocks noGrp="1"/>
          </p:cNvSpPr>
          <p:nvPr>
            <p:ph type="body" idx="1"/>
          </p:nvPr>
        </p:nvSpPr>
        <p:spPr/>
        <p:txBody>
          <a:bodyPr/>
          <a:lstStyle/>
          <a:p>
            <a:r>
              <a:rPr lang="de-DE" dirty="0"/>
              <a:t>Wertsteigerung</a:t>
            </a:r>
          </a:p>
        </p:txBody>
      </p:sp>
      <p:sp>
        <p:nvSpPr>
          <p:cNvPr id="2" name="Foliennummernplatzhalter 1">
            <a:extLst>
              <a:ext uri="{FF2B5EF4-FFF2-40B4-BE49-F238E27FC236}">
                <a16:creationId xmlns:a16="http://schemas.microsoft.com/office/drawing/2014/main" id="{AEE7D64E-C013-E036-F2B9-E28E9FEEA18D}"/>
              </a:ext>
            </a:extLst>
          </p:cNvPr>
          <p:cNvSpPr>
            <a:spLocks noGrp="1"/>
          </p:cNvSpPr>
          <p:nvPr>
            <p:ph type="sldNum" sz="quarter" idx="12"/>
          </p:nvPr>
        </p:nvSpPr>
        <p:spPr/>
        <p:txBody>
          <a:bodyPr/>
          <a:lstStyle/>
          <a:p>
            <a:fld id="{06BE810C-D1BD-4E2B-9D7B-C86294C40709}" type="slidenum">
              <a:rPr lang="en-US" smtClean="0"/>
              <a:t>28</a:t>
            </a:fld>
            <a:endParaRPr lang="en-US" dirty="0"/>
          </a:p>
        </p:txBody>
      </p:sp>
    </p:spTree>
    <p:extLst>
      <p:ext uri="{BB962C8B-B14F-4D97-AF65-F5344CB8AC3E}">
        <p14:creationId xmlns:p14="http://schemas.microsoft.com/office/powerpoint/2010/main" val="1451363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C996-1704-FEF0-F2F4-3DDE6134179E}"/>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639B888-A568-E02A-E64F-1B2302EBE77F}"/>
              </a:ext>
            </a:extLst>
          </p:cNvPr>
          <p:cNvSpPr>
            <a:spLocks noGrp="1"/>
          </p:cNvSpPr>
          <p:nvPr>
            <p:ph type="sldNum" sz="quarter" idx="12"/>
          </p:nvPr>
        </p:nvSpPr>
        <p:spPr/>
        <p:txBody>
          <a:bodyPr/>
          <a:lstStyle/>
          <a:p>
            <a:fld id="{06BE810C-D1BD-4E2B-9D7B-C86294C40709}" type="slidenum">
              <a:rPr lang="en-US" smtClean="0"/>
              <a:t>29</a:t>
            </a:fld>
            <a:endParaRPr lang="en-US" dirty="0"/>
          </a:p>
        </p:txBody>
      </p:sp>
      <p:sp>
        <p:nvSpPr>
          <p:cNvPr id="4" name="Textplatzhalter 3">
            <a:extLst>
              <a:ext uri="{FF2B5EF4-FFF2-40B4-BE49-F238E27FC236}">
                <a16:creationId xmlns:a16="http://schemas.microsoft.com/office/drawing/2014/main" id="{A36C75CB-0518-1F20-3306-B08C99FF2E90}"/>
              </a:ext>
            </a:extLst>
          </p:cNvPr>
          <p:cNvSpPr>
            <a:spLocks noGrp="1"/>
          </p:cNvSpPr>
          <p:nvPr>
            <p:ph type="body" sz="quarter" idx="4294967295"/>
          </p:nvPr>
        </p:nvSpPr>
        <p:spPr>
          <a:xfrm>
            <a:off x="275654" y="169034"/>
            <a:ext cx="9225900" cy="896937"/>
          </a:xfrm>
        </p:spPr>
        <p:txBody>
          <a:bodyPr vert="horz" lIns="0" tIns="45720" rIns="91440" bIns="45720" rtlCol="0" anchor="ctr">
            <a:normAutofit/>
          </a:bodyPr>
          <a:lstStyle/>
          <a:p>
            <a:pPr marL="0" indent="0">
              <a:buNone/>
            </a:pPr>
            <a:r>
              <a:rPr lang="de-DE" sz="2100" dirty="0"/>
              <a:t>AUSBLICK - WERTSTEIGERUNG BEI KMU </a:t>
            </a:r>
          </a:p>
        </p:txBody>
      </p:sp>
      <p:sp>
        <p:nvSpPr>
          <p:cNvPr id="19" name="Rechteck 88">
            <a:extLst>
              <a:ext uri="{FF2B5EF4-FFF2-40B4-BE49-F238E27FC236}">
                <a16:creationId xmlns:a16="http://schemas.microsoft.com/office/drawing/2014/main" id="{234D0F85-B437-9814-64D3-050DAA53A91C}"/>
              </a:ext>
            </a:extLst>
          </p:cNvPr>
          <p:cNvSpPr/>
          <p:nvPr/>
        </p:nvSpPr>
        <p:spPr>
          <a:xfrm>
            <a:off x="5304695" y="1419930"/>
            <a:ext cx="4313756"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II. Besonderheiten KMU</a:t>
            </a:r>
          </a:p>
        </p:txBody>
      </p:sp>
      <p:sp>
        <p:nvSpPr>
          <p:cNvPr id="66" name="Text Placeholder 6">
            <a:extLst>
              <a:ext uri="{FF2B5EF4-FFF2-40B4-BE49-F238E27FC236}">
                <a16:creationId xmlns:a16="http://schemas.microsoft.com/office/drawing/2014/main" id="{39F545EA-A463-787E-44A3-9BEAB063AF8F}"/>
              </a:ext>
            </a:extLst>
          </p:cNvPr>
          <p:cNvSpPr txBox="1">
            <a:spLocks/>
          </p:cNvSpPr>
          <p:nvPr/>
        </p:nvSpPr>
        <p:spPr>
          <a:xfrm>
            <a:off x="288526" y="1356677"/>
            <a:ext cx="4555947" cy="315077"/>
          </a:xfrm>
          <a:prstGeom prst="rect">
            <a:avLst/>
          </a:prstGeom>
        </p:spPr>
        <p:txBody>
          <a:bodyPr vert="horz" lIns="0" tIns="0" rIns="0" bIns="45720" rtlCol="0" anchor="ctr" anchorCtr="0">
            <a:noAutofit/>
          </a:bodyPr>
          <a:lstStyle>
            <a:lvl1pPr marL="0" indent="0" algn="l" defTabSz="685800" rtl="0" eaLnBrk="1" latinLnBrk="0" hangingPunct="1">
              <a:lnSpc>
                <a:spcPct val="90000"/>
              </a:lnSpc>
              <a:spcBef>
                <a:spcPts val="750"/>
              </a:spcBef>
              <a:buClr>
                <a:srgbClr val="1792BA"/>
              </a:buClr>
              <a:buFont typeface="+mj-lt"/>
              <a:buNone/>
              <a:defRPr sz="1200" b="1" kern="1200" baseline="0">
                <a:solidFill>
                  <a:srgbClr val="8BAABF"/>
                </a:solidFill>
                <a:latin typeface="+mn-lt"/>
                <a:ea typeface="+mn-ea"/>
                <a:cs typeface="+mn-cs"/>
              </a:defRPr>
            </a:lvl1pPr>
            <a:lvl2pPr marL="914400" indent="-457200" algn="l" defTabSz="685800" rtl="0" eaLnBrk="1" latinLnBrk="0" hangingPunct="1">
              <a:lnSpc>
                <a:spcPct val="90000"/>
              </a:lnSpc>
              <a:spcBef>
                <a:spcPts val="375"/>
              </a:spcBef>
              <a:buClr>
                <a:srgbClr val="1792BA"/>
              </a:buClr>
              <a:buFont typeface="+mj-lt"/>
              <a:buAutoNum type="arabicPeriod"/>
              <a:defRPr sz="1100" kern="1200">
                <a:solidFill>
                  <a:schemeClr val="tx1"/>
                </a:solidFill>
                <a:latin typeface="+mn-lt"/>
                <a:ea typeface="+mn-ea"/>
                <a:cs typeface="+mn-cs"/>
              </a:defRPr>
            </a:lvl2pPr>
            <a:lvl3pPr marL="1371600" indent="-457200" algn="l" defTabSz="685800" rtl="0" eaLnBrk="1" latinLnBrk="0" hangingPunct="1">
              <a:lnSpc>
                <a:spcPct val="90000"/>
              </a:lnSpc>
              <a:spcBef>
                <a:spcPts val="375"/>
              </a:spcBef>
              <a:buClr>
                <a:srgbClr val="1792BA"/>
              </a:buClr>
              <a:buFont typeface="+mj-lt"/>
              <a:buAutoNum type="arabicPeriod"/>
              <a:defRPr sz="1500" kern="1200">
                <a:solidFill>
                  <a:schemeClr val="tx1"/>
                </a:solidFill>
                <a:latin typeface="+mn-lt"/>
                <a:ea typeface="+mn-ea"/>
                <a:cs typeface="+mn-cs"/>
              </a:defRPr>
            </a:lvl3pPr>
            <a:lvl4pPr marL="17145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4pPr>
            <a:lvl5pPr marL="2171700" indent="-342900" algn="l" defTabSz="685800" rtl="0" eaLnBrk="1" latinLnBrk="0" hangingPunct="1">
              <a:lnSpc>
                <a:spcPct val="90000"/>
              </a:lnSpc>
              <a:spcBef>
                <a:spcPts val="375"/>
              </a:spcBef>
              <a:buClr>
                <a:srgbClr val="1792BA"/>
              </a:buClr>
              <a:buFont typeface="+mj-lt"/>
              <a:buAutoNum type="arabicPeriod"/>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solidFill>
                  <a:srgbClr val="32434D"/>
                </a:solidFill>
              </a:rPr>
              <a:t>I. Bewertungs-Triangel</a:t>
            </a:r>
            <a:endParaRPr lang="en-US" dirty="0">
              <a:solidFill>
                <a:srgbClr val="32434D"/>
              </a:solidFill>
            </a:endParaRPr>
          </a:p>
        </p:txBody>
      </p:sp>
      <p:sp>
        <p:nvSpPr>
          <p:cNvPr id="8" name="Text Placeholder 11">
            <a:extLst>
              <a:ext uri="{FF2B5EF4-FFF2-40B4-BE49-F238E27FC236}">
                <a16:creationId xmlns:a16="http://schemas.microsoft.com/office/drawing/2014/main" id="{86A0BA91-07BA-A475-7A6E-3BE7E024DD64}"/>
              </a:ext>
            </a:extLst>
          </p:cNvPr>
          <p:cNvSpPr txBox="1">
            <a:spLocks/>
          </p:cNvSpPr>
          <p:nvPr/>
        </p:nvSpPr>
        <p:spPr>
          <a:xfrm>
            <a:off x="275655" y="3923169"/>
            <a:ext cx="4497958" cy="2251255"/>
          </a:xfrm>
          <a:prstGeom prst="rect">
            <a:avLst/>
          </a:prstGeom>
        </p:spPr>
        <p:txBody>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t>Ansatz Steigerung Höhe Cashflows, Zeitraum verlängern, Risiken verringern</a:t>
            </a:r>
          </a:p>
        </p:txBody>
      </p:sp>
      <p:pic>
        <p:nvPicPr>
          <p:cNvPr id="10" name="Picture 9">
            <a:extLst>
              <a:ext uri="{FF2B5EF4-FFF2-40B4-BE49-F238E27FC236}">
                <a16:creationId xmlns:a16="http://schemas.microsoft.com/office/drawing/2014/main" id="{3E45AD79-1692-B1CD-9D99-920E31B8648D}"/>
              </a:ext>
            </a:extLst>
          </p:cNvPr>
          <p:cNvPicPr>
            <a:picLocks noChangeAspect="1"/>
          </p:cNvPicPr>
          <p:nvPr/>
        </p:nvPicPr>
        <p:blipFill>
          <a:blip r:embed="rId2"/>
          <a:stretch>
            <a:fillRect/>
          </a:stretch>
        </p:blipFill>
        <p:spPr>
          <a:xfrm>
            <a:off x="974994" y="1773239"/>
            <a:ext cx="3293061" cy="1984082"/>
          </a:xfrm>
          <a:prstGeom prst="rect">
            <a:avLst/>
          </a:prstGeom>
        </p:spPr>
      </p:pic>
      <p:sp>
        <p:nvSpPr>
          <p:cNvPr id="11" name="Text Placeholder 11">
            <a:extLst>
              <a:ext uri="{FF2B5EF4-FFF2-40B4-BE49-F238E27FC236}">
                <a16:creationId xmlns:a16="http://schemas.microsoft.com/office/drawing/2014/main" id="{438726D2-4727-CB76-B345-DC2443B9F48E}"/>
              </a:ext>
            </a:extLst>
          </p:cNvPr>
          <p:cNvSpPr txBox="1">
            <a:spLocks/>
          </p:cNvSpPr>
          <p:nvPr/>
        </p:nvSpPr>
        <p:spPr>
          <a:xfrm>
            <a:off x="5304695" y="3923169"/>
            <a:ext cx="4497958" cy="2251255"/>
          </a:xfrm>
          <a:prstGeom prst="rect">
            <a:avLst/>
          </a:prstGeom>
        </p:spPr>
        <p:txBody>
          <a:bodyPr/>
          <a:lstStyle>
            <a:lvl1pPr marL="171450" indent="-171450" algn="l" defTabSz="685800" rtl="0" eaLnBrk="1" latinLnBrk="0" hangingPunct="1">
              <a:lnSpc>
                <a:spcPct val="90000"/>
              </a:lnSpc>
              <a:spcBef>
                <a:spcPts val="750"/>
              </a:spcBef>
              <a:buClr>
                <a:srgbClr val="7492A5"/>
              </a:buClr>
              <a:buFont typeface="Arial" panose="020B0604020202020204" pitchFamily="34" charset="0"/>
              <a:buChar char="•"/>
              <a:defRPr sz="1100" kern="1200">
                <a:solidFill>
                  <a:schemeClr val="tx1"/>
                </a:solidFill>
                <a:latin typeface="+mn-lt"/>
                <a:ea typeface="+mn-ea"/>
                <a:cs typeface="+mn-cs"/>
              </a:defRPr>
            </a:lvl1pPr>
            <a:lvl2pPr marL="360363" indent="-184150" algn="l" defTabSz="685800" rtl="0" eaLnBrk="1" latinLnBrk="0" hangingPunct="1">
              <a:lnSpc>
                <a:spcPct val="90000"/>
              </a:lnSpc>
              <a:spcBef>
                <a:spcPts val="375"/>
              </a:spcBef>
              <a:buClr>
                <a:srgbClr val="FF9900"/>
              </a:buClr>
              <a:buFont typeface="Wingdings" panose="05000000000000000000" pitchFamily="2" charset="2"/>
              <a:buChar char="ü"/>
              <a:defRPr sz="11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dirty="0"/>
              <a:t>Besonderheiten KMU entgegenwirken </a:t>
            </a:r>
          </a:p>
          <a:p>
            <a:pPr lvl="1"/>
            <a:r>
              <a:rPr lang="de-DE" dirty="0"/>
              <a:t>2. Führungsebene vorhanden</a:t>
            </a:r>
          </a:p>
          <a:p>
            <a:pPr lvl="1"/>
            <a:r>
              <a:rPr lang="de-DE" dirty="0"/>
              <a:t>Dokumentation der Prozesse und Abläufe</a:t>
            </a:r>
          </a:p>
          <a:p>
            <a:pPr lvl="1"/>
            <a:r>
              <a:rPr lang="de-DE" dirty="0"/>
              <a:t>Kundenkontakte im Unternehmen verteilt, nicht auf den Unternehmer bezogen</a:t>
            </a:r>
          </a:p>
          <a:p>
            <a:pPr lvl="1"/>
            <a:r>
              <a:rPr lang="de-DE" dirty="0"/>
              <a:t>…</a:t>
            </a:r>
          </a:p>
          <a:p>
            <a:pPr lvl="1"/>
            <a:endParaRPr lang="en-US" dirty="0"/>
          </a:p>
        </p:txBody>
      </p:sp>
      <p:pic>
        <p:nvPicPr>
          <p:cNvPr id="12" name="Picture 11">
            <a:extLst>
              <a:ext uri="{FF2B5EF4-FFF2-40B4-BE49-F238E27FC236}">
                <a16:creationId xmlns:a16="http://schemas.microsoft.com/office/drawing/2014/main" id="{69FFF25B-308D-64A5-FBE6-5CECE7CB750F}"/>
              </a:ext>
            </a:extLst>
          </p:cNvPr>
          <p:cNvPicPr>
            <a:picLocks noChangeAspect="1"/>
          </p:cNvPicPr>
          <p:nvPr/>
        </p:nvPicPr>
        <p:blipFill>
          <a:blip r:embed="rId3"/>
          <a:stretch>
            <a:fillRect/>
          </a:stretch>
        </p:blipFill>
        <p:spPr>
          <a:xfrm>
            <a:off x="5444007" y="1825949"/>
            <a:ext cx="3797663" cy="1855022"/>
          </a:xfrm>
          <a:prstGeom prst="rect">
            <a:avLst/>
          </a:prstGeom>
        </p:spPr>
      </p:pic>
      <p:sp>
        <p:nvSpPr>
          <p:cNvPr id="3" name="Rectangle 2">
            <a:extLst>
              <a:ext uri="{FF2B5EF4-FFF2-40B4-BE49-F238E27FC236}">
                <a16:creationId xmlns:a16="http://schemas.microsoft.com/office/drawing/2014/main" id="{1E8693B3-D383-AC0D-1D2F-E63ED7E2F8CD}"/>
              </a:ext>
            </a:extLst>
          </p:cNvPr>
          <p:cNvSpPr/>
          <p:nvPr/>
        </p:nvSpPr>
        <p:spPr>
          <a:xfrm>
            <a:off x="808647" y="5172158"/>
            <a:ext cx="2596541" cy="8365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r>
              <a:rPr lang="de-DE" sz="1200" b="1" dirty="0">
                <a:solidFill>
                  <a:schemeClr val="bg1"/>
                </a:solidFill>
              </a:rPr>
              <a:t>Stichworte ergänzen</a:t>
            </a:r>
          </a:p>
        </p:txBody>
      </p:sp>
    </p:spTree>
    <p:extLst>
      <p:ext uri="{BB962C8B-B14F-4D97-AF65-F5344CB8AC3E}">
        <p14:creationId xmlns:p14="http://schemas.microsoft.com/office/powerpoint/2010/main" val="1439420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5807-F38C-9D4D-91AE-CCABD9A0A04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C7856A9-8FE6-552B-912C-3D13A8C0DD09}"/>
              </a:ext>
            </a:extLst>
          </p:cNvPr>
          <p:cNvSpPr>
            <a:spLocks noGrp="1"/>
          </p:cNvSpPr>
          <p:nvPr>
            <p:ph type="title"/>
          </p:nvPr>
        </p:nvSpPr>
        <p:spPr>
          <a:xfrm>
            <a:off x="273051" y="2402239"/>
            <a:ext cx="4281408" cy="2187227"/>
          </a:xfrm>
        </p:spPr>
        <p:txBody>
          <a:bodyPr/>
          <a:lstStyle/>
          <a:p>
            <a:r>
              <a:rPr lang="de-DE" dirty="0"/>
              <a:t>Bewertung KMU</a:t>
            </a:r>
          </a:p>
        </p:txBody>
      </p:sp>
      <p:sp>
        <p:nvSpPr>
          <p:cNvPr id="6" name="Textplatzhalter 5">
            <a:extLst>
              <a:ext uri="{FF2B5EF4-FFF2-40B4-BE49-F238E27FC236}">
                <a16:creationId xmlns:a16="http://schemas.microsoft.com/office/drawing/2014/main" id="{F96EABDB-ECC3-D39F-A65B-65A11FC5CE21}"/>
              </a:ext>
            </a:extLst>
          </p:cNvPr>
          <p:cNvSpPr>
            <a:spLocks noGrp="1"/>
          </p:cNvSpPr>
          <p:nvPr>
            <p:ph type="body" idx="1"/>
          </p:nvPr>
        </p:nvSpPr>
        <p:spPr/>
        <p:txBody>
          <a:bodyPr/>
          <a:lstStyle/>
          <a:p>
            <a:r>
              <a:rPr lang="de-DE" dirty="0"/>
              <a:t>Zusammenfassung</a:t>
            </a:r>
          </a:p>
        </p:txBody>
      </p:sp>
      <p:sp>
        <p:nvSpPr>
          <p:cNvPr id="2" name="Foliennummernplatzhalter 1">
            <a:extLst>
              <a:ext uri="{FF2B5EF4-FFF2-40B4-BE49-F238E27FC236}">
                <a16:creationId xmlns:a16="http://schemas.microsoft.com/office/drawing/2014/main" id="{D94E2AAE-9CA9-1505-4A4F-8E47F12B3D6F}"/>
              </a:ext>
            </a:extLst>
          </p:cNvPr>
          <p:cNvSpPr>
            <a:spLocks noGrp="1"/>
          </p:cNvSpPr>
          <p:nvPr>
            <p:ph type="sldNum" sz="quarter" idx="12"/>
          </p:nvPr>
        </p:nvSpPr>
        <p:spPr/>
        <p:txBody>
          <a:bodyPr/>
          <a:lstStyle/>
          <a:p>
            <a:fld id="{06BE810C-D1BD-4E2B-9D7B-C86294C40709}" type="slidenum">
              <a:rPr lang="en-US" smtClean="0"/>
              <a:t>30</a:t>
            </a:fld>
            <a:endParaRPr lang="en-US" dirty="0"/>
          </a:p>
        </p:txBody>
      </p:sp>
    </p:spTree>
    <p:extLst>
      <p:ext uri="{BB962C8B-B14F-4D97-AF65-F5344CB8AC3E}">
        <p14:creationId xmlns:p14="http://schemas.microsoft.com/office/powerpoint/2010/main" val="3416137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79114-6B98-1847-AEED-D1B0025972AB}"/>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8F4CBC-50DD-A60F-6316-A001BB9F2D8A}"/>
              </a:ext>
            </a:extLst>
          </p:cNvPr>
          <p:cNvSpPr>
            <a:spLocks noGrp="1"/>
          </p:cNvSpPr>
          <p:nvPr>
            <p:ph type="sldNum" sz="quarter" idx="12"/>
          </p:nvPr>
        </p:nvSpPr>
        <p:spPr/>
        <p:txBody>
          <a:bodyPr/>
          <a:lstStyle/>
          <a:p>
            <a:fld id="{06BE810C-D1BD-4E2B-9D7B-C86294C40709}" type="slidenum">
              <a:rPr lang="en-US" smtClean="0"/>
              <a:t>31</a:t>
            </a:fld>
            <a:endParaRPr lang="en-US" dirty="0"/>
          </a:p>
        </p:txBody>
      </p:sp>
      <p:sp>
        <p:nvSpPr>
          <p:cNvPr id="4" name="Textplatzhalter 3">
            <a:extLst>
              <a:ext uri="{FF2B5EF4-FFF2-40B4-BE49-F238E27FC236}">
                <a16:creationId xmlns:a16="http://schemas.microsoft.com/office/drawing/2014/main" id="{58815D6E-3481-36F7-F460-1A707FFB83FF}"/>
              </a:ext>
            </a:extLst>
          </p:cNvPr>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solidFill>
                  <a:srgbClr val="32434D"/>
                </a:solidFill>
              </a:rPr>
              <a:t>Zusammenfassung</a:t>
            </a:r>
          </a:p>
        </p:txBody>
      </p:sp>
      <p:sp>
        <p:nvSpPr>
          <p:cNvPr id="3" name="Textplatzhalter 2">
            <a:extLst>
              <a:ext uri="{FF2B5EF4-FFF2-40B4-BE49-F238E27FC236}">
                <a16:creationId xmlns:a16="http://schemas.microsoft.com/office/drawing/2014/main" id="{C9E43CE0-946F-DB63-2FA2-A1CB673FDF69}"/>
              </a:ext>
            </a:extLst>
          </p:cNvPr>
          <p:cNvSpPr txBox="1">
            <a:spLocks/>
          </p:cNvSpPr>
          <p:nvPr/>
        </p:nvSpPr>
        <p:spPr>
          <a:xfrm>
            <a:off x="249386" y="1773238"/>
            <a:ext cx="9204177" cy="4583114"/>
          </a:xfrm>
          <a:prstGeom prst="rect">
            <a:avLst/>
          </a:prstGeom>
        </p:spPr>
        <p:txBody>
          <a:bodyPr vert="horz" lIns="0" tIns="45720" rIns="91440" bIns="45720" rtlCol="0" anchor="t">
            <a:noAutofit/>
          </a:bodyPr>
          <a:lstStyle>
            <a:lvl1pPr marL="0" marR="0" indent="0" algn="l" defTabSz="914400" rtl="0" eaLnBrk="1" fontAlgn="auto" latinLnBrk="0" hangingPunct="1">
              <a:lnSpc>
                <a:spcPct val="90000"/>
              </a:lnSpc>
              <a:spcBef>
                <a:spcPts val="1000"/>
              </a:spcBef>
              <a:spcAft>
                <a:spcPts val="0"/>
              </a:spcAft>
              <a:buClr>
                <a:srgbClr val="1792BA"/>
              </a:buClr>
              <a:buSzTx/>
              <a:buFont typeface="Arial" panose="020B0604020202020204" pitchFamily="34" charset="0"/>
              <a:buNone/>
              <a:tabLst/>
              <a:defRPr sz="1200" kern="1200" baseline="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800" kern="120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500" kern="120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1792BA"/>
              </a:buClr>
              <a:buSzTx/>
              <a:buFont typeface="Arial" panose="020B0604020202020204" pitchFamily="34" charset="0"/>
              <a:buChar char="•"/>
              <a:tabLst/>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indent="-171450" algn="just">
              <a:spcBef>
                <a:spcPts val="600"/>
              </a:spcBef>
              <a:buClr>
                <a:srgbClr val="002060"/>
              </a:buClr>
              <a:buFont typeface="Arial" panose="020B0604020202020204" pitchFamily="34" charset="0"/>
              <a:buChar char="•"/>
            </a:pPr>
            <a:r>
              <a:rPr lang="de-DE" sz="1100" dirty="0"/>
              <a:t>Es gibt nicht den einen, der Gesellschaft innewohnenden Wert. Ein durch ein Gutachten ermittelter Unternehmenswert wird, neben den Charakteristika des Bewertungsgegenstands und dessen Marktumfelds, auch maßgeblich durch den Bewertungsanlass und die dadurch bedingten Annahmen mitbestimmt (z.B. objektivierter vs. subjektiver Wert)</a:t>
            </a:r>
          </a:p>
          <a:p>
            <a:pPr marL="171450" indent="-171450" algn="just">
              <a:spcBef>
                <a:spcPts val="600"/>
              </a:spcBef>
              <a:buClr>
                <a:srgbClr val="002060"/>
              </a:buClr>
              <a:buFont typeface="Arial" panose="020B0604020202020204" pitchFamily="34" charset="0"/>
              <a:buChar char="•"/>
            </a:pPr>
            <a:r>
              <a:rPr lang="de-DE" sz="1100" dirty="0"/>
              <a:t>Es gibt verschiedene Bewertungsverfahren. Allgemein anerkannt ist, Unternehmen im Rahmen einer Gesamtbewertungsverfahrens </a:t>
            </a:r>
            <a:r>
              <a:rPr lang="de-DE" sz="1100" dirty="0" err="1"/>
              <a:t>anhandder</a:t>
            </a:r>
            <a:r>
              <a:rPr lang="de-DE" sz="1100" dirty="0"/>
              <a:t> realistischerweise zu erzielenden finanziellen Überschüsse zu bewerten (DCF- oder Ertragswertverfahren). Das Multiplikator-Verfahren wird als Plausibilisierung des DCF- oder Ertragswertverfahrens sowie als Annäherung am Markt  zu erzielender Preise für Unternehmen herangezogen</a:t>
            </a:r>
          </a:p>
          <a:p>
            <a:pPr marL="171450" indent="-171450" algn="just">
              <a:spcBef>
                <a:spcPts val="600"/>
              </a:spcBef>
              <a:buClr>
                <a:srgbClr val="002060"/>
              </a:buClr>
              <a:buFont typeface="Arial" panose="020B0604020202020204" pitchFamily="34" charset="0"/>
              <a:buChar char="•"/>
            </a:pPr>
            <a:r>
              <a:rPr lang="de-DE" sz="1100" dirty="0"/>
              <a:t>Preis ist nicht gleich Wert, Marktpreise können von Unternehmenswerten im Rahmen dieser intrinsischen Gesamtbewertungsverfahren abweichen, z.B. durch Machtgefälle im Verhandlungsprozess, persönliche Umstände der Inhaber etc.</a:t>
            </a:r>
          </a:p>
          <a:p>
            <a:pPr marL="171450" indent="-171450" algn="just">
              <a:spcBef>
                <a:spcPts val="600"/>
              </a:spcBef>
              <a:buClr>
                <a:srgbClr val="002060"/>
              </a:buClr>
              <a:buFont typeface="Arial" panose="020B0604020202020204" pitchFamily="34" charset="0"/>
              <a:buChar char="•"/>
            </a:pPr>
            <a:r>
              <a:rPr lang="de-DE" sz="1100" dirty="0"/>
              <a:t>Unternehmenswerte werden allgemein durch Faktoren beeinflusst, die sich auf die Höhe der erwirtschafteten Zahlungsmittelüberschüsse, der Länge und des Wachstums dieser Zahlungsmittelüberschüsse sowie des Gesamtrisikos des Unternehmens auswirken. Zusätzlich werden KMU bei Ihrer Bewertung von den spezifischen Charakteristika beeinflusst, bspw. Abhängigkeiten vom Inhaber oder Kunden / Zulieferern, die sich insbesondere auf die übertragbaren (und damit bewertbaren) Zahlungsmittelüberschüsse auswirken</a:t>
            </a:r>
          </a:p>
          <a:p>
            <a:pPr marL="171450" indent="-171450" algn="just">
              <a:spcBef>
                <a:spcPts val="600"/>
              </a:spcBef>
              <a:buClr>
                <a:srgbClr val="002060"/>
              </a:buClr>
              <a:buFont typeface="Arial" panose="020B0604020202020204" pitchFamily="34" charset="0"/>
              <a:buChar char="•"/>
            </a:pPr>
            <a:r>
              <a:rPr lang="de-DE" sz="1100" dirty="0"/>
              <a:t>Aufgrund dieser Charakteristika, u.a. der oftmals nicht voll übertragbaren Erfolgsfaktoren, werden KMU zu niedrigeren Preisen verkauft als größere, ggf. börsennotierte Unternehmen</a:t>
            </a:r>
          </a:p>
          <a:p>
            <a:pPr marL="171450" indent="-171450" algn="just">
              <a:spcBef>
                <a:spcPts val="600"/>
              </a:spcBef>
              <a:buClr>
                <a:srgbClr val="002060"/>
              </a:buClr>
              <a:buFont typeface="Arial" panose="020B0604020202020204" pitchFamily="34" charset="0"/>
              <a:buChar char="•"/>
            </a:pPr>
            <a:r>
              <a:rPr lang="de-DE" sz="1100" dirty="0"/>
              <a:t>Für die Unternehmensbewertung müssen die historischen Zahlen bereinigt und die zukünftigen Zahlungsmittelüberschüsse auf Basis der bereinigten Finanzzahlen, unternehmensinterner Einschätzungen zur zukünftigen Entwicklung des Unternehmens sowie erwarteter externer Einflussfaktoren geplant werden. Dabei sollte auf interne (historische Finanzzahlen und unternehmensinterne Einschätzungen) und externe (Marktdaten) Plausibilität der Planung geachtet werden </a:t>
            </a:r>
          </a:p>
          <a:p>
            <a:pPr marL="171450" indent="-171450" algn="just">
              <a:spcBef>
                <a:spcPts val="600"/>
              </a:spcBef>
              <a:buClr>
                <a:srgbClr val="002060"/>
              </a:buClr>
              <a:buFont typeface="Arial" panose="020B0604020202020204" pitchFamily="34" charset="0"/>
              <a:buChar char="•"/>
            </a:pPr>
            <a:r>
              <a:rPr lang="de-DE" sz="1100" dirty="0"/>
              <a:t>KMU-spezifische Faktoren wie eine eingeschränkte Übertragbarkeit der Erfolgsfaktoren müssen im Rahmen der Bewertung betrachtet und quantifiziert werden, um zu validen Ergebnissen zu gelangen</a:t>
            </a:r>
          </a:p>
          <a:p>
            <a:pPr marL="171450" indent="-171450" algn="just">
              <a:spcBef>
                <a:spcPts val="600"/>
              </a:spcBef>
              <a:buClr>
                <a:srgbClr val="002060"/>
              </a:buClr>
              <a:buFont typeface="Arial" panose="020B0604020202020204" pitchFamily="34" charset="0"/>
              <a:buChar char="•"/>
            </a:pPr>
            <a:r>
              <a:rPr lang="de-DE" sz="1100" dirty="0"/>
              <a:t>Bewertungsverfahren, die vereinfachend auf eine Schätzung der zukünftigen Zahlungsmittelüberschüsse verzichten, sind meist nicht zielführend und führen oft zu offensichtlich unzutreffenden Unternehmenswerten</a:t>
            </a:r>
          </a:p>
          <a:p>
            <a:pPr marL="171450" indent="-171450" algn="just">
              <a:spcBef>
                <a:spcPts val="600"/>
              </a:spcBef>
              <a:buClr>
                <a:srgbClr val="002060"/>
              </a:buClr>
              <a:buFont typeface="Arial" panose="020B0604020202020204" pitchFamily="34" charset="0"/>
              <a:buChar char="•"/>
            </a:pPr>
            <a:r>
              <a:rPr lang="de-DE" sz="1100" dirty="0"/>
              <a:t>Maßnahmen zur Steigerung des Unternehmenswertes setzen an den Faktoren an, die sich auf die erwirtschafteten Zahlungsmittelüberschüsse (was Höhe, Wachstum und Länge betrifft), das Risiko oder den allgemeinen Charakteristika des zu bewertenden KMU auswirken</a:t>
            </a:r>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a:p>
            <a:pPr marL="171450" indent="-171450" algn="just">
              <a:spcBef>
                <a:spcPts val="600"/>
              </a:spcBef>
              <a:buClr>
                <a:srgbClr val="002060"/>
              </a:buClr>
              <a:buFont typeface="Arial" panose="020B0604020202020204" pitchFamily="34" charset="0"/>
              <a:buChar char="•"/>
            </a:pPr>
            <a:endParaRPr lang="de-DE" sz="1100" dirty="0"/>
          </a:p>
        </p:txBody>
      </p:sp>
      <p:sp>
        <p:nvSpPr>
          <p:cNvPr id="6" name="Rechteck 6">
            <a:extLst>
              <a:ext uri="{FF2B5EF4-FFF2-40B4-BE49-F238E27FC236}">
                <a16:creationId xmlns:a16="http://schemas.microsoft.com/office/drawing/2014/main" id="{B7F575EE-8FC6-2EF3-D323-AAEDE81E1738}"/>
              </a:ext>
            </a:extLst>
          </p:cNvPr>
          <p:cNvSpPr/>
          <p:nvPr/>
        </p:nvSpPr>
        <p:spPr>
          <a:xfrm>
            <a:off x="287548" y="1398709"/>
            <a:ext cx="4628940"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32434D"/>
                </a:solidFill>
              </a:rPr>
              <a:t>Kommentare</a:t>
            </a:r>
          </a:p>
        </p:txBody>
      </p:sp>
    </p:spTree>
    <p:extLst>
      <p:ext uri="{BB962C8B-B14F-4D97-AF65-F5344CB8AC3E}">
        <p14:creationId xmlns:p14="http://schemas.microsoft.com/office/powerpoint/2010/main" val="2745290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B170-CA7F-98EC-A028-E9E358FD380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E5D1CE2-192D-FEBA-F6C7-ED0A2054C448}"/>
              </a:ext>
            </a:extLst>
          </p:cNvPr>
          <p:cNvSpPr>
            <a:spLocks noGrp="1"/>
          </p:cNvSpPr>
          <p:nvPr>
            <p:ph type="title"/>
          </p:nvPr>
        </p:nvSpPr>
        <p:spPr>
          <a:xfrm>
            <a:off x="273051" y="2402239"/>
            <a:ext cx="4281408" cy="2187227"/>
          </a:xfrm>
        </p:spPr>
        <p:txBody>
          <a:bodyPr/>
          <a:lstStyle/>
          <a:p>
            <a:r>
              <a:rPr lang="de-DE" dirty="0"/>
              <a:t>Anhang</a:t>
            </a:r>
          </a:p>
        </p:txBody>
      </p:sp>
      <p:sp>
        <p:nvSpPr>
          <p:cNvPr id="2" name="Foliennummernplatzhalter 1">
            <a:extLst>
              <a:ext uri="{FF2B5EF4-FFF2-40B4-BE49-F238E27FC236}">
                <a16:creationId xmlns:a16="http://schemas.microsoft.com/office/drawing/2014/main" id="{0D074F4D-CD98-B1B3-9E87-9C24F0E5E7D4}"/>
              </a:ext>
            </a:extLst>
          </p:cNvPr>
          <p:cNvSpPr>
            <a:spLocks noGrp="1"/>
          </p:cNvSpPr>
          <p:nvPr>
            <p:ph type="sldNum" sz="quarter" idx="12"/>
          </p:nvPr>
        </p:nvSpPr>
        <p:spPr/>
        <p:txBody>
          <a:bodyPr/>
          <a:lstStyle/>
          <a:p>
            <a:fld id="{06BE810C-D1BD-4E2B-9D7B-C86294C40709}" type="slidenum">
              <a:rPr lang="en-US" smtClean="0"/>
              <a:t>32</a:t>
            </a:fld>
            <a:endParaRPr lang="en-US" dirty="0"/>
          </a:p>
        </p:txBody>
      </p:sp>
    </p:spTree>
    <p:extLst>
      <p:ext uri="{BB962C8B-B14F-4D97-AF65-F5344CB8AC3E}">
        <p14:creationId xmlns:p14="http://schemas.microsoft.com/office/powerpoint/2010/main" val="2298944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06BE810C-D1BD-4E2B-9D7B-C86294C40709}" type="slidenum">
              <a:rPr lang="de-DE" smtClean="0"/>
              <a:t>33</a:t>
            </a:fld>
            <a:endParaRPr lang="de-DE"/>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t>Prozess-Schritte Unternehmensbewertung allgemein</a:t>
            </a:r>
          </a:p>
        </p:txBody>
      </p:sp>
      <p:sp>
        <p:nvSpPr>
          <p:cNvPr id="8" name="Rechteck 7">
            <a:extLst>
              <a:ext uri="{FF2B5EF4-FFF2-40B4-BE49-F238E27FC236}">
                <a16:creationId xmlns:a16="http://schemas.microsoft.com/office/drawing/2014/main" id="{9BD256B0-06FC-410E-969B-A8E0992F30FE}"/>
              </a:ext>
            </a:extLst>
          </p:cNvPr>
          <p:cNvSpPr/>
          <p:nvPr/>
        </p:nvSpPr>
        <p:spPr>
          <a:xfrm>
            <a:off x="288525" y="1398708"/>
            <a:ext cx="9344425"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8BAABF"/>
                </a:solidFill>
              </a:rPr>
              <a:t>Prozess Unternehmensbewertung</a:t>
            </a:r>
          </a:p>
        </p:txBody>
      </p:sp>
      <p:sp>
        <p:nvSpPr>
          <p:cNvPr id="58" name="Pfeil: Chevron 57">
            <a:extLst>
              <a:ext uri="{FF2B5EF4-FFF2-40B4-BE49-F238E27FC236}">
                <a16:creationId xmlns:a16="http://schemas.microsoft.com/office/drawing/2014/main" id="{339D1655-775D-41DD-B8B7-AD48B071631E}"/>
              </a:ext>
            </a:extLst>
          </p:cNvPr>
          <p:cNvSpPr/>
          <p:nvPr/>
        </p:nvSpPr>
        <p:spPr>
          <a:xfrm>
            <a:off x="433308" y="2091410"/>
            <a:ext cx="2197259" cy="790011"/>
          </a:xfrm>
          <a:prstGeom prst="chevron">
            <a:avLst/>
          </a:prstGeom>
          <a:solidFill>
            <a:srgbClr val="002060"/>
          </a:solid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9" name="Pfeil: Chevron 4">
            <a:extLst>
              <a:ext uri="{FF2B5EF4-FFF2-40B4-BE49-F238E27FC236}">
                <a16:creationId xmlns:a16="http://schemas.microsoft.com/office/drawing/2014/main" id="{868A6DBF-74AB-449E-A4E9-0192A1B40B9E}"/>
              </a:ext>
            </a:extLst>
          </p:cNvPr>
          <p:cNvSpPr txBox="1"/>
          <p:nvPr/>
        </p:nvSpPr>
        <p:spPr>
          <a:xfrm>
            <a:off x="828314" y="2091410"/>
            <a:ext cx="1407248" cy="79001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dirty="0"/>
              <a:t>Dokumente</a:t>
            </a:r>
          </a:p>
        </p:txBody>
      </p:sp>
      <p:grpSp>
        <p:nvGrpSpPr>
          <p:cNvPr id="38" name="Gruppieren 37">
            <a:extLst>
              <a:ext uri="{FF2B5EF4-FFF2-40B4-BE49-F238E27FC236}">
                <a16:creationId xmlns:a16="http://schemas.microsoft.com/office/drawing/2014/main" id="{AEC20F43-A2FE-40D0-BA78-B532B84C4C81}"/>
              </a:ext>
            </a:extLst>
          </p:cNvPr>
          <p:cNvGrpSpPr/>
          <p:nvPr/>
        </p:nvGrpSpPr>
        <p:grpSpPr>
          <a:xfrm>
            <a:off x="2591409" y="2091410"/>
            <a:ext cx="2197259" cy="790011"/>
            <a:chOff x="2021687" y="416905"/>
            <a:chExt cx="2197259" cy="790011"/>
          </a:xfrm>
          <a:solidFill>
            <a:srgbClr val="002060"/>
          </a:solidFill>
        </p:grpSpPr>
        <p:sp>
          <p:nvSpPr>
            <p:cNvPr id="54" name="Pfeil: Chevron 53">
              <a:extLst>
                <a:ext uri="{FF2B5EF4-FFF2-40B4-BE49-F238E27FC236}">
                  <a16:creationId xmlns:a16="http://schemas.microsoft.com/office/drawing/2014/main" id="{C81F63DF-C96B-403B-9E7B-484055014F47}"/>
                </a:ext>
              </a:extLst>
            </p:cNvPr>
            <p:cNvSpPr/>
            <p:nvPr/>
          </p:nvSpPr>
          <p:spPr>
            <a:xfrm>
              <a:off x="2021687"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5" name="Pfeil: Chevron 8">
              <a:extLst>
                <a:ext uri="{FF2B5EF4-FFF2-40B4-BE49-F238E27FC236}">
                  <a16:creationId xmlns:a16="http://schemas.microsoft.com/office/drawing/2014/main" id="{8C9BB584-DD93-4B13-A35A-AD1EF49346E6}"/>
                </a:ext>
              </a:extLst>
            </p:cNvPr>
            <p:cNvSpPr txBox="1"/>
            <p:nvPr/>
          </p:nvSpPr>
          <p:spPr>
            <a:xfrm>
              <a:off x="2416693"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a:t>Frageliste</a:t>
              </a:r>
            </a:p>
          </p:txBody>
        </p:sp>
      </p:grpSp>
      <p:grpSp>
        <p:nvGrpSpPr>
          <p:cNvPr id="40" name="Gruppieren 39">
            <a:extLst>
              <a:ext uri="{FF2B5EF4-FFF2-40B4-BE49-F238E27FC236}">
                <a16:creationId xmlns:a16="http://schemas.microsoft.com/office/drawing/2014/main" id="{D1F3BF48-4EA2-4AB5-9134-4941E6317D71}"/>
              </a:ext>
            </a:extLst>
          </p:cNvPr>
          <p:cNvGrpSpPr/>
          <p:nvPr/>
        </p:nvGrpSpPr>
        <p:grpSpPr>
          <a:xfrm>
            <a:off x="4749510" y="2091410"/>
            <a:ext cx="2197259" cy="790011"/>
            <a:chOff x="4002947" y="416905"/>
            <a:chExt cx="2197259" cy="790011"/>
          </a:xfrm>
          <a:solidFill>
            <a:srgbClr val="002060"/>
          </a:solidFill>
        </p:grpSpPr>
        <p:sp>
          <p:nvSpPr>
            <p:cNvPr id="50" name="Pfeil: Chevron 49">
              <a:extLst>
                <a:ext uri="{FF2B5EF4-FFF2-40B4-BE49-F238E27FC236}">
                  <a16:creationId xmlns:a16="http://schemas.microsoft.com/office/drawing/2014/main" id="{93F1C0E9-CFF6-479D-8903-A4009B2045D6}"/>
                </a:ext>
              </a:extLst>
            </p:cNvPr>
            <p:cNvSpPr/>
            <p:nvPr/>
          </p:nvSpPr>
          <p:spPr>
            <a:xfrm>
              <a:off x="4002947"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1" name="Pfeil: Chevron 12">
              <a:extLst>
                <a:ext uri="{FF2B5EF4-FFF2-40B4-BE49-F238E27FC236}">
                  <a16:creationId xmlns:a16="http://schemas.microsoft.com/office/drawing/2014/main" id="{CEF1A405-B938-4869-904E-1F8363C64DB7}"/>
                </a:ext>
              </a:extLst>
            </p:cNvPr>
            <p:cNvSpPr txBox="1"/>
            <p:nvPr/>
          </p:nvSpPr>
          <p:spPr>
            <a:xfrm>
              <a:off x="4397953"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dirty="0"/>
                <a:t>Analyse u. Bewertung</a:t>
              </a:r>
            </a:p>
          </p:txBody>
        </p:sp>
      </p:grpSp>
      <p:grpSp>
        <p:nvGrpSpPr>
          <p:cNvPr id="42" name="Gruppieren 41">
            <a:extLst>
              <a:ext uri="{FF2B5EF4-FFF2-40B4-BE49-F238E27FC236}">
                <a16:creationId xmlns:a16="http://schemas.microsoft.com/office/drawing/2014/main" id="{70659972-CCE8-4228-B587-77C1E5374DF6}"/>
              </a:ext>
            </a:extLst>
          </p:cNvPr>
          <p:cNvGrpSpPr/>
          <p:nvPr/>
        </p:nvGrpSpPr>
        <p:grpSpPr>
          <a:xfrm>
            <a:off x="6907612" y="2091410"/>
            <a:ext cx="2197259" cy="790011"/>
            <a:chOff x="5954893" y="416905"/>
            <a:chExt cx="2197259" cy="790011"/>
          </a:xfrm>
          <a:solidFill>
            <a:srgbClr val="002060"/>
          </a:solidFill>
        </p:grpSpPr>
        <p:sp>
          <p:nvSpPr>
            <p:cNvPr id="46" name="Pfeil: Chevron 45">
              <a:extLst>
                <a:ext uri="{FF2B5EF4-FFF2-40B4-BE49-F238E27FC236}">
                  <a16:creationId xmlns:a16="http://schemas.microsoft.com/office/drawing/2014/main" id="{0AA02EAE-9410-4E63-83FB-BB9EA1221203}"/>
                </a:ext>
              </a:extLst>
            </p:cNvPr>
            <p:cNvSpPr/>
            <p:nvPr/>
          </p:nvSpPr>
          <p:spPr>
            <a:xfrm>
              <a:off x="5954893"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7" name="Pfeil: Chevron 16">
              <a:extLst>
                <a:ext uri="{FF2B5EF4-FFF2-40B4-BE49-F238E27FC236}">
                  <a16:creationId xmlns:a16="http://schemas.microsoft.com/office/drawing/2014/main" id="{3E7AC6DA-242C-437E-8707-B6BEC8DDFFC0}"/>
                </a:ext>
              </a:extLst>
            </p:cNvPr>
            <p:cNvSpPr txBox="1"/>
            <p:nvPr/>
          </p:nvSpPr>
          <p:spPr>
            <a:xfrm>
              <a:off x="6349899"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a:t>Finalisierung</a:t>
              </a:r>
              <a:endParaRPr lang="de-DE" sz="1800" kern="1200"/>
            </a:p>
          </p:txBody>
        </p:sp>
      </p:grpSp>
      <p:sp>
        <p:nvSpPr>
          <p:cNvPr id="7" name="Textfeld 6">
            <a:extLst>
              <a:ext uri="{FF2B5EF4-FFF2-40B4-BE49-F238E27FC236}">
                <a16:creationId xmlns:a16="http://schemas.microsoft.com/office/drawing/2014/main" id="{2962767F-C2C9-41E8-871F-A22E12B870ED}"/>
              </a:ext>
            </a:extLst>
          </p:cNvPr>
          <p:cNvSpPr txBox="1"/>
          <p:nvPr>
            <p:custDataLst>
              <p:tags r:id="rId1"/>
            </p:custDataLst>
          </p:nvPr>
        </p:nvSpPr>
        <p:spPr>
          <a:xfrm>
            <a:off x="389036" y="2977239"/>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b="1" dirty="0"/>
              <a:t>Informations-anforderungsliste</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Aufnahme und Analyse der </a:t>
            </a:r>
            <a:r>
              <a:rPr lang="de-DE" sz="1100" b="1" dirty="0" err="1"/>
              <a:t>Istzahlen</a:t>
            </a:r>
            <a:r>
              <a:rPr lang="de-DE" sz="1100" dirty="0"/>
              <a:t> des Unternehmens</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Fertigstellung der </a:t>
            </a:r>
            <a:r>
              <a:rPr lang="de-DE" sz="1100" b="1" dirty="0"/>
              <a:t>Frageliste</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Versenden der Frageliste durch den Bewerter</a:t>
            </a:r>
          </a:p>
        </p:txBody>
      </p:sp>
      <p:sp>
        <p:nvSpPr>
          <p:cNvPr id="61" name="Textfeld 60">
            <a:extLst>
              <a:ext uri="{FF2B5EF4-FFF2-40B4-BE49-F238E27FC236}">
                <a16:creationId xmlns:a16="http://schemas.microsoft.com/office/drawing/2014/main" id="{E796C206-7A88-44E4-9E06-285CCB4F1AEA}"/>
              </a:ext>
            </a:extLst>
          </p:cNvPr>
          <p:cNvSpPr txBox="1"/>
          <p:nvPr>
            <p:custDataLst>
              <p:tags r:id="rId2"/>
            </p:custDataLst>
          </p:nvPr>
        </p:nvSpPr>
        <p:spPr>
          <a:xfrm>
            <a:off x="2630567" y="3005232"/>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Eingang der Frageliste beim Bewerter</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Verarbeiten der Informationen</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Ggf. Klärung von </a:t>
            </a:r>
            <a:r>
              <a:rPr lang="de-DE" sz="1100" b="1" dirty="0"/>
              <a:t>Rückfragen</a:t>
            </a:r>
            <a:r>
              <a:rPr lang="de-DE" sz="1100" dirty="0"/>
              <a:t> durch Ergänzungen der Frageliste oder telefonische Rücksprache</a:t>
            </a:r>
          </a:p>
        </p:txBody>
      </p:sp>
      <p:sp>
        <p:nvSpPr>
          <p:cNvPr id="62" name="Textfeld 61">
            <a:extLst>
              <a:ext uri="{FF2B5EF4-FFF2-40B4-BE49-F238E27FC236}">
                <a16:creationId xmlns:a16="http://schemas.microsoft.com/office/drawing/2014/main" id="{98C276F1-6AA8-4195-BBFB-D2497EF21C03}"/>
              </a:ext>
            </a:extLst>
          </p:cNvPr>
          <p:cNvSpPr txBox="1"/>
          <p:nvPr>
            <p:custDataLst>
              <p:tags r:id="rId3"/>
            </p:custDataLst>
          </p:nvPr>
        </p:nvSpPr>
        <p:spPr>
          <a:xfrm>
            <a:off x="4703181" y="2977238"/>
            <a:ext cx="2064916" cy="2756811"/>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b="1" dirty="0"/>
              <a:t>Bereinigungen</a:t>
            </a:r>
            <a:r>
              <a:rPr lang="de-DE" sz="1100" dirty="0"/>
              <a:t> der historischen Zahlen</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Erstellen von </a:t>
            </a:r>
            <a:r>
              <a:rPr lang="de-DE" sz="1100" b="1" dirty="0"/>
              <a:t>Marktanalysen</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Erarbeiten der </a:t>
            </a:r>
            <a:r>
              <a:rPr lang="de-DE" sz="1100" b="1" dirty="0"/>
              <a:t>Vergleichsunternehmen</a:t>
            </a:r>
            <a:endParaRPr lang="de-DE" sz="1100" dirty="0"/>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Erstellung oder Plausibilisierung der </a:t>
            </a:r>
            <a:r>
              <a:rPr lang="de-DE" sz="1100" b="1" dirty="0"/>
              <a:t>Unternehmensplanung </a:t>
            </a:r>
            <a:r>
              <a:rPr lang="de-DE" sz="1100" dirty="0"/>
              <a:t>und Abnahme durch den Kunden </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b="1" dirty="0"/>
              <a:t>Benchmarking</a:t>
            </a:r>
            <a:r>
              <a:rPr lang="de-DE" sz="1100" dirty="0"/>
              <a:t> des Unternehmens</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Erstellen der </a:t>
            </a:r>
            <a:r>
              <a:rPr lang="de-DE" sz="1100" b="1" dirty="0"/>
              <a:t>Bewertung</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Versand einer </a:t>
            </a:r>
            <a:r>
              <a:rPr lang="de-DE" sz="1100" b="1" dirty="0"/>
              <a:t>Vorabversion</a:t>
            </a:r>
          </a:p>
        </p:txBody>
      </p:sp>
      <p:sp>
        <p:nvSpPr>
          <p:cNvPr id="63" name="Textfeld 62">
            <a:extLst>
              <a:ext uri="{FF2B5EF4-FFF2-40B4-BE49-F238E27FC236}">
                <a16:creationId xmlns:a16="http://schemas.microsoft.com/office/drawing/2014/main" id="{53D62958-9BEB-4A86-A99C-43F42CD4CF89}"/>
              </a:ext>
            </a:extLst>
          </p:cNvPr>
          <p:cNvSpPr txBox="1"/>
          <p:nvPr>
            <p:custDataLst>
              <p:tags r:id="rId4"/>
            </p:custDataLst>
          </p:nvPr>
        </p:nvSpPr>
        <p:spPr>
          <a:xfrm>
            <a:off x="6907612" y="2977239"/>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Besprechung der Vorabversion mit dem Kunden</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Ggf. Einarbeiten von Änderungen in das Bewertungsgutachten</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Versenden des </a:t>
            </a:r>
            <a:r>
              <a:rPr lang="de-DE" sz="1100" b="1" dirty="0"/>
              <a:t>finalen Gutachtens</a:t>
            </a:r>
          </a:p>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b="1" dirty="0"/>
              <a:t>Abschlussgespräch</a:t>
            </a:r>
            <a:r>
              <a:rPr lang="de-DE" sz="1100" dirty="0"/>
              <a:t> zur Erläuterung des Gutachtens</a:t>
            </a:r>
          </a:p>
        </p:txBody>
      </p:sp>
    </p:spTree>
    <p:extLst>
      <p:ext uri="{BB962C8B-B14F-4D97-AF65-F5344CB8AC3E}">
        <p14:creationId xmlns:p14="http://schemas.microsoft.com/office/powerpoint/2010/main" val="2936772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64772-C073-84C3-1F90-3DA00C38E20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935359-D425-8DE8-A1F8-8E6ACB7D3D43}"/>
              </a:ext>
            </a:extLst>
          </p:cNvPr>
          <p:cNvSpPr>
            <a:spLocks noGrp="1"/>
          </p:cNvSpPr>
          <p:nvPr>
            <p:ph type="sldNum" sz="quarter" idx="12"/>
          </p:nvPr>
        </p:nvSpPr>
        <p:spPr/>
        <p:txBody>
          <a:bodyPr/>
          <a:lstStyle/>
          <a:p>
            <a:fld id="{06BE810C-D1BD-4E2B-9D7B-C86294C40709}" type="slidenum">
              <a:rPr lang="de-DE" smtClean="0"/>
              <a:t>34</a:t>
            </a:fld>
            <a:endParaRPr lang="de-DE"/>
          </a:p>
        </p:txBody>
      </p:sp>
      <p:sp>
        <p:nvSpPr>
          <p:cNvPr id="4" name="Textplatzhalter 3">
            <a:extLst>
              <a:ext uri="{FF2B5EF4-FFF2-40B4-BE49-F238E27FC236}">
                <a16:creationId xmlns:a16="http://schemas.microsoft.com/office/drawing/2014/main" id="{5E3691AE-B4A7-0653-81D6-969600616546}"/>
              </a:ext>
            </a:extLst>
          </p:cNvPr>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t>Prozess-Schritte Unternehmensbewertung allgemein</a:t>
            </a:r>
          </a:p>
        </p:txBody>
      </p:sp>
      <p:sp>
        <p:nvSpPr>
          <p:cNvPr id="8" name="Rechteck 7">
            <a:extLst>
              <a:ext uri="{FF2B5EF4-FFF2-40B4-BE49-F238E27FC236}">
                <a16:creationId xmlns:a16="http://schemas.microsoft.com/office/drawing/2014/main" id="{4B3C25A7-B2BA-453E-048B-2DA14545F33E}"/>
              </a:ext>
            </a:extLst>
          </p:cNvPr>
          <p:cNvSpPr/>
          <p:nvPr/>
        </p:nvSpPr>
        <p:spPr>
          <a:xfrm>
            <a:off x="288525" y="1398708"/>
            <a:ext cx="9344425"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lang="de-DE" sz="1200" b="1" dirty="0">
                <a:solidFill>
                  <a:srgbClr val="8BAABF"/>
                </a:solidFill>
              </a:rPr>
              <a:t>Prozess Unternehmensbewertung</a:t>
            </a:r>
          </a:p>
        </p:txBody>
      </p:sp>
      <p:sp>
        <p:nvSpPr>
          <p:cNvPr id="58" name="Pfeil: Chevron 57">
            <a:extLst>
              <a:ext uri="{FF2B5EF4-FFF2-40B4-BE49-F238E27FC236}">
                <a16:creationId xmlns:a16="http://schemas.microsoft.com/office/drawing/2014/main" id="{4D5F7FA7-38F7-F17C-78C6-517D093C97F7}"/>
              </a:ext>
            </a:extLst>
          </p:cNvPr>
          <p:cNvSpPr/>
          <p:nvPr/>
        </p:nvSpPr>
        <p:spPr>
          <a:xfrm>
            <a:off x="433308" y="2099878"/>
            <a:ext cx="2197259" cy="790011"/>
          </a:xfrm>
          <a:prstGeom prst="chevron">
            <a:avLst/>
          </a:prstGeom>
          <a:solidFill>
            <a:srgbClr val="002060"/>
          </a:solid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9" name="Pfeil: Chevron 4">
            <a:extLst>
              <a:ext uri="{FF2B5EF4-FFF2-40B4-BE49-F238E27FC236}">
                <a16:creationId xmlns:a16="http://schemas.microsoft.com/office/drawing/2014/main" id="{5FE4228A-F197-7CF3-EEDD-780830D70FB6}"/>
              </a:ext>
            </a:extLst>
          </p:cNvPr>
          <p:cNvSpPr txBox="1"/>
          <p:nvPr/>
        </p:nvSpPr>
        <p:spPr>
          <a:xfrm>
            <a:off x="828314" y="2099878"/>
            <a:ext cx="1407248" cy="79001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dirty="0" err="1"/>
              <a:t>Berei-nigungen</a:t>
            </a:r>
            <a:endParaRPr lang="de-DE" sz="1800" kern="1200" dirty="0"/>
          </a:p>
        </p:txBody>
      </p:sp>
      <p:grpSp>
        <p:nvGrpSpPr>
          <p:cNvPr id="38" name="Gruppieren 37">
            <a:extLst>
              <a:ext uri="{FF2B5EF4-FFF2-40B4-BE49-F238E27FC236}">
                <a16:creationId xmlns:a16="http://schemas.microsoft.com/office/drawing/2014/main" id="{50744671-1329-604D-278F-7EA4CCD540E7}"/>
              </a:ext>
            </a:extLst>
          </p:cNvPr>
          <p:cNvGrpSpPr/>
          <p:nvPr/>
        </p:nvGrpSpPr>
        <p:grpSpPr>
          <a:xfrm>
            <a:off x="2591409" y="2099878"/>
            <a:ext cx="2197259" cy="790011"/>
            <a:chOff x="2021687" y="416905"/>
            <a:chExt cx="2197259" cy="790011"/>
          </a:xfrm>
          <a:solidFill>
            <a:srgbClr val="002060"/>
          </a:solidFill>
        </p:grpSpPr>
        <p:sp>
          <p:nvSpPr>
            <p:cNvPr id="54" name="Pfeil: Chevron 53">
              <a:extLst>
                <a:ext uri="{FF2B5EF4-FFF2-40B4-BE49-F238E27FC236}">
                  <a16:creationId xmlns:a16="http://schemas.microsoft.com/office/drawing/2014/main" id="{8365804D-40FC-C8C9-FFC1-6F030F09928E}"/>
                </a:ext>
              </a:extLst>
            </p:cNvPr>
            <p:cNvSpPr/>
            <p:nvPr/>
          </p:nvSpPr>
          <p:spPr>
            <a:xfrm>
              <a:off x="2021687"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5" name="Pfeil: Chevron 8">
              <a:extLst>
                <a:ext uri="{FF2B5EF4-FFF2-40B4-BE49-F238E27FC236}">
                  <a16:creationId xmlns:a16="http://schemas.microsoft.com/office/drawing/2014/main" id="{E1B9DBE9-36A6-AB96-8166-809A2CE69F9A}"/>
                </a:ext>
              </a:extLst>
            </p:cNvPr>
            <p:cNvSpPr txBox="1"/>
            <p:nvPr/>
          </p:nvSpPr>
          <p:spPr>
            <a:xfrm>
              <a:off x="2416693"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dirty="0"/>
                <a:t>Markt + WW</a:t>
              </a:r>
            </a:p>
          </p:txBody>
        </p:sp>
      </p:grpSp>
      <p:grpSp>
        <p:nvGrpSpPr>
          <p:cNvPr id="40" name="Gruppieren 39">
            <a:extLst>
              <a:ext uri="{FF2B5EF4-FFF2-40B4-BE49-F238E27FC236}">
                <a16:creationId xmlns:a16="http://schemas.microsoft.com/office/drawing/2014/main" id="{9F81D4F6-87F9-6439-D4A8-C11D10E370DE}"/>
              </a:ext>
            </a:extLst>
          </p:cNvPr>
          <p:cNvGrpSpPr/>
          <p:nvPr/>
        </p:nvGrpSpPr>
        <p:grpSpPr>
          <a:xfrm>
            <a:off x="4749510" y="2099878"/>
            <a:ext cx="2197259" cy="790011"/>
            <a:chOff x="4002947" y="416905"/>
            <a:chExt cx="2197259" cy="790011"/>
          </a:xfrm>
          <a:solidFill>
            <a:srgbClr val="002060"/>
          </a:solidFill>
        </p:grpSpPr>
        <p:sp>
          <p:nvSpPr>
            <p:cNvPr id="50" name="Pfeil: Chevron 49">
              <a:extLst>
                <a:ext uri="{FF2B5EF4-FFF2-40B4-BE49-F238E27FC236}">
                  <a16:creationId xmlns:a16="http://schemas.microsoft.com/office/drawing/2014/main" id="{2815DA6B-25D9-2ABC-9B9A-9B6CBE88A938}"/>
                </a:ext>
              </a:extLst>
            </p:cNvPr>
            <p:cNvSpPr/>
            <p:nvPr/>
          </p:nvSpPr>
          <p:spPr>
            <a:xfrm>
              <a:off x="4002947"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1" name="Pfeil: Chevron 12">
              <a:extLst>
                <a:ext uri="{FF2B5EF4-FFF2-40B4-BE49-F238E27FC236}">
                  <a16:creationId xmlns:a16="http://schemas.microsoft.com/office/drawing/2014/main" id="{F9F8D6C8-1D23-08A6-C43D-631918924A8F}"/>
                </a:ext>
              </a:extLst>
            </p:cNvPr>
            <p:cNvSpPr txBox="1"/>
            <p:nvPr/>
          </p:nvSpPr>
          <p:spPr>
            <a:xfrm>
              <a:off x="4397953"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sz="1800" kern="1200" dirty="0"/>
                <a:t>Planung</a:t>
              </a:r>
            </a:p>
          </p:txBody>
        </p:sp>
      </p:grpSp>
      <p:grpSp>
        <p:nvGrpSpPr>
          <p:cNvPr id="42" name="Gruppieren 41">
            <a:extLst>
              <a:ext uri="{FF2B5EF4-FFF2-40B4-BE49-F238E27FC236}">
                <a16:creationId xmlns:a16="http://schemas.microsoft.com/office/drawing/2014/main" id="{BA95185A-66EF-61B7-2914-03D757ED7B81}"/>
              </a:ext>
            </a:extLst>
          </p:cNvPr>
          <p:cNvGrpSpPr/>
          <p:nvPr/>
        </p:nvGrpSpPr>
        <p:grpSpPr>
          <a:xfrm>
            <a:off x="6907612" y="2099878"/>
            <a:ext cx="2197259" cy="790011"/>
            <a:chOff x="5954893" y="416905"/>
            <a:chExt cx="2197259" cy="790011"/>
          </a:xfrm>
          <a:solidFill>
            <a:srgbClr val="002060"/>
          </a:solidFill>
        </p:grpSpPr>
        <p:sp>
          <p:nvSpPr>
            <p:cNvPr id="46" name="Pfeil: Chevron 45">
              <a:extLst>
                <a:ext uri="{FF2B5EF4-FFF2-40B4-BE49-F238E27FC236}">
                  <a16:creationId xmlns:a16="http://schemas.microsoft.com/office/drawing/2014/main" id="{1298232A-E428-B3E4-EDC4-B00BE688BC8F}"/>
                </a:ext>
              </a:extLst>
            </p:cNvPr>
            <p:cNvSpPr/>
            <p:nvPr/>
          </p:nvSpPr>
          <p:spPr>
            <a:xfrm>
              <a:off x="5954893" y="416905"/>
              <a:ext cx="2197259" cy="790011"/>
            </a:xfrm>
            <a:prstGeom prst="chevron">
              <a:avLst/>
            </a:prstGeom>
            <a:grpFill/>
            <a:ln>
              <a:solidFill>
                <a:srgbClr val="002060"/>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7" name="Pfeil: Chevron 16">
              <a:extLst>
                <a:ext uri="{FF2B5EF4-FFF2-40B4-BE49-F238E27FC236}">
                  <a16:creationId xmlns:a16="http://schemas.microsoft.com/office/drawing/2014/main" id="{C20D50EB-666D-F326-8DF0-E8BE2CDF7EF2}"/>
                </a:ext>
              </a:extLst>
            </p:cNvPr>
            <p:cNvSpPr txBox="1"/>
            <p:nvPr/>
          </p:nvSpPr>
          <p:spPr>
            <a:xfrm>
              <a:off x="6349899" y="416905"/>
              <a:ext cx="1407248" cy="790011"/>
            </a:xfrm>
            <a:prstGeom prst="rect">
              <a:avLst/>
            </a:prstGeom>
            <a:grpFill/>
            <a:ln>
              <a:solidFill>
                <a:srgbClr val="002060"/>
              </a:solidFill>
            </a:ln>
          </p:spPr>
          <p:style>
            <a:lnRef idx="0">
              <a:scrgbClr r="0" g="0" b="0"/>
            </a:lnRef>
            <a:fillRef idx="0">
              <a:scrgbClr r="0" g="0" b="0"/>
            </a:fillRef>
            <a:effectRef idx="0">
              <a:scrgbClr r="0" g="0" b="0"/>
            </a:effectRef>
            <a:fontRef idx="minor">
              <a:schemeClr val="lt1"/>
            </a:fontRef>
          </p:style>
          <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de-DE" dirty="0"/>
                <a:t>Bewertung</a:t>
              </a:r>
              <a:endParaRPr lang="de-DE" sz="1800" kern="1200" dirty="0"/>
            </a:p>
          </p:txBody>
        </p:sp>
      </p:grpSp>
      <p:sp>
        <p:nvSpPr>
          <p:cNvPr id="7" name="Textfeld 6">
            <a:extLst>
              <a:ext uri="{FF2B5EF4-FFF2-40B4-BE49-F238E27FC236}">
                <a16:creationId xmlns:a16="http://schemas.microsoft.com/office/drawing/2014/main" id="{B80F3917-FCF6-4EE3-FA7B-58F8E9433AD8}"/>
              </a:ext>
            </a:extLst>
          </p:cNvPr>
          <p:cNvSpPr txBox="1"/>
          <p:nvPr>
            <p:custDataLst>
              <p:tags r:id="rId1"/>
            </p:custDataLst>
          </p:nvPr>
        </p:nvSpPr>
        <p:spPr>
          <a:xfrm>
            <a:off x="389036" y="2977239"/>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b="1" dirty="0"/>
              <a:t>xxx</a:t>
            </a:r>
            <a:endParaRPr lang="de-DE" sz="1100" dirty="0"/>
          </a:p>
        </p:txBody>
      </p:sp>
      <p:sp>
        <p:nvSpPr>
          <p:cNvPr id="61" name="Textfeld 60">
            <a:extLst>
              <a:ext uri="{FF2B5EF4-FFF2-40B4-BE49-F238E27FC236}">
                <a16:creationId xmlns:a16="http://schemas.microsoft.com/office/drawing/2014/main" id="{E476EE40-6DF2-D451-7EF2-E8FB0183BA2A}"/>
              </a:ext>
            </a:extLst>
          </p:cNvPr>
          <p:cNvSpPr txBox="1"/>
          <p:nvPr>
            <p:custDataLst>
              <p:tags r:id="rId2"/>
            </p:custDataLst>
          </p:nvPr>
        </p:nvSpPr>
        <p:spPr>
          <a:xfrm>
            <a:off x="2638265" y="2977239"/>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xxx</a:t>
            </a:r>
          </a:p>
        </p:txBody>
      </p:sp>
      <p:sp>
        <p:nvSpPr>
          <p:cNvPr id="62" name="Textfeld 61">
            <a:extLst>
              <a:ext uri="{FF2B5EF4-FFF2-40B4-BE49-F238E27FC236}">
                <a16:creationId xmlns:a16="http://schemas.microsoft.com/office/drawing/2014/main" id="{D733AFF9-6DB4-93B9-4761-3B649E63863F}"/>
              </a:ext>
            </a:extLst>
          </p:cNvPr>
          <p:cNvSpPr txBox="1"/>
          <p:nvPr>
            <p:custDataLst>
              <p:tags r:id="rId3"/>
            </p:custDataLst>
          </p:nvPr>
        </p:nvSpPr>
        <p:spPr>
          <a:xfrm>
            <a:off x="4703181" y="2977238"/>
            <a:ext cx="2064916" cy="2756811"/>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xxx</a:t>
            </a:r>
            <a:endParaRPr lang="de-DE" sz="1100" b="1" dirty="0"/>
          </a:p>
        </p:txBody>
      </p:sp>
      <p:sp>
        <p:nvSpPr>
          <p:cNvPr id="63" name="Textfeld 62">
            <a:extLst>
              <a:ext uri="{FF2B5EF4-FFF2-40B4-BE49-F238E27FC236}">
                <a16:creationId xmlns:a16="http://schemas.microsoft.com/office/drawing/2014/main" id="{240C97BE-4E27-9D7F-BDE5-B3009AA20297}"/>
              </a:ext>
            </a:extLst>
          </p:cNvPr>
          <p:cNvSpPr txBox="1"/>
          <p:nvPr>
            <p:custDataLst>
              <p:tags r:id="rId4"/>
            </p:custDataLst>
          </p:nvPr>
        </p:nvSpPr>
        <p:spPr>
          <a:xfrm>
            <a:off x="6907612" y="2977239"/>
            <a:ext cx="2064916" cy="2454060"/>
          </a:xfrm>
          <a:prstGeom prst="rect">
            <a:avLst/>
          </a:prstGeom>
          <a:noFill/>
        </p:spPr>
        <p:txBody>
          <a:bodyPr wrap="square" rtlCol="0">
            <a:noAutofit/>
          </a:bodyPr>
          <a:lstStyle/>
          <a:p>
            <a:pPr marL="177800" lvl="1" indent="-177800" defTabSz="685800">
              <a:lnSpc>
                <a:spcPct val="90000"/>
              </a:lnSpc>
              <a:spcAft>
                <a:spcPts val="600"/>
              </a:spcAft>
              <a:buClr>
                <a:schemeClr val="accent2"/>
              </a:buClr>
              <a:buSzPct val="100000"/>
              <a:buFont typeface="Arial" panose="020B0604020202020204" pitchFamily="34" charset="0"/>
              <a:buChar char="•"/>
            </a:pPr>
            <a:r>
              <a:rPr lang="de-DE" sz="1100" dirty="0"/>
              <a:t>xxx</a:t>
            </a:r>
          </a:p>
        </p:txBody>
      </p:sp>
      <p:pic>
        <p:nvPicPr>
          <p:cNvPr id="6" name="Picture 5">
            <a:extLst>
              <a:ext uri="{FF2B5EF4-FFF2-40B4-BE49-F238E27FC236}">
                <a16:creationId xmlns:a16="http://schemas.microsoft.com/office/drawing/2014/main" id="{C624284E-1927-677B-C173-DB8E62D7859A}"/>
              </a:ext>
            </a:extLst>
          </p:cNvPr>
          <p:cNvPicPr>
            <a:picLocks noChangeAspect="1"/>
          </p:cNvPicPr>
          <p:nvPr/>
        </p:nvPicPr>
        <p:blipFill>
          <a:blip r:embed="rId6"/>
          <a:stretch>
            <a:fillRect/>
          </a:stretch>
        </p:blipFill>
        <p:spPr>
          <a:xfrm>
            <a:off x="5556150" y="1312863"/>
            <a:ext cx="3905880" cy="362316"/>
          </a:xfrm>
          <a:prstGeom prst="rect">
            <a:avLst/>
          </a:prstGeom>
        </p:spPr>
      </p:pic>
      <p:cxnSp>
        <p:nvCxnSpPr>
          <p:cNvPr id="10" name="Straight Connector 9">
            <a:extLst>
              <a:ext uri="{FF2B5EF4-FFF2-40B4-BE49-F238E27FC236}">
                <a16:creationId xmlns:a16="http://schemas.microsoft.com/office/drawing/2014/main" id="{07CD880D-D764-4689-5812-80E2A506484F}"/>
              </a:ext>
            </a:extLst>
          </p:cNvPr>
          <p:cNvCxnSpPr>
            <a:cxnSpLocks/>
            <a:stCxn id="6" idx="2"/>
          </p:cNvCxnSpPr>
          <p:nvPr/>
        </p:nvCxnSpPr>
        <p:spPr>
          <a:xfrm flipH="1">
            <a:off x="389036" y="1675179"/>
            <a:ext cx="7120054" cy="238982"/>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ABD3EFA-8E5E-B0D6-2DC1-F9E0281A1CC0}"/>
              </a:ext>
            </a:extLst>
          </p:cNvPr>
          <p:cNvCxnSpPr>
            <a:cxnSpLocks/>
          </p:cNvCxnSpPr>
          <p:nvPr/>
        </p:nvCxnSpPr>
        <p:spPr>
          <a:xfrm>
            <a:off x="8340774" y="1675179"/>
            <a:ext cx="566159" cy="21235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950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2747D6DC-1B2B-13F0-710B-CDE05FD97CB0}"/>
              </a:ext>
            </a:extLst>
          </p:cNvPr>
          <p:cNvPicPr>
            <a:picLocks noChangeAspect="1"/>
          </p:cNvPicPr>
          <p:nvPr/>
        </p:nvPicPr>
        <p:blipFill>
          <a:blip r:embed="rId2"/>
          <a:stretch>
            <a:fillRect/>
          </a:stretch>
        </p:blipFill>
        <p:spPr>
          <a:xfrm>
            <a:off x="1410339" y="1204944"/>
            <a:ext cx="3175102" cy="4993996"/>
          </a:xfrm>
          <a:prstGeom prst="rect">
            <a:avLst/>
          </a:prstGeom>
        </p:spPr>
      </p:pic>
      <p:sp>
        <p:nvSpPr>
          <p:cNvPr id="2" name="Foliennummernplatzhalter 1"/>
          <p:cNvSpPr>
            <a:spLocks noGrp="1"/>
          </p:cNvSpPr>
          <p:nvPr>
            <p:ph type="sldNum" sz="quarter" idx="12"/>
          </p:nvPr>
        </p:nvSpPr>
        <p:spPr/>
        <p:txBody>
          <a:bodyPr/>
          <a:lstStyle/>
          <a:p>
            <a:fld id="{06BE810C-D1BD-4E2B-9D7B-C86294C40709}" type="slidenum">
              <a:rPr lang="en-US" smtClean="0"/>
              <a:t>35</a:t>
            </a:fld>
            <a:endParaRPr lang="en-US" dirty="0"/>
          </a:p>
        </p:txBody>
      </p:sp>
      <p:sp>
        <p:nvSpPr>
          <p:cNvPr id="4" name="Textplatzhalter 3"/>
          <p:cNvSpPr>
            <a:spLocks noGrp="1"/>
          </p:cNvSpPr>
          <p:nvPr>
            <p:ph type="body" sz="quarter" idx="4294967295"/>
          </p:nvPr>
        </p:nvSpPr>
        <p:spPr>
          <a:xfrm>
            <a:off x="288526" y="184376"/>
            <a:ext cx="7451752" cy="896937"/>
          </a:xfrm>
        </p:spPr>
        <p:txBody>
          <a:bodyPr vert="horz" lIns="0" tIns="45720" rIns="91440" bIns="45720" rtlCol="0" anchor="ctr">
            <a:normAutofit/>
          </a:bodyPr>
          <a:lstStyle/>
          <a:p>
            <a:pPr marL="0" indent="0">
              <a:buNone/>
            </a:pPr>
            <a:r>
              <a:rPr lang="de-DE" sz="2100" dirty="0"/>
              <a:t>Aufbau Bewertungsgutachten - Beispiel</a:t>
            </a:r>
          </a:p>
        </p:txBody>
      </p:sp>
      <p:sp>
        <p:nvSpPr>
          <p:cNvPr id="10" name="Rechteck 9">
            <a:extLst>
              <a:ext uri="{FF2B5EF4-FFF2-40B4-BE49-F238E27FC236}">
                <a16:creationId xmlns:a16="http://schemas.microsoft.com/office/drawing/2014/main" id="{D7A1BFF8-743E-0FCE-5C74-9D2A61AB8CF9}"/>
              </a:ext>
            </a:extLst>
          </p:cNvPr>
          <p:cNvSpPr/>
          <p:nvPr/>
        </p:nvSpPr>
        <p:spPr>
          <a:xfrm>
            <a:off x="6440557" y="2146852"/>
            <a:ext cx="1374439" cy="17322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l"/>
            <a:endParaRPr lang="de-DE" sz="1200" b="1" dirty="0">
              <a:solidFill>
                <a:srgbClr val="8BAABF"/>
              </a:solidFill>
            </a:endParaRPr>
          </a:p>
        </p:txBody>
      </p:sp>
      <p:pic>
        <p:nvPicPr>
          <p:cNvPr id="3" name="Grafik 2">
            <a:extLst>
              <a:ext uri="{FF2B5EF4-FFF2-40B4-BE49-F238E27FC236}">
                <a16:creationId xmlns:a16="http://schemas.microsoft.com/office/drawing/2014/main" id="{A51E89FB-DAAA-74B5-EA27-B8C0C23BEF25}"/>
              </a:ext>
            </a:extLst>
          </p:cNvPr>
          <p:cNvPicPr>
            <a:picLocks noChangeAspect="1"/>
          </p:cNvPicPr>
          <p:nvPr/>
        </p:nvPicPr>
        <p:blipFill>
          <a:blip r:embed="rId3"/>
          <a:stretch>
            <a:fillRect/>
          </a:stretch>
        </p:blipFill>
        <p:spPr>
          <a:xfrm>
            <a:off x="5175847" y="1204944"/>
            <a:ext cx="3175102" cy="4993996"/>
          </a:xfrm>
          <a:prstGeom prst="rect">
            <a:avLst/>
          </a:prstGeom>
        </p:spPr>
      </p:pic>
      <p:sp>
        <p:nvSpPr>
          <p:cNvPr id="5" name="Ellipse 4">
            <a:extLst>
              <a:ext uri="{FF2B5EF4-FFF2-40B4-BE49-F238E27FC236}">
                <a16:creationId xmlns:a16="http://schemas.microsoft.com/office/drawing/2014/main" id="{180D6D3B-93EE-0974-60FE-33497A807DCF}"/>
              </a:ext>
            </a:extLst>
          </p:cNvPr>
          <p:cNvSpPr/>
          <p:nvPr/>
        </p:nvSpPr>
        <p:spPr>
          <a:xfrm>
            <a:off x="1164904" y="3355161"/>
            <a:ext cx="2520280" cy="974791"/>
          </a:xfrm>
          <a:prstGeom prst="ellipse">
            <a:avLst/>
          </a:prstGeom>
          <a:noFill/>
          <a:ln w="127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tx2"/>
              </a:buClr>
            </a:pPr>
            <a:endParaRPr lang="de-DE" sz="1400" dirty="0" err="1">
              <a:solidFill>
                <a:schemeClr val="tx1"/>
              </a:solidFill>
            </a:endParaRPr>
          </a:p>
        </p:txBody>
      </p:sp>
      <p:sp>
        <p:nvSpPr>
          <p:cNvPr id="8" name="Ellipse 7">
            <a:extLst>
              <a:ext uri="{FF2B5EF4-FFF2-40B4-BE49-F238E27FC236}">
                <a16:creationId xmlns:a16="http://schemas.microsoft.com/office/drawing/2014/main" id="{6785BE52-2122-8BA6-9C0E-A588D8466690}"/>
              </a:ext>
            </a:extLst>
          </p:cNvPr>
          <p:cNvSpPr/>
          <p:nvPr/>
        </p:nvSpPr>
        <p:spPr>
          <a:xfrm>
            <a:off x="5119048" y="3366524"/>
            <a:ext cx="1628401" cy="424488"/>
          </a:xfrm>
          <a:prstGeom prst="ellipse">
            <a:avLst/>
          </a:prstGeom>
          <a:noFill/>
          <a:ln w="127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tx2"/>
              </a:buClr>
            </a:pPr>
            <a:endParaRPr lang="de-DE" sz="1400" dirty="0" err="1">
              <a:solidFill>
                <a:schemeClr val="tx1"/>
              </a:solidFill>
            </a:endParaRPr>
          </a:p>
        </p:txBody>
      </p:sp>
      <p:sp>
        <p:nvSpPr>
          <p:cNvPr id="9" name="Ellipse 8">
            <a:extLst>
              <a:ext uri="{FF2B5EF4-FFF2-40B4-BE49-F238E27FC236}">
                <a16:creationId xmlns:a16="http://schemas.microsoft.com/office/drawing/2014/main" id="{71333C2B-DBC3-E706-99CB-D6F5C70F9FB1}"/>
              </a:ext>
            </a:extLst>
          </p:cNvPr>
          <p:cNvSpPr/>
          <p:nvPr/>
        </p:nvSpPr>
        <p:spPr>
          <a:xfrm>
            <a:off x="1221901" y="4971189"/>
            <a:ext cx="3533163" cy="332047"/>
          </a:xfrm>
          <a:prstGeom prst="ellipse">
            <a:avLst/>
          </a:prstGeom>
          <a:noFill/>
          <a:ln w="127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tx2"/>
              </a:buClr>
            </a:pPr>
            <a:endParaRPr lang="de-DE" sz="1400" dirty="0" err="1">
              <a:solidFill>
                <a:schemeClr val="tx1"/>
              </a:solidFill>
            </a:endParaRPr>
          </a:p>
        </p:txBody>
      </p:sp>
      <p:sp>
        <p:nvSpPr>
          <p:cNvPr id="12" name="Ellipse 11">
            <a:extLst>
              <a:ext uri="{FF2B5EF4-FFF2-40B4-BE49-F238E27FC236}">
                <a16:creationId xmlns:a16="http://schemas.microsoft.com/office/drawing/2014/main" id="{6ACB4B0D-CC96-CF51-1F2D-301F617FA207}"/>
              </a:ext>
            </a:extLst>
          </p:cNvPr>
          <p:cNvSpPr/>
          <p:nvPr/>
        </p:nvSpPr>
        <p:spPr>
          <a:xfrm>
            <a:off x="1196991" y="5538312"/>
            <a:ext cx="3533163" cy="640512"/>
          </a:xfrm>
          <a:prstGeom prst="ellipse">
            <a:avLst/>
          </a:prstGeom>
          <a:noFill/>
          <a:ln w="127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tx2"/>
              </a:buClr>
            </a:pPr>
            <a:endParaRPr lang="de-DE" sz="1400" dirty="0" err="1">
              <a:solidFill>
                <a:schemeClr val="tx1"/>
              </a:solidFill>
            </a:endParaRPr>
          </a:p>
        </p:txBody>
      </p:sp>
    </p:spTree>
    <p:extLst>
      <p:ext uri="{BB962C8B-B14F-4D97-AF65-F5344CB8AC3E}">
        <p14:creationId xmlns:p14="http://schemas.microsoft.com/office/powerpoint/2010/main" val="3921632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Foliennummernplatzhalter 1"/>
          <p:cNvSpPr>
            <a:spLocks noGrp="1"/>
          </p:cNvSpPr>
          <p:nvPr>
            <p:ph type="sldNum" sz="quarter" idx="12"/>
          </p:nvPr>
        </p:nvSpPr>
        <p:spPr bwMode="auto"/>
        <p:txBody>
          <a:bodyPr/>
          <a:lstStyle/>
          <a:p>
            <a:pPr>
              <a:defRPr/>
            </a:pPr>
            <a:fld id="{06BE810C-D1BD-4E2B-9D7B-C86294C40709}" type="slidenum">
              <a:rPr lang="en-US"/>
              <a:t>36</a:t>
            </a:fld>
            <a:endParaRPr lang="en-US"/>
          </a:p>
        </p:txBody>
      </p:sp>
      <p:sp>
        <p:nvSpPr>
          <p:cNvPr id="5" name="Textplatzhalter 4"/>
          <p:cNvSpPr>
            <a:spLocks noGrp="1"/>
          </p:cNvSpPr>
          <p:nvPr>
            <p:ph type="body" sz="quarter" idx="4294967295"/>
          </p:nvPr>
        </p:nvSpPr>
        <p:spPr bwMode="auto">
          <a:xfrm>
            <a:off x="288524" y="184376"/>
            <a:ext cx="9344425" cy="896937"/>
          </a:xfrm>
        </p:spPr>
        <p:txBody>
          <a:bodyPr vert="horz" lIns="0" tIns="45720" rIns="91440" bIns="45720" rtlCol="0" anchor="ctr"/>
          <a:lstStyle/>
          <a:p>
            <a:pPr marL="0" indent="0">
              <a:buNone/>
              <a:defRPr/>
            </a:pPr>
            <a:r>
              <a:rPr lang="en-US" sz="2100" dirty="0"/>
              <a:t>KONTAKTDATEN</a:t>
            </a:r>
            <a:endParaRPr dirty="0"/>
          </a:p>
        </p:txBody>
      </p:sp>
      <p:sp>
        <p:nvSpPr>
          <p:cNvPr id="6" name="Rechteck 8"/>
          <p:cNvSpPr/>
          <p:nvPr/>
        </p:nvSpPr>
        <p:spPr bwMode="auto">
          <a:xfrm>
            <a:off x="273050" y="1393781"/>
            <a:ext cx="9359900" cy="311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defRPr/>
            </a:pPr>
            <a:r>
              <a:rPr lang="de-DE" sz="1200" b="1">
                <a:solidFill>
                  <a:srgbClr val="8BAABF"/>
                </a:solidFill>
              </a:rPr>
              <a:t>Kontakt</a:t>
            </a:r>
            <a:endParaRPr lang="de-DE"/>
          </a:p>
        </p:txBody>
      </p:sp>
      <p:pic>
        <p:nvPicPr>
          <p:cNvPr id="16" name="Bildplatzhalter 8" descr="Ein Bild, das Tisch, drinnen, Person, Kaffee enthält.&#10;&#10;Automatisch generierte Beschreibung">
            <a:extLst>
              <a:ext uri="{FF2B5EF4-FFF2-40B4-BE49-F238E27FC236}">
                <a16:creationId xmlns:a16="http://schemas.microsoft.com/office/drawing/2014/main" id="{E907C4F1-C726-4FBC-BA56-B8BD4ECF6126}"/>
              </a:ext>
            </a:extLst>
          </p:cNvPr>
          <p:cNvPicPr>
            <a:picLocks noChangeAspect="1"/>
          </p:cNvPicPr>
          <p:nvPr/>
        </p:nvPicPr>
        <p:blipFill rotWithShape="1">
          <a:blip r:embed="rId2"/>
          <a:srcRect t="26400" b="28847"/>
          <a:stretch/>
        </p:blipFill>
        <p:spPr bwMode="auto">
          <a:xfrm>
            <a:off x="1" y="3284984"/>
            <a:ext cx="9905999" cy="2899315"/>
          </a:xfrm>
          <a:prstGeom prst="rect">
            <a:avLst/>
          </a:prstGeom>
        </p:spPr>
      </p:pic>
      <p:sp>
        <p:nvSpPr>
          <p:cNvPr id="17" name="Textplatzhalter 2">
            <a:extLst>
              <a:ext uri="{FF2B5EF4-FFF2-40B4-BE49-F238E27FC236}">
                <a16:creationId xmlns:a16="http://schemas.microsoft.com/office/drawing/2014/main" id="{9A3EC079-D5FB-4C5B-9E6E-BA3157144EF0}"/>
              </a:ext>
            </a:extLst>
          </p:cNvPr>
          <p:cNvSpPr/>
          <p:nvPr/>
        </p:nvSpPr>
        <p:spPr bwMode="auto">
          <a:xfrm>
            <a:off x="270144" y="1877121"/>
            <a:ext cx="9351199" cy="1407864"/>
          </a:xfrm>
          <a:prstGeom prst="rect">
            <a:avLst/>
          </a:prstGeom>
        </p:spPr>
        <p:txBody>
          <a:bodyPr vert="horz" lIns="0" tIns="45720" rIns="91440" bIns="45720" rtlCol="0" anchor="t">
            <a:noAutofit/>
          </a:bodyPr>
          <a:lstStyle>
            <a:lvl1pPr marL="0" marR="0" indent="0" algn="l" defTabSz="914400">
              <a:lnSpc>
                <a:spcPct val="90000"/>
              </a:lnSpc>
              <a:spcBef>
                <a:spcPts val="1000"/>
              </a:spcBef>
              <a:spcAft>
                <a:spcPts val="0"/>
              </a:spcAft>
              <a:buClr>
                <a:srgbClr val="1792BA"/>
              </a:buClr>
              <a:buSzTx/>
              <a:buFont typeface="Arial"/>
              <a:buNone/>
              <a:defRPr sz="1200">
                <a:solidFill>
                  <a:schemeClr val="tx1"/>
                </a:solidFill>
                <a:latin typeface="+mn-lt"/>
                <a:ea typeface="+mn-ea"/>
                <a:cs typeface="+mn-cs"/>
              </a:defRPr>
            </a:lvl1pPr>
            <a:lvl2pPr marL="685800" marR="0" indent="-228600" algn="l" defTabSz="914400">
              <a:lnSpc>
                <a:spcPct val="90000"/>
              </a:lnSpc>
              <a:spcBef>
                <a:spcPts val="500"/>
              </a:spcBef>
              <a:spcAft>
                <a:spcPts val="0"/>
              </a:spcAft>
              <a:buClr>
                <a:srgbClr val="1792BA"/>
              </a:buClr>
              <a:buSzTx/>
              <a:buFont typeface="Arial"/>
              <a:buChar char="•"/>
              <a:defRPr sz="1800">
                <a:solidFill>
                  <a:schemeClr val="tx1"/>
                </a:solidFill>
                <a:latin typeface="+mn-lt"/>
                <a:ea typeface="+mn-ea"/>
                <a:cs typeface="+mn-cs"/>
              </a:defRPr>
            </a:lvl2pPr>
            <a:lvl3pPr marL="1143000" marR="0" indent="-228600" algn="l" defTabSz="914400">
              <a:lnSpc>
                <a:spcPct val="90000"/>
              </a:lnSpc>
              <a:spcBef>
                <a:spcPts val="500"/>
              </a:spcBef>
              <a:spcAft>
                <a:spcPts val="0"/>
              </a:spcAft>
              <a:buClr>
                <a:srgbClr val="1792BA"/>
              </a:buClr>
              <a:buSzTx/>
              <a:buFont typeface="Arial"/>
              <a:buChar char="•"/>
              <a:defRPr sz="1500">
                <a:solidFill>
                  <a:schemeClr val="tx1"/>
                </a:solidFill>
                <a:latin typeface="+mn-lt"/>
                <a:ea typeface="+mn-ea"/>
                <a:cs typeface="+mn-cs"/>
              </a:defRPr>
            </a:lvl3pPr>
            <a:lvl4pPr marL="1600200" marR="0" indent="-228600" algn="l" defTabSz="914400">
              <a:lnSpc>
                <a:spcPct val="90000"/>
              </a:lnSpc>
              <a:spcBef>
                <a:spcPts val="500"/>
              </a:spcBef>
              <a:spcAft>
                <a:spcPts val="0"/>
              </a:spcAft>
              <a:buClr>
                <a:srgbClr val="1792BA"/>
              </a:buClr>
              <a:buSzTx/>
              <a:buFont typeface="Arial"/>
              <a:buChar char="•"/>
              <a:defRPr sz="1350">
                <a:solidFill>
                  <a:schemeClr val="tx1"/>
                </a:solidFill>
                <a:latin typeface="+mn-lt"/>
                <a:ea typeface="+mn-ea"/>
                <a:cs typeface="+mn-cs"/>
              </a:defRPr>
            </a:lvl4pPr>
            <a:lvl5pPr marL="2057400" marR="0" indent="-228600" algn="l" defTabSz="914400">
              <a:lnSpc>
                <a:spcPct val="90000"/>
              </a:lnSpc>
              <a:spcBef>
                <a:spcPts val="500"/>
              </a:spcBef>
              <a:spcAft>
                <a:spcPts val="0"/>
              </a:spcAft>
              <a:buClr>
                <a:srgbClr val="1792BA"/>
              </a:buClr>
              <a:buSzTx/>
              <a:buFont typeface="Arial"/>
              <a:buChar char="•"/>
              <a:defRPr sz="1350">
                <a:solidFill>
                  <a:schemeClr val="tx1"/>
                </a:solidFill>
                <a:latin typeface="+mn-lt"/>
                <a:ea typeface="+mn-ea"/>
                <a:cs typeface="+mn-cs"/>
              </a:defRPr>
            </a:lvl5pPr>
            <a:lvl6pPr marL="1885950" indent="-171450" algn="l" defTabSz="685800">
              <a:lnSpc>
                <a:spcPct val="90000"/>
              </a:lnSpc>
              <a:spcBef>
                <a:spcPts val="375"/>
              </a:spcBef>
              <a:buFont typeface="Arial"/>
              <a:buChar char="•"/>
              <a:defRPr sz="1350">
                <a:solidFill>
                  <a:schemeClr val="tx1"/>
                </a:solidFill>
                <a:latin typeface="+mn-lt"/>
                <a:ea typeface="+mn-ea"/>
                <a:cs typeface="+mn-cs"/>
              </a:defRPr>
            </a:lvl6pPr>
            <a:lvl7pPr marL="2228850" indent="-171450" algn="l" defTabSz="685800">
              <a:lnSpc>
                <a:spcPct val="90000"/>
              </a:lnSpc>
              <a:spcBef>
                <a:spcPts val="375"/>
              </a:spcBef>
              <a:buFont typeface="Arial"/>
              <a:buChar char="•"/>
              <a:defRPr sz="1350">
                <a:solidFill>
                  <a:schemeClr val="tx1"/>
                </a:solidFill>
                <a:latin typeface="+mn-lt"/>
                <a:ea typeface="+mn-ea"/>
                <a:cs typeface="+mn-cs"/>
              </a:defRPr>
            </a:lvl7pPr>
            <a:lvl8pPr marL="2571750" indent="-171450" algn="l" defTabSz="685800">
              <a:lnSpc>
                <a:spcPct val="90000"/>
              </a:lnSpc>
              <a:spcBef>
                <a:spcPts val="375"/>
              </a:spcBef>
              <a:buFont typeface="Arial"/>
              <a:buChar char="•"/>
              <a:defRPr sz="1350">
                <a:solidFill>
                  <a:schemeClr val="tx1"/>
                </a:solidFill>
                <a:latin typeface="+mn-lt"/>
                <a:ea typeface="+mn-ea"/>
                <a:cs typeface="+mn-cs"/>
              </a:defRPr>
            </a:lvl8pPr>
            <a:lvl9pPr marL="2914650" indent="-171450" algn="l" defTabSz="685800">
              <a:lnSpc>
                <a:spcPct val="90000"/>
              </a:lnSpc>
              <a:spcBef>
                <a:spcPts val="375"/>
              </a:spcBef>
              <a:buFont typeface="Arial"/>
              <a:buChar char="•"/>
              <a:defRPr sz="1350">
                <a:solidFill>
                  <a:schemeClr val="tx1"/>
                </a:solidFill>
                <a:latin typeface="+mn-lt"/>
                <a:ea typeface="+mn-ea"/>
                <a:cs typeface="+mn-cs"/>
              </a:defRPr>
            </a:lvl9pPr>
          </a:lstStyle>
          <a:p>
            <a:pPr algn="just">
              <a:spcBef>
                <a:spcPts val="600"/>
              </a:spcBef>
              <a:buClr>
                <a:schemeClr val="accent2"/>
              </a:buClr>
              <a:defRPr/>
            </a:pPr>
            <a:r>
              <a:rPr lang="de-DE" sz="1100"/>
              <a:t>Morgenwert Valuation &amp; Advisory GmbH			Tel.: 040 - 60814195</a:t>
            </a:r>
          </a:p>
          <a:p>
            <a:pPr algn="just">
              <a:spcBef>
                <a:spcPts val="600"/>
              </a:spcBef>
              <a:buClr>
                <a:schemeClr val="accent2"/>
              </a:buClr>
              <a:defRPr/>
            </a:pPr>
            <a:r>
              <a:rPr lang="de-DE" sz="1100"/>
              <a:t>Stefan Euring (geschäftsführender Gesellschafter)		Email: stefan.euring@morgenwert.de</a:t>
            </a:r>
          </a:p>
          <a:p>
            <a:pPr algn="just">
              <a:spcBef>
                <a:spcPts val="600"/>
              </a:spcBef>
              <a:buClr>
                <a:schemeClr val="accent2"/>
              </a:buClr>
              <a:defRPr/>
            </a:pPr>
            <a:r>
              <a:rPr lang="de-DE" sz="1100"/>
              <a:t>Fischertwiete 2				Web: www.morgenwert.de</a:t>
            </a:r>
          </a:p>
          <a:p>
            <a:pPr algn="just">
              <a:spcBef>
                <a:spcPts val="600"/>
              </a:spcBef>
              <a:buClr>
                <a:schemeClr val="accent2"/>
              </a:buClr>
              <a:defRPr/>
            </a:pPr>
            <a:r>
              <a:rPr lang="de-DE" sz="1100"/>
              <a:t>20095 Hamburg</a:t>
            </a:r>
          </a:p>
        </p:txBody>
      </p:sp>
    </p:spTree>
    <p:extLst>
      <p:ext uri="{BB962C8B-B14F-4D97-AF65-F5344CB8AC3E}">
        <p14:creationId xmlns:p14="http://schemas.microsoft.com/office/powerpoint/2010/main" val="6379787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TOC_SUBSECTIONS" val="0"/>
  <p:tag name="DH_AGENDA_COLLAPSE" val="1"/>
  <p:tag name="DH_AGENDA_OMIT" val="0"/>
  <p:tag name="DH_AGENDA_SKIP" val="1"/>
  <p:tag name="DH_FLYSHEET_STYLE" val="2"/>
  <p:tag name="MM_STAMP_CONVERTED" val="True"/>
  <p:tag name="MM_SECTION_CONVERTED" val="Tru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6.7.0&quot;&gt;&lt;Source&gt;&lt;![CDATA[%USER_FOLDER%\Spaces\02_Morgenwert_Vorlagen und Infos\03_Berichte\Abschmelz-Logik_Beispiel.xlsx]]&gt;&lt;/Source&gt;&lt;SourceModified&gt;2024-07-26 19:11:52&lt;/SourceModified&gt;&lt;ParentId&gt;MLNK8bf11399edd549feb8d8c339936a6242&lt;/ParentId&gt;&lt;LinkId&gt;MLNK7f32bd81bfa54871aed0fcc60de00e8a&lt;/LinkId&gt;&lt;FriendlyName&gt;&lt;/FriendlyName&gt;&lt;Type&gt;1&lt;/Type&gt;&lt;Address&gt;=Sheet1!$C$3:$M$19&lt;/Address&gt;&lt;LastUpdate&gt;2024-07-26 21:26:36&lt;/LastUpdate&gt;&lt;User&gt;Stefan Euring&lt;/User&gt;&lt;/Link&gt;&lt;/Links&gt;"/>
</p:tagLst>
</file>

<file path=ppt/tags/tag6.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7.2.0&quot;&gt;&lt;Source&gt;&lt;![CDATA[%USER_FOLDER%\Spaces\02_Morgenwert_Vorlagen und Infos\02_Modelle\01_BewStandard_GER\VAL_Master_2024-10-21.xlsm]]&gt;&lt;/Source&gt;&lt;SourceModified&gt;2024-10-21 14:00:03&lt;/SourceModified&gt;&lt;ParentId&gt;MLNKa3b29c0238c149fe8181848b521e854a&lt;/ParentId&gt;&lt;LinkId&gt;MLNK0e2fea3bc47d47f6b58d85f694e01847&lt;/LinkId&gt;&lt;FriendlyName&gt;&lt;/FriendlyName&gt;&lt;Type&gt;1&lt;/Type&gt;&lt;Address&gt;=Rep_Table!$E$644:$O$660&lt;/Address&gt;&lt;LastUpdate&gt;2024-10-21 15:12:59&lt;/LastUpdate&gt;&lt;User&gt;Stefan Euring&lt;/User&gt;&lt;/Link&gt;&lt;/Links&gt;"/>
</p:tagLst>
</file>

<file path=ppt/tags/tag7.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7.2.0&quot;&gt;&lt;Source&gt;&lt;![CDATA[%USER_FOLDER%\Spaces\02_Morgenwert_Vorlagen und Infos\02_Modelle\01_BewStandard_GER\VAL_Master_2024-10-21.xlsm]]&gt;&lt;/Source&gt;&lt;SourceModified&gt;2024-10-21 14:00:03&lt;/SourceModified&gt;&lt;ParentId&gt;MLNKa3b29c0238c149fe8181848b521e854a&lt;/ParentId&gt;&lt;LinkId&gt;MLNKc3d9da39bfae41acbdbece098b1ff162&lt;/LinkId&gt;&lt;FriendlyName&gt;&lt;/FriendlyName&gt;&lt;Type&gt;1&lt;/Type&gt;&lt;Address&gt;=Rep_Table!$D$764:$P$777&lt;/Address&gt;&lt;LastUpdate&gt;2024-10-21 15:29:32&lt;/LastUpdate&gt;&lt;User&gt;Stefan Euring&lt;/User&gt;&lt;/Link&gt;&lt;/Links&gt;"/>
</p:tagLst>
</file>

<file path=ppt/tags/tag8.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6.7.0&quot;&gt;&lt;Source&gt;%USER_FOLDER%\Spaces\02_Morgenwert_Vorlagen und Infos\02_Modelle\01_BewStandard_GER\VAL_Master_2024-11-12.xlsm&lt;/Source&gt;&lt;SourceModified&gt;2024-11-12 18:07:34&lt;/SourceModified&gt;&lt;ParentId&gt;MLNK4aa133f710ed43d4935d04efa9627d82&lt;/ParentId&gt;&lt;LinkId&gt;MLNKbcad3401fc114573922273180d552fcc&lt;/LinkId&gt;&lt;FriendlyName&gt;&lt;/FriendlyName&gt;&lt;Type&gt;1&lt;/Type&gt;&lt;Address&gt;='Rep_Special-Table'!$E$65:$H$76&lt;/Address&gt;&lt;LastUpdate&gt;2024-07-26 21:36:54&lt;/LastUpdate&gt;&lt;User&gt;Stefan Euring&lt;/User&gt;&lt;/Link&gt;&lt;/Links&gt;"/>
</p:tagLst>
</file>

<file path=ppt/tags/tag9.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6.0&quot;&gt;&lt;Source&gt;&lt;![CDATA[%USER_FOLDER%\Documents\Spaces\02_MW_Vorlagen und Infos\02_Modelle\01_BewStandard_GER\VAL_Master_2023-11-24_v2.xlsm]]&gt;&lt;/Source&gt;&lt;SourceModified&gt;2023-11-24 11:29:09&lt;/SourceModified&gt;&lt;ParentId&gt;MLNKe5c5151884804de9ac5cee89317d0bbe&lt;/ParentId&gt;&lt;LinkId&gt;MLNK6ccfd2fa73e0435a9c7859fcccebc500&lt;/LinkId&gt;&lt;FriendlyName&gt;&lt;/FriendlyName&gt;&lt;Type&gt;1&lt;/Type&gt;&lt;Address&gt;=Output_Scoring!$E$26:$I$37&lt;/Address&gt;&lt;LastUpdate&gt;2023-11-24 17:01:35&lt;/LastUpdate&gt;&lt;User&gt;Stefan Euring&lt;/User&gt;&lt;/Link&gt;&lt;/Links&gt;"/>
</p:tagLst>
</file>

<file path=ppt/tags/tag10.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1.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2.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3.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4.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5.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6.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ags/tag17.xml><?xml version="1.0" encoding="utf-8"?>
<p:tagLst xmlns:a="http://schemas.openxmlformats.org/drawingml/2006/main" xmlns:r="http://schemas.openxmlformats.org/officeDocument/2006/relationships" xmlns:p="http://schemas.openxmlformats.org/presentationml/2006/main">
  <p:tag name="MIO_SKIP_CDCHECK" val="MIO_SKIP_CDCHECK"/>
  <p:tag name="CIQKNOWNTEXT" val="Status&#10;Unit xy&#10;Jahrgang JJJJ"/>
  <p:tag name="EMPOWERBULLET" val="EMPOWERBULLET"/>
</p:tagLst>
</file>

<file path=ppt/theme/theme1.xml><?xml version="1.0" encoding="utf-8"?>
<a:theme xmlns:a="http://schemas.openxmlformats.org/drawingml/2006/main" name="Gutachten">
  <a:themeElements>
    <a:clrScheme name="Benutzerdefiniert 1">
      <a:dk1>
        <a:srgbClr val="32434D"/>
      </a:dk1>
      <a:lt1>
        <a:srgbClr val="FFFFFF"/>
      </a:lt1>
      <a:dk2>
        <a:srgbClr val="03A2C9"/>
      </a:dk2>
      <a:lt2>
        <a:srgbClr val="FFFFFF"/>
      </a:lt2>
      <a:accent1>
        <a:srgbClr val="32434D"/>
      </a:accent1>
      <a:accent2>
        <a:srgbClr val="ACC5CE"/>
      </a:accent2>
      <a:accent3>
        <a:srgbClr val="DAE9F4"/>
      </a:accent3>
      <a:accent4>
        <a:srgbClr val="9AC9E7"/>
      </a:accent4>
      <a:accent5>
        <a:srgbClr val="D9D9D9"/>
      </a:accent5>
      <a:accent6>
        <a:srgbClr val="BFE3D9"/>
      </a:accent6>
      <a:hlink>
        <a:srgbClr val="03A2C9"/>
      </a:hlink>
      <a:folHlink>
        <a:srgbClr val="0060A8"/>
      </a:folHlink>
    </a:clrScheme>
    <a:fontScheme name="Caplantic">
      <a:majorFont>
        <a:latin typeface="Open Sans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lIns="0" rtlCol="0" anchor="ctr"/>
      <a:lstStyle>
        <a:defPPr algn="l">
          <a:defRPr sz="1200" b="1" dirty="0">
            <a:solidFill>
              <a:srgbClr val="8BAABF"/>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4481</Words>
  <Application>Microsoft Office PowerPoint</Application>
  <PresentationFormat>A4 Paper (210x297 mm)</PresentationFormat>
  <Paragraphs>551</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Cambria Math</vt:lpstr>
      <vt:lpstr>Open Sans Light</vt:lpstr>
      <vt:lpstr>PT Sans</vt:lpstr>
      <vt:lpstr>Wingdings</vt:lpstr>
      <vt:lpstr>Gutachten</vt:lpstr>
      <vt:lpstr>PowerPoint Presentation</vt:lpstr>
      <vt:lpstr>Bewertung KMU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Bewertung KMU</vt:lpstr>
      <vt:lpstr>PowerPoint Presentation</vt:lpstr>
      <vt:lpstr>PowerPoint Presentation</vt:lpstr>
      <vt:lpstr>PowerPoint Presentation</vt:lpstr>
      <vt:lpstr>Bewertung KMU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Bewertung KMU</vt:lpstr>
      <vt:lpstr>PowerPoint Presentation</vt:lpstr>
      <vt:lpstr>Bewertung KMU</vt:lpstr>
      <vt:lpstr>PowerPoint Presentation</vt:lpstr>
      <vt:lpstr>Anhang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Anwender</dc:creator>
  <cp:lastModifiedBy>Stefan Euring</cp:lastModifiedBy>
  <cp:revision>2664</cp:revision>
  <cp:lastPrinted>2019-04-08T14:30:42Z</cp:lastPrinted>
  <dcterms:created xsi:type="dcterms:W3CDTF">2017-03-06T08:49:01Z</dcterms:created>
  <dcterms:modified xsi:type="dcterms:W3CDTF">2025-12-25T20:51:06Z</dcterms:modified>
</cp:coreProperties>
</file>